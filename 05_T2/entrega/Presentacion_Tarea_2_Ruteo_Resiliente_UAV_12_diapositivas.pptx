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b408e7b7bc454e" /><Relationship Type="http://schemas.openxmlformats.org/officeDocument/2006/relationships/extended-properties" Target="/docProps/app.xml" Id="Rc9b4e9f15d844533" /><Relationship Type="http://schemas.openxmlformats.org/officeDocument/2006/relationships/officeDocument" Target="/ppt/presentation.xml" Id="Rc68c403679bf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f56cc35a2d4f8b"/>
  </p:sldMasterIdLst>
  <p:notesMasterIdLst>
    <p:notesMasterId xmlns:r="http://schemas.openxmlformats.org/officeDocument/2006/relationships" r:id="R3c7449d22f224c9f"/>
  </p:notesMasterIdLst>
  <p:sldIdLst>
    <p:sldId xmlns:r="http://schemas.openxmlformats.org/officeDocument/2006/relationships" id="256" r:id="R8d329aa6fc0549ac"/>
    <p:sldId xmlns:r="http://schemas.openxmlformats.org/officeDocument/2006/relationships" id="257" r:id="R4caa4600e1124312"/>
    <p:sldId xmlns:r="http://schemas.openxmlformats.org/officeDocument/2006/relationships" id="258" r:id="Rc39c32be0db943d1"/>
    <p:sldId xmlns:r="http://schemas.openxmlformats.org/officeDocument/2006/relationships" id="259" r:id="R2109b74619774b52"/>
    <p:sldId xmlns:r="http://schemas.openxmlformats.org/officeDocument/2006/relationships" id="260" r:id="R6a34ba2e149f43fa"/>
    <p:sldId xmlns:r="http://schemas.openxmlformats.org/officeDocument/2006/relationships" id="261" r:id="Rb1b1f66acaac4136"/>
    <p:sldId xmlns:r="http://schemas.openxmlformats.org/officeDocument/2006/relationships" id="262" r:id="Ra62787517e3b4de0"/>
    <p:sldId xmlns:r="http://schemas.openxmlformats.org/officeDocument/2006/relationships" id="263" r:id="R60f069df097f4f69"/>
    <p:sldId xmlns:r="http://schemas.openxmlformats.org/officeDocument/2006/relationships" id="264" r:id="R00dcab5b96164541"/>
    <p:sldId xmlns:r="http://schemas.openxmlformats.org/officeDocument/2006/relationships" id="265" r:id="Reb2425f784434f39"/>
    <p:sldId xmlns:r="http://schemas.openxmlformats.org/officeDocument/2006/relationships" id="266" r:id="R30cbc63aee634ad7"/>
    <p:sldId xmlns:r="http://schemas.openxmlformats.org/officeDocument/2006/relationships" id="267" r:id="R696eba227dc4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5aaa64740640f0" /><Relationship Type="http://schemas.openxmlformats.org/officeDocument/2006/relationships/slideMaster" Target="/ppt/slideMasters/slideMaster1.xml" Id="R6ff56cc35a2d4f8b" /><Relationship Type="http://schemas.openxmlformats.org/officeDocument/2006/relationships/notesMaster" Target="/ppt/notesMasters/notesMaster1.xml" Id="R3c7449d22f224c9f" /><Relationship Type="http://schemas.openxmlformats.org/officeDocument/2006/relationships/presProps" Target="/ppt/presProps.xml" Id="R841d28c0d2cb40c2" /><Relationship Type="http://schemas.openxmlformats.org/officeDocument/2006/relationships/tableStyles" Target="/ppt/tableStyles.xml" Id="R34fcb8bb032a455e" /><Relationship Type="http://schemas.openxmlformats.org/officeDocument/2006/relationships/slide" Target="/ppt/slides/slide1.xml" Id="R8d329aa6fc0549ac" /><Relationship Type="http://schemas.openxmlformats.org/officeDocument/2006/relationships/slide" Target="/ppt/slides/slide2.xml" Id="R4caa4600e1124312" /><Relationship Type="http://schemas.openxmlformats.org/officeDocument/2006/relationships/slide" Target="/ppt/slides/slide3.xml" Id="Rc39c32be0db943d1" /><Relationship Type="http://schemas.openxmlformats.org/officeDocument/2006/relationships/slide" Target="/ppt/slides/slide4.xml" Id="R2109b74619774b52" /><Relationship Type="http://schemas.openxmlformats.org/officeDocument/2006/relationships/slide" Target="/ppt/slides/slide5.xml" Id="R6a34ba2e149f43fa" /><Relationship Type="http://schemas.openxmlformats.org/officeDocument/2006/relationships/slide" Target="/ppt/slides/slide6.xml" Id="Rb1b1f66acaac4136" /><Relationship Type="http://schemas.openxmlformats.org/officeDocument/2006/relationships/slide" Target="/ppt/slides/slide7.xml" Id="Ra62787517e3b4de0" /><Relationship Type="http://schemas.openxmlformats.org/officeDocument/2006/relationships/slide" Target="/ppt/slides/slide8.xml" Id="R60f069df097f4f69" /><Relationship Type="http://schemas.openxmlformats.org/officeDocument/2006/relationships/slide" Target="/ppt/slides/slide9.xml" Id="R00dcab5b96164541" /><Relationship Type="http://schemas.openxmlformats.org/officeDocument/2006/relationships/slide" Target="/ppt/slides/slide10.xml" Id="Reb2425f784434f39" /><Relationship Type="http://schemas.openxmlformats.org/officeDocument/2006/relationships/slide" Target="/ppt/slides/slide11.xml" Id="R30cbc63aee634ad7" /><Relationship Type="http://schemas.openxmlformats.org/officeDocument/2006/relationships/slide" Target="/ppt/slides/slide12.xml" Id="R696eba227dc4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ab77ea57f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52f98a5124029" /><Relationship Type="http://schemas.openxmlformats.org/officeDocument/2006/relationships/notesMaster" Target="/ppt/notesMasters/notesMaster1.xml" Id="Re6918d1584fa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72e2c21f604703" /><Relationship Type="http://schemas.openxmlformats.org/officeDocument/2006/relationships/notesMaster" Target="/ppt/notesMasters/notesMaster1.xml" Id="R0e7f2a9f66d245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ae2350f3f4c2e" /><Relationship Type="http://schemas.openxmlformats.org/officeDocument/2006/relationships/notesMaster" Target="/ppt/notesMasters/notesMaster1.xml" Id="Rf03e0a198b3b47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3718fd7c3410d" /><Relationship Type="http://schemas.openxmlformats.org/officeDocument/2006/relationships/notesMaster" Target="/ppt/notesMasters/notesMaster1.xml" Id="R8afcf79ab5d6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d1148d3674b99" /><Relationship Type="http://schemas.openxmlformats.org/officeDocument/2006/relationships/notesMaster" Target="/ppt/notesMasters/notesMaster1.xml" Id="Ra793d882eb7c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d8ea95ebd49f3" /><Relationship Type="http://schemas.openxmlformats.org/officeDocument/2006/relationships/notesMaster" Target="/ppt/notesMasters/notesMaster1.xml" Id="R57f924dab6384a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818c8a8a44ece" /><Relationship Type="http://schemas.openxmlformats.org/officeDocument/2006/relationships/notesMaster" Target="/ppt/notesMasters/notesMaster1.xml" Id="R2bf65d1d4ea64c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0ae1fa1614799" /><Relationship Type="http://schemas.openxmlformats.org/officeDocument/2006/relationships/notesMaster" Target="/ppt/notesMasters/notesMaster1.xml" Id="R1c59d7788f6d4d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18edc002744367" /><Relationship Type="http://schemas.openxmlformats.org/officeDocument/2006/relationships/notesMaster" Target="/ppt/notesMasters/notesMaster1.xml" Id="Rde0c4ce71c4844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e51ffa06f04b88" /><Relationship Type="http://schemas.openxmlformats.org/officeDocument/2006/relationships/notesMaster" Target="/ppt/notesMasters/notesMaster1.xml" Id="R465396554e814b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8b883173f648e5" /><Relationship Type="http://schemas.openxmlformats.org/officeDocument/2006/relationships/notesMaster" Target="/ppt/notesMasters/notesMaster1.xml" Id="R8d25bf8f866042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9d36c0782b4054" /><Relationship Type="http://schemas.openxmlformats.org/officeDocument/2006/relationships/notesMaster" Target="/ppt/notesMasters/notesMaster1.xml" Id="R09a6c273b79f4d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académico civil. Mykolaiv es referencia cartográfica e histórica, no una ruta operacional. Fuentes clave en diapositivas siguientes.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verificadas hasta el 19 de octubre de 2026. Los hechos corresponden a la ciudad de Mykolaiv, no a otra localidad homónima.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UNOSAT: evaluación basada en imagen del 21 de julio de 2022; 198 estructuras con daño visible; análisis preliminar sin verificación en terreno. https://unosat.org/products/3404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Policía Nacional de Ucrania, 4 agosto 2026: ataque ruso con drones a la ciudad el 3 de agosto, una mujer fallecida y siete personas heridas; viviendas dañadas. https://mk.npu.gov.ua/news/zahybla-ta-semero-postrazhdalykh-z-nykh-dvoie-ditei-u-mykolaievi-politseiski-dokumentuiut-naslidky-cherhovoho-voiennoho-zlochynu-rf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Policía Nacional de Ucrania, 2 octubre 2026: ataque combinado, tres residentes heridos, daños en viviendas y otros objetos civiles. https://npu.gov.ua/news/postrazhdaly-troie-hromadian-zaznaly-poshkodzhen-tsyvilni-obiekty-u-mykolaievi-politseiski-dokumentuiut-naslidky-cherhovykh-voiennykh-zlochyniv-rf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Policía Nacional de Ucrania, 10 octubre 2026: ataque nocturno con drones, daños en ventanas residenciales, edificios administrativos, oficinas y tiendas. https://npu.gov.ua/news/politseiski-fiksuiut-naslidky-nichnoi-cherhovoi-vorozhoi-ataky-rf-na-mykolaiv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PNUD: Mykolaiv Strategic Partnership 2025–2028. https://www.undp.org/ukraine/projects/mykolaiv-strategic-partnership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Estos ataques sirven como contexto civil documentado. No prueban jamming ni fallas de navegación del UAV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05_T2/PROPUESTA_TECNICA.md §§1, 8; 05_T2/Infraestructura/generar_infraestructura.py. G=(V,E): V puntos de navegación y E segmentos candidatos. 196 nodos, 618 aristas, topología fija; falla cambia admisibilidad. Misión A,P1,P2,P3,B. No cobertura continua ni plan de vuelo autorizado. Hipótesis: C supera A en R_misión con parámetros congelados; Dijkstra replanificador D como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Rúbrica 1,2,3.1,3.2,4.1,4.2 y enunciado 0,1,4,6,9. Fuente interna 05_T2/ENTREGA_TAREA2.md. Primera corrida Docker: 18 pasos OK, PostgreSQL 17, PostGIS 3.5.2, pgRouting 3.8.0, 13 tablas. Infraestructura y 6 fuentes se transforman a JSON con ESTRUCTURA_*.md y cargadores. Ponderación y rutas posteriores.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05_T2/README.md, Metadata/*.py y BD/pesos.sql. APIs: https://wiki.openstreetmap.org/wiki/Overpass_API ; https://open-meteo.com/en/docs/elevation-api ; https://open-meteo.com/en/docs/historical-weather-api . Primera corrida: 33593 edificios, 1022 con altura, 814 puntos elevación, 720 horas viento. Datos ausentes no bloquean. DEM 90 m; viento regional, modelo meteorológico no fijado en petición.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05_T2/README.md, Amenazas/*.py, ruteo/fallas.py. Fuentes externas: https://gpsjam.org/ ; https://github.com/TheEconomist/ukraine-war-fire-data ; https://firms.modaps.eosdis.nasa.gov/ ; https://ucdp.uu.se/downloads/ . Primera corrida: 7 celdas H3, 41 focos (26 históricos/15 evaluación), 65 eventos UCDP. GPSJam es aviación ADS-B; no prueba jamming UAV. Los registros no cierran aristas automáticamente.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05_T2/ruteo/config.py, ruteo/pesos.py, BD/pesos.sql, PROPUESTA_TECNICA.md §§3–4. Costo: largo_km × factor_viento × (1 + w_R × riesgo) × penalización_proximidad. Riesgo compuesto por densidades UCDP/FIRMS y GNSS; agregación estadística no calibrada. OpenAIP no cargado en T2, control zonas restringidas no efectivo.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J. Y. Yen, Finding the K Shortest Loopless Paths in a Network, Management Science 1971, doi:10.1287/mnsc.17.11.712. Luna et al., A multi-UAV system for coverage path planning applications with in-flight re-planning capabilities, Journal of Field Robotics 2024, doi:10.1002/rob.22342. https://docs.pgrouting.org/ . Fuente interna: 05_T2/PROPUESTA_TECNICA.md §4. Rubrica 7.1,7.2,8,9.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05_T2/PROPUESTA_TECNICA.md §4. La alternativa precalculada aporta a R_par. Al descubrir bloqueo C recalcula Dijkstra desde posición, no la sigue necesariamente. K=8, desvío α, presupuesto 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05_T2/ENTREGA_TAREA2.md criterios 8–11; 05_T2/comun/rutas.py, comun/resiliencia.py, ruteo/metricas.py. R_par: alguna ruta del par libre en un escenario. R_misión: visita todos los puntos, llega a B dentro de presupuesto. ΔR = 100(R_C−R_A) pp. Ejemplo DB anterior al arreglo de focos debe regenerarse.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internas: 05_T2/resultados/*.json, 05_T2/README.md §Estado, 05_T2/PROPUESTA_TECNICA.md §9. Las cifras fueron obtenidas antes de corregir el uso de focos históricos en la ruta DB. No representan evaluación final. Ajuste semillas 0–99; reservadas 10000–10299 no ejecutadas. C-A 10 pp p=0.01294 en 5 fallas beta0.6, C-D 1 pp p=1. Con beta0.1 C 84%, D 91%. Interpretación sujeta a recálculo.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01_PROYECTO_ACTUAL/ENUNCIADO_Y_RUBRICA_TAREA_2.txt; 05_T2/ENTREGA_TAREA2.md; SitioWeb/app.py. Plataforma Leaflet: ingreso de origen/destino y preferencias; visualización de dos pares y diferencial de resiliencia. La plataforma actualmente muestra un tramo, que no debe rotularse como misión completa. Pendiente: capturas, ejemplo DB tras arreglo de focos, corrida reservada y GitLab UDP.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fe321bd6b43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655416c364c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686d6e70343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15dfc51d542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c3841010745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fd861eb13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147BD-0C6D-47F1-BA67-F66060BDC0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3F55E5-9279-4ED7-88AB-C8A7DE239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80C459-5F6E-4DC9-9824-AE5F24991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3614AD-D42E-44A0-8495-2AB92DF1E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4A8471-6204-455D-9367-3482DFD51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7BF9B7-5DE0-4903-BCDB-92C1E977B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B399BB-202F-48C0-A398-389CA137E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739A5C-1445-4C90-9D81-DB1603CDA4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3A71DF-B302-4585-90BD-95D710A44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6EC2AB-3A57-4CBD-953A-D5F2D32AE2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87eac722f4641" /><Relationship Type="http://schemas.openxmlformats.org/officeDocument/2006/relationships/slideLayout" Target="/ppt/slideLayouts/slideLayout1.xml" Id="R91be13d8dca6407d" /><Relationship Type="http://schemas.openxmlformats.org/officeDocument/2006/relationships/slideLayout" Target="/ppt/slideLayouts/slideLayout2.xml" Id="R5833ece2fa954613" /><Relationship Type="http://schemas.openxmlformats.org/officeDocument/2006/relationships/slideLayout" Target="/ppt/slideLayouts/slideLayout3.xml" Id="Rc06c99c9c1074973" /><Relationship Type="http://schemas.openxmlformats.org/officeDocument/2006/relationships/slideLayout" Target="/ppt/slideLayouts/slideLayout4.xml" Id="R6614d65f93264424" /><Relationship Type="http://schemas.openxmlformats.org/officeDocument/2006/relationships/slideLayout" Target="/ppt/slideLayouts/slideLayout5.xml" Id="R174306589c30446d" /><Relationship Type="http://schemas.openxmlformats.org/officeDocument/2006/relationships/slideLayout" Target="/ppt/slideLayouts/slideLayout6.xml" Id="Rf5805baa76d448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e13d8dca6407d"/>
    <p:sldLayoutId xmlns:r="http://schemas.openxmlformats.org/officeDocument/2006/relationships" id="2147483650" r:id="R5833ece2fa954613"/>
    <p:sldLayoutId xmlns:r="http://schemas.openxmlformats.org/officeDocument/2006/relationships" id="2147483651" r:id="Rc06c99c9c1074973"/>
    <p:sldLayoutId xmlns:r="http://schemas.openxmlformats.org/officeDocument/2006/relationships" id="2147483652" r:id="R6614d65f93264424"/>
    <p:sldLayoutId xmlns:r="http://schemas.openxmlformats.org/officeDocument/2006/relationships" id="2147483653" r:id="R174306589c30446d"/>
    <p:sldLayoutId xmlns:r="http://schemas.openxmlformats.org/officeDocument/2006/relationships" id="2147483654" r:id="Rf5805baa76d448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61bbf1bbf46ab" /><Relationship Type="http://schemas.openxmlformats.org/officeDocument/2006/relationships/notesSlide" Target="/ppt/notesSlides/notesSlide1.xml" Id="R78340e87de7346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9940b487f44e0" /><Relationship Type="http://schemas.openxmlformats.org/officeDocument/2006/relationships/notesSlide" Target="/ppt/notesSlides/notesSlide2.xml" Id="R6965e9ea6881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b136376c74c64" /><Relationship Type="http://schemas.openxmlformats.org/officeDocument/2006/relationships/notesSlide" Target="/ppt/notesSlides/notesSlide3.xml" Id="R475263ab55314b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0ded1a1964875" /><Relationship Type="http://schemas.openxmlformats.org/officeDocument/2006/relationships/notesSlide" Target="/ppt/notesSlides/notesSlide4.xml" Id="Re17e9cf02329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a6a4f854c424b" /><Relationship Type="http://schemas.openxmlformats.org/officeDocument/2006/relationships/notesSlide" Target="/ppt/notesSlides/notesSlide5.xml" Id="Rb6769778a1d4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9a2e1ce2d40fd" /><Relationship Type="http://schemas.openxmlformats.org/officeDocument/2006/relationships/notesSlide" Target="/ppt/notesSlides/notesSlide6.xml" Id="R6a19f962dbc946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8b318044640a6" /><Relationship Type="http://schemas.openxmlformats.org/officeDocument/2006/relationships/notesSlide" Target="/ppt/notesSlides/notesSlide7.xml" Id="R25daf0ad1b084c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4190afb77438d" /><Relationship Type="http://schemas.openxmlformats.org/officeDocument/2006/relationships/notesSlide" Target="/ppt/notesSlides/notesSlide8.xml" Id="Ra0ae4bcf5e0e4d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652d373284b1f" /><Relationship Type="http://schemas.openxmlformats.org/officeDocument/2006/relationships/notesSlide" Target="/ppt/notesSlides/notesSlide9.xml" Id="R620e735633ff4a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492970ba24cae" /><Relationship Type="http://schemas.openxmlformats.org/officeDocument/2006/relationships/notesSlide" Target="/ppt/notesSlides/notesSlide10.xml" Id="Ra7e988f9b1eb43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35b7cfe724840" /><Relationship Type="http://schemas.openxmlformats.org/officeDocument/2006/relationships/notesSlide" Target="/ppt/notesSlides/notesSlide11.xml" Id="Red37f241f54e42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c12bad2d74bbd" /><Relationship Type="http://schemas.openxmlformats.org/officeDocument/2006/relationships/notesSlide" Target="/ppt/notesSlides/notesSlide12.xml" Id="R8044857d076c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1E901-3FE4-46F8-9756-1320BA6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0DAB6-26A5-40EA-9E52-CCD13E8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14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TAREA 2 · ALGORITMOS DE RUTEO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A572-26FB-4168-9030-A5FD32A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19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3825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Ruteo físico resiliente de UAV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5E527-1604-41BD-AC3D-D761C653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Inspección territorial civil en Mykolaiv como caso cartográfico e histórico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F4AD9-1DCC-4247-B976-BA314C4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85467-3ED6-4471-80AC-B46F3A4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Grafo único · datos públicos · fallas simuladas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BF513-1818-409E-A7DA-87EBC77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Integrantes: [completar]     Fecha: [completar]</a:t>
            </a:r>
          </a:p>
        </p:txBody>
      </p:sp>
    </p:spTree>
    <p:extLst>
      <p:ext uri="{BB962C8B-B14F-4D97-AF65-F5344CB8AC3E}">
        <p14:creationId xmlns:p14="http://schemas.microsoft.com/office/powerpoint/2010/main" val="1732844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4FF0A-DCF0-4D97-B653-1F0326F4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8D3F7-1EFB-4BD5-ADAE-5A9C893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CONTEXTO Y CAMBIO DESDE TAREA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2F836-CCBF-4925-9B81-E6786E5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Mykolaiv: daños de 2022 y ataques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DF57D-2137-41C7-B599-DE2688B6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75FC4-6150-4177-ACA8-7B73018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UNOSAT (2022); Policía Nacional de Ucrania (2026); PNUD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4C4D5-48D1-48F6-9B77-907A92D0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0F229-8243-4A20-9DBE-B9AD19F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48FC7-24B5-4AB9-A0CF-CAAB7009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476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2022: UNOSAT identificó 198 estructuras con daño visible.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2026: un ataque del 3 de agosto dejó 1 fallecida y 7 heridos; el 2 de octubre hubo 3 heridos; el 10 de octubre se dañaron viviendas, oficinas y comercios.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8F4A1-4815-4A0F-BD7A-F5927C10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Cambio de enfoque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1390-9657-4E72-8CFF-51C27F8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547687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El PNUD documenta la recuperación de la región. El proyecto pasa de rutas de comunicación ante jamming (Tarea 1) a trayectorias físicas simuladas para inspección civil.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4B561-29CC-4411-B913-4A5C4C23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953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CD8FA-22CC-41E9-8771-CD604B6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383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E7377-4862-47F1-A1CF-9EB6DCA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Mapa histórico del área de estudio y fuente</a:t>
            </a:r>
          </a:p>
        </p:txBody>
      </p:sp>
    </p:spTree>
    <p:extLst>
      <p:ext uri="{BB962C8B-B14F-4D97-AF65-F5344CB8AC3E}">
        <p14:creationId xmlns:p14="http://schemas.microsoft.com/office/powerpoint/2010/main" val="1425880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E77DA-48D9-4A5E-970D-F02FE1A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CFFC8-0917-496B-907C-D795CC63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PROBLEMA DELIMITADO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28AB5-0852-4DFC-A4E4-D48D2DC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Misión y modelo de navegación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70930-2D32-408F-8F22-9DA339DB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C40CB-6B8C-4A73-A7CE-E5A72C6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Grafo y misión sintéticos; parámetros en 05_T2/ruteo/config.py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C433-9C4A-44EA-96EB-C947F3C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499FC-9547-4E26-A36D-4079A72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3EB45-EE8B-4B2C-8B81-5328DA2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259FB-33D3-4F22-BF65-57B4A61B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5619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A → P₁ → P₂ → P₃ → B. Cada par consecutivo es un tramo origen–destino; se miden visitas a puntos, no cobertura continua.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1B813-E881-4FEB-A9ED-F101493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Un solo grafo 2,5D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F61AC-085A-42FD-98B3-0FFA35A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5619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V: puntos de navegación. E: tramos candidatos. La posición del UAV es un estado aparte. Malla sintética geolocalizada: 196 nodos y 618 aristas.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D3743-FFC3-42E6-AF04-5C1101E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Hipótesis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2AE06-16AA-4C91-995C-DA785B1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Con parámetros congelados, C completa más misiones que el par Dijkstra fijo A. El control D aísla el aporte de replanificar.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EED0-97A6-4A08-9B83-37EE4DA0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48006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C5F44-CB99-41C4-A528-6A0F9A3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38325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9B71-8439-4556-9105-9FD79E5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441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Grafo y secuencia A–P₁–P₂–P₃–B</a:t>
            </a:r>
          </a:p>
        </p:txBody>
      </p:sp>
    </p:spTree>
    <p:extLst>
      <p:ext uri="{BB962C8B-B14F-4D97-AF65-F5344CB8AC3E}">
        <p14:creationId xmlns:p14="http://schemas.microsoft.com/office/powerpoint/2010/main" val="554499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05AB3-65D8-4BCC-9A0A-473EF5A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47F93-0F38-4F92-A01F-737DE57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INFRAESTRUCTURA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9919-6DBA-4E92-95E0-06B55DDA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ETL y base geoespacial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AB3BA-8017-49D5-8B6E-B8C24CC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8C158-9B48-47CF-8922-D65064E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Proyecto: main.py, pipeline.py, Docker, BD/schema.sql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59FA9-AB7A-4533-9A5A-D7FBE4C0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05684-EA74-4396-A69C-1D79F4E6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0A59C-090B-477D-ABB4-4B39627D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main.py orquesta Docker, PostgreSQL/PostGIS/pgRouting, generación del grafo, extracción a JSON, carga en 13 tablas, pesos, rutas y sitio Leaflet.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AE751-043B-4A78-BF2D-A281A6D0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0D443-36C1-4ADD-9B75-F034F92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Evidencia necesaria para la rúbrica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04DE8-AC25-4205-A21F-B8CE63C8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 JSON y su documento de estructura por fuente; script de extracción y cargador; SQL que crea la base desde cero; diagrama y ejecución Docker. La primera corrida completó 18 pasos.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1BD56-AF69-4F4B-9513-6ADBC0B1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51625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48941-854E-4C37-8C59-6566916C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478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7380F-2448-4F70-9B24-E5F12495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76800"/>
            <a:ext cx="478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Diagrama de la base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4ED16-7C24-4AD1-BF7F-19CD8473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9600"/>
            <a:ext cx="51911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3C20B-796D-41BC-AEB6-AABA7A1E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81525"/>
            <a:ext cx="481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7ECEE-277D-45C5-A493-CE3DB0A2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768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Captura de Docker y ETL ejecutados</a:t>
            </a:r>
          </a:p>
        </p:txBody>
      </p:sp>
    </p:spTree>
    <p:extLst>
      <p:ext uri="{BB962C8B-B14F-4D97-AF65-F5344CB8AC3E}">
        <p14:creationId xmlns:p14="http://schemas.microsoft.com/office/powerpoint/2010/main" val="312724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F45BC-5713-4179-8731-67E47A7E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84355-0F90-4040-AFA3-14212BA9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TRES FUENTES IMPLEMENTADAS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B43A-00DF-4D31-87A0-EABBBE0F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Metadata y su efecto sobre la ruta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0B2F8-1EAD-481A-A9CB-F5D144A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0E4D0-E091-4E83-8B75-E094899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OSM/Overpass; Open-Meteo Elevation; Open-Meteo Historical Weather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00649-8578-445A-A614-EACC2BA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07E5B-C3E5-4641-870B-FD6C9B9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FC25E-641B-4BBB-8EC4-2DC8D50D6B8F}"/>
              </a:ext>
            </a:extLst>
          </p:cNvPr>
          <p:cNvGraphicFramePr/>
          <p:nvPr/>
        </p:nvGraphicFramePr>
        <p:xfrm>
          <a:off xmlns:a="http://schemas.openxmlformats.org/drawingml/2006/main" x="619125" y="1685925"/>
          <a:ext xmlns:a="http://schemas.openxmlformats.org/drawingml/2006/main" cx="10906125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28875"/>
                <a:gridCol w="3524250"/>
                <a:gridCol w="4953000"/>
              </a:tblGrid>
              <a:tr h="7858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Fuente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Dato obtenido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Uso en ruta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OSM / Overpass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33.593 edificios; 1.022 con altura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Posible obstáculo vertical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Open-Meteo Elevation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814 puntos de elevación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Relieve relativo del tramo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Open-Meteo Weather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720 horas de viento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Umbral y costo direccional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8DEC4-5BFA-406F-B745-E21DBA6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Regla verificable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9FBB9-C32E-48A0-A796-0494622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Se excluye un tramo si relieve relativo + altura estimada del edificio ≥ altura de vuelo − margen. El viento excesivo vuelve no admisible la misión.</a:t>
            </a:r>
          </a:p>
        </p:txBody>
      </p:sp>
    </p:spTree>
    <p:extLst>
      <p:ext uri="{BB962C8B-B14F-4D97-AF65-F5344CB8AC3E}">
        <p14:creationId xmlns:p14="http://schemas.microsoft.com/office/powerpoint/2010/main" val="158754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10B16-E2B1-49DB-A497-C7B094D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D26CA-6261-4B49-8C63-3DC49DD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TRES FUENTES INDEPENDIENTES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41D1B-DCFD-4A8F-B539-65072B5A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Amenazas como contexto; fallas como simulación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A1729-DEF2-4634-8080-9D7076A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B5235-CCF4-4B6D-8785-1B943A83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GPSJam; Economist/NASA FIRMS; UCDP 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A0F3D-B306-4424-9F0C-A410073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2EAA6-912B-439E-8EAB-CEDEC020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EA6DA-1B14-4112-BA66-AABB7772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54768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GPSJam: 7 celdas H3 con indicador GNSS de aviación. Focos térmicos: 41 registros clasificados. UCDP: 65 eventos georreferenciados.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ABDA4-EAA8-4E02-839D-68C8132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Traducción al experimento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A5D01-C22B-4C84-8054-E229509F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62350"/>
            <a:ext cx="5476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Los registros históricos aportan un puntaje contextual. Las fallas son discos sintéticos (centro, radio, activación) que bloquean aristas intersectadas; el UAV las descubre localmente.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9CC67-8661-47BD-B876-7BA9FF2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Un evento o una celda GPSJam no demuestran que un tramo UAV esté cerrado.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70DA9-0C5C-4265-9618-BEE85CA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530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E4B0E-7860-4039-A7F9-D5E70430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67198-8367-4D48-8DCC-00A3381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Mapa de capas y falla espacial simulada</a:t>
            </a:r>
          </a:p>
        </p:txBody>
      </p:sp>
    </p:spTree>
    <p:extLst>
      <p:ext uri="{BB962C8B-B14F-4D97-AF65-F5344CB8AC3E}">
        <p14:creationId xmlns:p14="http://schemas.microsoft.com/office/powerpoint/2010/main" val="91823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50F2F-6168-4533-A783-4C12B789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37A53-8D8E-40C7-A3EA-ADB9E4A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CONFIGURACIÓN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7EAAC-F18D-4C8F-BDFD-27B75C7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Restricciones, costos y parámetros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F9BAA-1333-465C-882E-B1FFC849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CC4D9-0EA4-4B86-80F3-FAEAAEAC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Valores por defecto del código; el puntaje de riesgo no es probabilidad calibrada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E6136-AF78-4A20-8267-EB04FD5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C79B9-E253-4000-8158-6FBA717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EA3CF-5C31-4AAA-9DA4-13B0E4B1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Costo C(e) = km(e) × factor de viento × (1 + wᵣ · riesgo) × penalización por cercanía a un bloqueo conocido.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93540-BD59-453F-B767-60E9F3D77F10}"/>
              </a:ext>
            </a:extLst>
          </p:cNvPr>
          <p:cNvGraphicFramePr/>
          <p:nvPr/>
        </p:nvGraphicFramePr>
        <p:xfrm>
          <a:off xmlns:a="http://schemas.openxmlformats.org/drawingml/2006/main" x="619125" y="2552700"/>
          <a:ext xmlns:a="http://schemas.openxmlformats.org/drawingml/2006/main" cx="10906125" cy="2914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81375"/>
                <a:gridCol w="2762250"/>
                <a:gridCol w="4762500"/>
              </a:tblGrid>
              <a:tr h="4857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Parámetro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Por defecto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Función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Altura / margen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60 m / 10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Despeje vertical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Viento máximo / crucero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12 / 12 m/s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Admisibilidad y costo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Desvío α / presupuesto 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0,35 / 0,60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Límites de recorrido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Yen K / separación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 / 0,4 km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Alternativas físicas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Incertidumbre ρ / 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0,6 km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Replanificación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E349-A581-4C78-B89F-F409A72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11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Si falta un atributo, su regla queda neutra. La opción de zonas restringidas aún no tiene fuente cargada en esta versión.</a:t>
            </a:r>
          </a:p>
        </p:txBody>
      </p:sp>
    </p:spTree>
    <p:extLst>
      <p:ext uri="{BB962C8B-B14F-4D97-AF65-F5344CB8AC3E}">
        <p14:creationId xmlns:p14="http://schemas.microsoft.com/office/powerpoint/2010/main" val="1543966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AD04B-44B0-4B00-A3E2-02838A0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C508-DC8A-4859-BC84-AA38DBE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ALGORITMO ELEGIDO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D5C4-3822-4797-AB24-E2ACCE14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Dijkstra, Yen y aporte del grupo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EE714-3BFF-4C9A-A1A5-2D189FCE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AE6C5-3968-4563-9503-4239DFFE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Yen (1971); Luna et al. (2024); pgRouting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E68F7-64B9-4CAA-A10E-8D1F303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62E01-8208-45B8-9648-2001165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B52B-645E-4944-B391-C75E44C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Referencia A: pgr_dijkstra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67137-A070-41C1-865A-38CE02F3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5191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Obtiene dos rutas por tramo usando solo kilómetros. La segunda excluye las aristas de la primera.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39982-64A1-46E7-BB79-E4D0778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478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Método C: Yen + selección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B26B7-4A85-47C0-9F08-2462CF01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5191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pgr_KSP produce hasta 8 candidatas. Se escoge el par por longitud, riesgo contextual y separación física.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00DE3-1720-46E5-BD1C-41AF50A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FA452-19F3-45FD-A5D0-7B0B1B93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Contribución propia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B8A40-AEF1-4288-8211-BC795AA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05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Regla para escoger el par, penalización local al descubrir fallas y replanificación con control del presupuesto. Luna et al. fundamenta replanificar; no se replica su sistema.</a:t>
            </a:r>
          </a:p>
        </p:txBody>
      </p:sp>
    </p:spTree>
    <p:extLst>
      <p:ext uri="{BB962C8B-B14F-4D97-AF65-F5344CB8AC3E}">
        <p14:creationId xmlns:p14="http://schemas.microsoft.com/office/powerpoint/2010/main" val="77003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E83C0-75FC-42A2-BBEB-5367DD4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34164-87F0-4C27-BCA3-00811EF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PSEUDOCÓDIGO RESUMIDO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57E1-7774-4785-8856-57F0B19A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Cómo responde el algoritmo a una falla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7A96A-3BA6-4ED2-A033-6C43EDA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90514-E5E2-455E-BBD7-4E8DBD1A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Implementación: ruteo/algoritmos.py y ruteo/simulador.py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119CC-2680-47AD-B951-2DB3773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9A59C-33A6-4926-BE49-F6F5558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97879-7258-47B9-97D7-77434A64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PLANIFICAR(s, 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90B4C-736A-4F4F-9E62-B747BA6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1  Quitar restricciones y fallas ya conocidas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2  Generar candidatas con Yen; añadir ruta mínima en km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3  Filtrar por desvío y presupuesto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4  Elegir el par que minimiza longitud + solape + riesgo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EAE8F-0D0D-46CB-864C-D1C465B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D14B-E5B5-4084-BAC7-E0AC424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862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AL DESCUBRIR / REACCIONAR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41529-7B2B-4873-986D-5BDEE3B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5  Registrar bloqueo y penalizar los tramos próximos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6  Recalcular Dijkstra desde la posición actual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7  Si la ruta prudente excede la holgura, probar la mínima en km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8  Si no hay ruta admisible, la misión fracasa</a:t>
            </a:r>
          </a:p>
        </p:txBody>
      </p:sp>
    </p:spTree>
    <p:extLst>
      <p:ext uri="{BB962C8B-B14F-4D97-AF65-F5344CB8AC3E}">
        <p14:creationId xmlns:p14="http://schemas.microsoft.com/office/powerpoint/2010/main" val="727960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DA3F-845A-4B40-81F6-1F40D2DB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A4032-0FB8-44E9-A912-D214BC3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COMPARACIÓN EXIGIDA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84AA0-6179-47DB-A53E-0B7E786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Dos rutas por método y resiliencia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E265-0116-4EF3-BA90-E22E38BB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5C7F-6C51-4120-BC48-534E9309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Mismo origen–destino y mismas restricciones para A y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8F789-7E57-4AD1-9D68-46A19E1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B018B-036A-419C-8CF4-795D1DE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EF78E-B152-449B-AB03-E1FD5CC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5143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0B017-7199-4EA0-83E3-830ADBB1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F875C-BED8-4ABC-8A29-25DBB26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Par pgr_dijkstra: solo longitud en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B79FC-1502-4CF6-B10F-F9A6E59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09725"/>
            <a:ext cx="51530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F1CC3-1C6E-471A-AC54-B4EABEBA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71650"/>
            <a:ext cx="477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B9C13-AFCF-43A9-BE00-64A38208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66925"/>
            <a:ext cx="4772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Par propuesto: Yen + selección resiliente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FD435-E22E-42BE-BEA6-BAABB62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Métricas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D5040-3877-457B-8CA4-B7255607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R_par: proporción de escenarios con alguna ruta libre. R_misión: puntos visitados y destino alcanzado dentro del presupuesto. ΔR: diferencia C − A en puntos porcentuales.</a:t>
            </a:r>
          </a:p>
        </p:txBody>
      </p:sp>
    </p:spTree>
    <p:extLst>
      <p:ext uri="{BB962C8B-B14F-4D97-AF65-F5344CB8AC3E}">
        <p14:creationId xmlns:p14="http://schemas.microsoft.com/office/powerpoint/2010/main" val="573989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DDF63-64CC-4BCA-BF58-D256A6BA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E07A3-6FC3-41AE-A89D-5367306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EVIDENCIA PRELIMINAR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B0D02-8819-4084-8855-9FDC51B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Evaluación pareada y resultados de ajuste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3C15C-02C1-400C-9BB5-E45E5A79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FBC35-60C8-40F8-AC76-1712D56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100 escenarios por celda; pendiente regenerar tras corrección de focos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AE5EE-9D5C-469D-97E1-CF064D10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D6DC3-1AF3-4FF8-9150-A4D94A4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4CD68-C8F7-4161-9943-0BB655BE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Todos los métodos comparten grafo, misión, restricciones, fallas y presupuesto. A es Dijkstra fijo; D replantea; C añade selección y reacción contextual.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D86FF-C9DB-406E-BBC0-FE6E6E623239}"/>
              </a:ext>
            </a:extLst>
          </p:cNvPr>
          <p:cNvGraphicFramePr/>
          <p:nvPr/>
        </p:nvGraphicFramePr>
        <p:xfrm>
          <a:off xmlns:a="http://schemas.openxmlformats.org/drawingml/2006/main" x="619125" y="2571750"/>
          <a:ext xmlns:a="http://schemas.openxmlformats.org/drawingml/2006/main" cx="10906125" cy="23717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2476500"/>
                <a:gridCol w="2571750"/>
                <a:gridCol w="2619375"/>
              </a:tblGrid>
              <a:tr h="5929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Fallas / 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A fijo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 replantea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 propuesta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T w="9525">
                      <a:solidFill>
                        <a:srgbClr val="BDD0D6"/>
                      </a:solidFill>
                      <a:prstDash val="solid"/>
                    </a:lnT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12233B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3 / 0,60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96 %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5 / 0,60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96 %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97 %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5 / 0,10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DD0D6"/>
                      </a:solidFill>
                      <a:prstDash val="solid"/>
                    </a:lnL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70 %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91 %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6364A"/>
                          </a:solidFill>
                          <a:latin typeface="Noto Sans"/>
                          <a:ea typeface="Noto Sans"/>
                          <a:cs typeface="Noto Sans"/>
                        </a:rPr>
                        <a:t>84 %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DD0D6"/>
                      </a:solidFill>
                      <a:prstDash val="solid"/>
                    </a:lnR>
                    <a:lnB w="9525">
                      <a:solidFill>
                        <a:srgbClr val="BDD0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7A643-0626-41CC-8C6E-72EC989D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La mejora frente a A parece depender en gran parte de replanificar: C casi empata con D a β=0,60 y queda bajo D con menor holgura.</a:t>
            </a:r>
          </a:p>
        </p:txBody>
      </p:sp>
    </p:spTree>
    <p:extLst>
      <p:ext uri="{BB962C8B-B14F-4D97-AF65-F5344CB8AC3E}">
        <p14:creationId xmlns:p14="http://schemas.microsoft.com/office/powerpoint/2010/main" val="103694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2B806-07FF-4F7A-B223-A6BA8A11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82DD2-A253-45DF-95FC-9558EB8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CIERRE DE TAREA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A468F-B88A-4788-B313-F4F1FE6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4295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2233B"/>
                </a:solidFill>
                <a:latin typeface="Noto Sans"/>
                <a:ea typeface="Noto Sans"/>
                <a:cs typeface="Noto Sans"/>
              </a:rPr>
              <a:t>Demostración, entrega y límites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3ABB2-0C4D-4685-9DEB-6AE54FD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769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F4BD4-2FC8-47F9-B6C7-F936DA31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9122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Presentación en Canvas; código evaluado en GitLab UDP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B4672-7CEB-4ABA-B1A6-FB0B59BF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Tarea 2 · ruteo físico resiliente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57D29-5199-430A-B827-3757AC1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389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buNone/>
              <a:def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D49DA-F665-4418-8776-635E3CD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Demo de la plataforma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FB820-1D93-46F2-8748-BF8C43A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Seleccionar origen y destino, cambiar una preferencia y mostrar los dos pares de rutas con su ΔR. La tasa del sitio corresponde al tramo consultado.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00804-CB4A-418D-9C92-361EDE4B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Antes de presentar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F1AFF-6777-4456-ACBB-D3FC523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Insertar capturas, recalcular el ejemplo DB tras la corrección de focos y ejecutar el conjunto reservado con parámetros congelados. Publicar el repositorio en GitLab UDP.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BD7ED-5121-4937-9CD6-6F4A64D3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26364A"/>
                </a:solidFill>
                <a:latin typeface="Noto Sans"/>
                <a:ea typeface="Noto Sans"/>
                <a:cs typeface="Noto Sans"/>
              </a:rPr>
              <a:t>Límite central: grafo, misión y fallas simulados; las fuentes públicas aportan contexto, no validación de vuelo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6101C-F88A-4595-ACDB-21A4D6F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7205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D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A933B-8BDB-422E-A466-9AD5C9A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38325"/>
            <a:ext cx="459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007C82"/>
                </a:solidFill>
                <a:latin typeface="Noto Sans"/>
                <a:ea typeface="Noto Sans"/>
                <a:cs typeface="Noto Sans"/>
              </a:rPr>
              <a:t>INSERTAR IMAGEN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FC698-EA13-4C46-8319-D078C63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4591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B7E"/>
                </a:solidFill>
                <a:latin typeface="Noto Sans"/>
                <a:ea typeface="Noto Sans"/>
                <a:cs typeface="Noto Sans"/>
              </a:rPr>
              <a:t>Captura del sitio Leaflet con rutas y ΔR</a:t>
            </a:r>
          </a:p>
        </p:txBody>
      </p:sp>
    </p:spTree>
    <p:extLst>
      <p:ext uri="{BB962C8B-B14F-4D97-AF65-F5344CB8AC3E}">
        <p14:creationId xmlns:p14="http://schemas.microsoft.com/office/powerpoint/2010/main" val="1718989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2026-10-19T20:55:39.0960000Z</dcterms:created>
  <dcterms:modified xsi:type="dcterms:W3CDTF">2026-10-19T20:55:39.0960000Z</dcterms:modified>
</coreProperties>
</file>