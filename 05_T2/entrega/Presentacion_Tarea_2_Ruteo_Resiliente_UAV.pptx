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b53e4bfa34c71" /><Relationship Type="http://schemas.openxmlformats.org/officeDocument/2006/relationships/extended-properties" Target="/docProps/app.xml" Id="Rbf3c899411274ad4" /><Relationship Type="http://schemas.openxmlformats.org/officeDocument/2006/relationships/officeDocument" Target="/ppt/presentation.xml" Id="Rf77ef8fa3026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bbd119d2c4466"/>
  </p:sldMasterIdLst>
  <p:notesMasterIdLst>
    <p:notesMasterId xmlns:r="http://schemas.openxmlformats.org/officeDocument/2006/relationships" r:id="R9293238495514500"/>
  </p:notesMasterIdLst>
  <p:sldIdLst>
    <p:sldId xmlns:r="http://schemas.openxmlformats.org/officeDocument/2006/relationships" id="256" r:id="R47909740fe57495e"/>
    <p:sldId xmlns:r="http://schemas.openxmlformats.org/officeDocument/2006/relationships" id="257" r:id="R43da4945c0654ab3"/>
    <p:sldId xmlns:r="http://schemas.openxmlformats.org/officeDocument/2006/relationships" id="258" r:id="Ra2a068535dc042fc"/>
    <p:sldId xmlns:r="http://schemas.openxmlformats.org/officeDocument/2006/relationships" id="259" r:id="Re068e4b270094519"/>
    <p:sldId xmlns:r="http://schemas.openxmlformats.org/officeDocument/2006/relationships" id="260" r:id="Rdfa645f4b45a486f"/>
    <p:sldId xmlns:r="http://schemas.openxmlformats.org/officeDocument/2006/relationships" id="261" r:id="Rd990fe9ea50845a0"/>
    <p:sldId xmlns:r="http://schemas.openxmlformats.org/officeDocument/2006/relationships" id="262" r:id="R5fb739d99e954a2a"/>
    <p:sldId xmlns:r="http://schemas.openxmlformats.org/officeDocument/2006/relationships" id="263" r:id="Rddc9d03267aa47eb"/>
    <p:sldId xmlns:r="http://schemas.openxmlformats.org/officeDocument/2006/relationships" id="264" r:id="Rd11e5c0d261749fb"/>
    <p:sldId xmlns:r="http://schemas.openxmlformats.org/officeDocument/2006/relationships" id="265" r:id="R5a2ac609f1bb444e"/>
    <p:sldId xmlns:r="http://schemas.openxmlformats.org/officeDocument/2006/relationships" id="266" r:id="R1aa6e15c90a94982"/>
    <p:sldId xmlns:r="http://schemas.openxmlformats.org/officeDocument/2006/relationships" id="267" r:id="R5cb5e7f9ec3242de"/>
    <p:sldId xmlns:r="http://schemas.openxmlformats.org/officeDocument/2006/relationships" id="268" r:id="R647aee777b264807"/>
    <p:sldId xmlns:r="http://schemas.openxmlformats.org/officeDocument/2006/relationships" id="269" r:id="R826b3f90b0204f86"/>
    <p:sldId xmlns:r="http://schemas.openxmlformats.org/officeDocument/2006/relationships" id="270" r:id="R3255364f46dc495b"/>
    <p:sldId xmlns:r="http://schemas.openxmlformats.org/officeDocument/2006/relationships" id="271" r:id="Rc80267eca5a54e0b"/>
    <p:sldId xmlns:r="http://schemas.openxmlformats.org/officeDocument/2006/relationships" id="272" r:id="R72ffeb8cd30e48de"/>
    <p:sldId xmlns:r="http://schemas.openxmlformats.org/officeDocument/2006/relationships" id="273" r:id="R92805b57d68040c9"/>
    <p:sldId xmlns:r="http://schemas.openxmlformats.org/officeDocument/2006/relationships" id="274" r:id="R67a7cc3cf915445a"/>
    <p:sldId xmlns:r="http://schemas.openxmlformats.org/officeDocument/2006/relationships" id="275" r:id="R6c2b1dcef89645fd"/>
    <p:sldId xmlns:r="http://schemas.openxmlformats.org/officeDocument/2006/relationships" id="276" r:id="Rea6d49d9586846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62cbd0e2074397" /><Relationship Type="http://schemas.openxmlformats.org/officeDocument/2006/relationships/slideMaster" Target="/ppt/slideMasters/slideMaster1.xml" Id="R0ffbbd119d2c4466" /><Relationship Type="http://schemas.openxmlformats.org/officeDocument/2006/relationships/notesMaster" Target="/ppt/notesMasters/notesMaster1.xml" Id="R9293238495514500" /><Relationship Type="http://schemas.openxmlformats.org/officeDocument/2006/relationships/presProps" Target="/ppt/presProps.xml" Id="R17fbf26a4d504890" /><Relationship Type="http://schemas.openxmlformats.org/officeDocument/2006/relationships/tableStyles" Target="/ppt/tableStyles.xml" Id="Rbe29fe2f2e334baf" /><Relationship Type="http://schemas.openxmlformats.org/officeDocument/2006/relationships/slide" Target="/ppt/slides/slide1.xml" Id="R47909740fe57495e" /><Relationship Type="http://schemas.openxmlformats.org/officeDocument/2006/relationships/slide" Target="/ppt/slides/slide2.xml" Id="R43da4945c0654ab3" /><Relationship Type="http://schemas.openxmlformats.org/officeDocument/2006/relationships/slide" Target="/ppt/slides/slide3.xml" Id="Ra2a068535dc042fc" /><Relationship Type="http://schemas.openxmlformats.org/officeDocument/2006/relationships/slide" Target="/ppt/slides/slide4.xml" Id="Re068e4b270094519" /><Relationship Type="http://schemas.openxmlformats.org/officeDocument/2006/relationships/slide" Target="/ppt/slides/slide5.xml" Id="Rdfa645f4b45a486f" /><Relationship Type="http://schemas.openxmlformats.org/officeDocument/2006/relationships/slide" Target="/ppt/slides/slide6.xml" Id="Rd990fe9ea50845a0" /><Relationship Type="http://schemas.openxmlformats.org/officeDocument/2006/relationships/slide" Target="/ppt/slides/slide7.xml" Id="R5fb739d99e954a2a" /><Relationship Type="http://schemas.openxmlformats.org/officeDocument/2006/relationships/slide" Target="/ppt/slides/slide8.xml" Id="Rddc9d03267aa47eb" /><Relationship Type="http://schemas.openxmlformats.org/officeDocument/2006/relationships/slide" Target="/ppt/slides/slide9.xml" Id="Rd11e5c0d261749fb" /><Relationship Type="http://schemas.openxmlformats.org/officeDocument/2006/relationships/slide" Target="/ppt/slides/slide10.xml" Id="R5a2ac609f1bb444e" /><Relationship Type="http://schemas.openxmlformats.org/officeDocument/2006/relationships/slide" Target="/ppt/slides/slide11.xml" Id="R1aa6e15c90a94982" /><Relationship Type="http://schemas.openxmlformats.org/officeDocument/2006/relationships/slide" Target="/ppt/slides/slide12.xml" Id="R5cb5e7f9ec3242de" /><Relationship Type="http://schemas.openxmlformats.org/officeDocument/2006/relationships/slide" Target="/ppt/slides/slide13.xml" Id="R647aee777b264807" /><Relationship Type="http://schemas.openxmlformats.org/officeDocument/2006/relationships/slide" Target="/ppt/slides/slide14.xml" Id="R826b3f90b0204f86" /><Relationship Type="http://schemas.openxmlformats.org/officeDocument/2006/relationships/slide" Target="/ppt/slides/slide15.xml" Id="R3255364f46dc495b" /><Relationship Type="http://schemas.openxmlformats.org/officeDocument/2006/relationships/slide" Target="/ppt/slides/slide16.xml" Id="Rc80267eca5a54e0b" /><Relationship Type="http://schemas.openxmlformats.org/officeDocument/2006/relationships/slide" Target="/ppt/slides/slide17.xml" Id="R72ffeb8cd30e48de" /><Relationship Type="http://schemas.openxmlformats.org/officeDocument/2006/relationships/slide" Target="/ppt/slides/slide18.xml" Id="R92805b57d68040c9" /><Relationship Type="http://schemas.openxmlformats.org/officeDocument/2006/relationships/slide" Target="/ppt/slides/slide19.xml" Id="R67a7cc3cf915445a" /><Relationship Type="http://schemas.openxmlformats.org/officeDocument/2006/relationships/slide" Target="/ppt/slides/slide20.xml" Id="R6c2b1dcef89645fd" /><Relationship Type="http://schemas.openxmlformats.org/officeDocument/2006/relationships/slide" Target="/ppt/slides/slide21.xml" Id="Rea6d49d95868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e890a497f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c02234efa4c5e" /><Relationship Type="http://schemas.openxmlformats.org/officeDocument/2006/relationships/notesMaster" Target="/ppt/notesMasters/notesMaster1.xml" Id="R591ae7f7feea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c0044b7c384cbd" /><Relationship Type="http://schemas.openxmlformats.org/officeDocument/2006/relationships/notesMaster" Target="/ppt/notesMasters/notesMaster1.xml" Id="R8913f8638b17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633022aa449bb" /><Relationship Type="http://schemas.openxmlformats.org/officeDocument/2006/relationships/notesMaster" Target="/ppt/notesMasters/notesMaster1.xml" Id="R979fc2c8ff9f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064b5ea8a44d50" /><Relationship Type="http://schemas.openxmlformats.org/officeDocument/2006/relationships/notesMaster" Target="/ppt/notesMasters/notesMaster1.xml" Id="R509d08bc8b754f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8e07ee1e9247e0" /><Relationship Type="http://schemas.openxmlformats.org/officeDocument/2006/relationships/notesMaster" Target="/ppt/notesMasters/notesMaster1.xml" Id="R30afee2932c9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3d357e7a3e4907" /><Relationship Type="http://schemas.openxmlformats.org/officeDocument/2006/relationships/notesMaster" Target="/ppt/notesMasters/notesMaster1.xml" Id="R7ffe3f985c564e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21e6c055d44b89" /><Relationship Type="http://schemas.openxmlformats.org/officeDocument/2006/relationships/notesMaster" Target="/ppt/notesMasters/notesMaster1.xml" Id="R2f514b44730845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f54676b2942dd" /><Relationship Type="http://schemas.openxmlformats.org/officeDocument/2006/relationships/notesMaster" Target="/ppt/notesMasters/notesMaster1.xml" Id="Ref46d6ca0eaa40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ac3b95e0244dc8" /><Relationship Type="http://schemas.openxmlformats.org/officeDocument/2006/relationships/notesMaster" Target="/ppt/notesMasters/notesMaster1.xml" Id="R2d76729cc419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d55d34205444ed" /><Relationship Type="http://schemas.openxmlformats.org/officeDocument/2006/relationships/notesMaster" Target="/ppt/notesMasters/notesMaster1.xml" Id="Rf5441c3571b44e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4c7a4a87024332" /><Relationship Type="http://schemas.openxmlformats.org/officeDocument/2006/relationships/notesMaster" Target="/ppt/notesMasters/notesMaster1.xml" Id="R8771ce7fd39242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60cf8c0c1d40f2" /><Relationship Type="http://schemas.openxmlformats.org/officeDocument/2006/relationships/notesMaster" Target="/ppt/notesMasters/notesMaster1.xml" Id="R4217630060c043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2375d1869743c2" /><Relationship Type="http://schemas.openxmlformats.org/officeDocument/2006/relationships/notesMaster" Target="/ppt/notesMasters/notesMaster1.xml" Id="Rf4d84230405d45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7970ae71614476" /><Relationship Type="http://schemas.openxmlformats.org/officeDocument/2006/relationships/notesMaster" Target="/ppt/notesMasters/notesMaster1.xml" Id="R75dca76764e04a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cb60bacf5f43dd" /><Relationship Type="http://schemas.openxmlformats.org/officeDocument/2006/relationships/notesMaster" Target="/ppt/notesMasters/notesMaster1.xml" Id="R32dd89d100214b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b6e5f4651d418a" /><Relationship Type="http://schemas.openxmlformats.org/officeDocument/2006/relationships/notesMaster" Target="/ppt/notesMasters/notesMaster1.xml" Id="R5af215cc653a40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00754604854d3c" /><Relationship Type="http://schemas.openxmlformats.org/officeDocument/2006/relationships/notesMaster" Target="/ppt/notesMasters/notesMaster1.xml" Id="Re2fa561a66304f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51dd8df12a44b6" /><Relationship Type="http://schemas.openxmlformats.org/officeDocument/2006/relationships/notesMaster" Target="/ppt/notesMasters/notesMaster1.xml" Id="Rc8661ad170f148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dc9e04a09f44d9" /><Relationship Type="http://schemas.openxmlformats.org/officeDocument/2006/relationships/notesMaster" Target="/ppt/notesMasters/notesMaster1.xml" Id="R6c14a3e2192b44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8ab6f56cbb49bc" /><Relationship Type="http://schemas.openxmlformats.org/officeDocument/2006/relationships/notesMaster" Target="/ppt/notesMasters/notesMaster1.xml" Id="Rc908746d57f442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14c42fb3704c2c" /><Relationship Type="http://schemas.openxmlformats.org/officeDocument/2006/relationships/notesMaster" Target="/ppt/notesMasters/notesMaster1.xml" Id="R877882972cbc41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académica. Mykolaiv es una referencia histórica y cartográfica. No se generan trayectorias militares operativas.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Retroalimentación de la Tarea 1 del ayudante: sustentar la problemática, no afirmar tiempos de reacción sin medición, grafo dinámico, hipótesis refutable, objetivos de algoritmo, 3D y citas. Fuente interna: informe T1 y comentarios compartidos por el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UNOSAT, Product 3404, evaluación con imagen del 21-07-2022: 198 estructuras con daño visible; análisis preliminar sin verificación de campo. https://unosat.org/products/3404 . PNUD, Mykolaiv Strategic Partnership 2025–2028: https://www.undp.org/ukraine/projects/mykolaiv-strategic-partnership . PNUD, entrega de equipos de datos espaciales y aéreos a comunidades en 2026: https://www.undp.org/ukraine/press-releases/undp-provides-equipment-five-ukrainian-communities-support-data-driven-recovery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05_T2/Informe_Tarea_2_Ruteo_Resiliente_UAV.tex, secciones Contexto y Metodología. La misión es simulada; no se modela cobertura continua ni vuelos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05_T2/Infraestructura/generar_infraestructura.py y 05_T2/Informe_Tarea_2_Ruteo_Resiliente_UAV.tex. Parámetros: 196 nodos, 618 aristas, malla de 0,5 km, 8 vecinos, perturbación 0,25, eliminación 12 %, semilla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05_T2/Dockerfile, docker-compose.yml en raíz, 05_T2/pipeline.py, 05_T2/BD/schema.sql, 05_T2/BD/MODELO_BD.md y 05_T2/BD/diagrama_bd.png.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OSM/Overpass: https://wiki.openstreetmap.org/wiki/Overpass_API . Open-Meteo Elevation: https://open-meteo.com/en/docs/elevation-api . Open-Meteo Historical Weather: https://open-meteo.com/en/docs/historical-weather-api . Conteos de primera ejecución Docker documentados en 05_T2/README.md y 05_T2/Informe_Tarea_2_Ruteo_Resiliente_UAV.tex.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GPSJam: https://gpsjam.org/ . The Economist / NASA FIRMS data: https://github.com/TheEconomist/ukraine-war-fire-data ; NASA FIRMS: https://firms.modaps.eosdis.nasa.gov/ . UCDP GED: https://ucdp.uu.se/downloads/ . Conteos: primera ejecución Docker documentada en 05_T2/Informe_Tarea_2_Ruteo_Resiliente_UAV.tex.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05_T2/BD/pesos.sql, 05_T2/ruteo/pesos.py y 05_T2/Informe_Tarea_2_Ruteo_Resiliente_UAV.tex. La combinación de puntajes no es una probabilidad calibrada.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05_T2/ruteo/fallas.py y 05_T2/Informe_Tarea_2_Ruteo_Resiliente_UAV.tex. El escenario contiene discos de radio 0,25–0,60 km; segmentos intersectados se bloquean desde un umbral de recorrido.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05_T2/ruteo/config.py y 05_T2/Informe_Tarea_2_Ruteo_Resiliente_UAV.tex, tabla de parámetros.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Dijkstra: E. W. Dijkstra, A note on two problems in connexion with graphs, Numerische Mathematik 1959. Yen: J. Y. Yen, Finding the K Shortest Loopless Paths in a Network, Management Science 1971, doi:10.1287/mnsc.17.11.712. Luna et al., A multi-UAV system for coverage path planning applications with in-flight re-planning capabilities, Journal of Field Robotics 2024, doi:10.1002/rob.22342. pgRouting: https://docs.pgrouting.org/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05_T2/ruteo/algoritmos.py, 05_T2/ruteo/simulador.py y 05_T2/Informe_Tarea_2_Ruteo_Resiliente_UAV.tex. La alternativa precalculada no se sigue necesariamente tras una falla: se ejecuta un Dijkstra nuevo.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05_T2/BD/rutas_ejemplo.py y 05_T2/ENTREGA_TAREA2.md. Las cifras antiguas de resiliencia de la primera corrida DB no son válidas tras corrección de la selección de focos; regenerar antes de usar capturas.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05_T2/ruteo/metricas.py, 05_T2/experimentos/run_experimentos.py y 05_T2/Informe_Tarea_2_Ruteo_Resiliente_UAV.tex.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05_T2/experimentos/run_experimentos.py y 05_T2/Informe_Tarea_2_Ruteo_Resiliente_UAV.tex. Ajuste semillas 0–99; evaluación reservada 10000–10299 aún no corrida.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05_T2/resultados/ajuste_pf0.5_nf5_b0.6.json, ajuste_pf0.5_nf5_b0.2.json, ajuste_pf0.5_nf5_b0.1.json y sensibilidad_ajuste.json. 100 escenarios por celda, p_foco=0,5; tasas de finalización de misión simulada. No se han ejecutado las semillas reservadas 10000–10299.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resultados de ajuste en 05_T2/resultados y 05_T2/Informe_Tarea_2_Ruteo_Resiliente_UAV.tex. La primera corrida DB debe regenerarse tras corrección en focos_bd.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05_T2/SitioWeb/app.py, static/index.html, static/app.js, static/estilo.css. La interfaz de par origen–destino debe rotular su resiliencia como tasa del tramo, no como finalización de misión completa. La opción de zonas restringidas aún no tiene fuente cargada.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05_T2/ENTREGA_TAREA2.md. Rúbrica Tarea 2: Docker 2, base de datos 2, metadata 8, amenazas 8, fallas 5, restricciones 5, algoritmo 10, dos rutas Dijkstra 4, dos rutas propuestas 4, resiliencia 6, plataforma 6 = 60. Enunciado: presentación en Canvas y repositorio en GitLab UDP; el remoto local sigue en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Referencias: UNOSAT https://unosat.org/products/3404 ; PNUD https://www.undp.org/ukraine/projects/mykolaiv-strategic-partnership ; Yen 1971 doi:10.1287/mnsc.17.11.712 ; Luna et al. 2024 doi:10.1002/rob.22342 ; pgRouting https://docs.pgrouting.org/ ; OpenStreetMap/Overpass https://wiki.openstreetmap.org/wiki/Overpass_API ; Open-Meteo https://open-meteo.com/en/docs/ ; GPSJam https://gpsjam.org/ ; UCDP https://ucdp.uu.se/downloads/ ; NASA FIRMS https://firms.modaps.eosdis.nasa.gov/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5262a534542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0c824ee0c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244cb77cc4f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6032adb7348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2bd1bc3d9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1d18dee58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6971B-4BCC-43BA-A2B6-1D80A895B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E112BC-47CC-443D-9C34-0B2DDBAF01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B6D0C0-7261-4BC5-912C-DEB77B36C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3BBC91-25CA-4193-A996-A7F9FCE3D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5F6B8A-F651-4945-A4A4-D11AAF5BB6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82E511-5641-44FE-B83B-85B8E0BBA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A815DD-8A6F-4EE8-B94A-3B1C1DEAD2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0FEF2E-39CB-4F7C-BEA2-9F6E5E225A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7375AB-F8B0-4F5F-8865-DE8457262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562831-D2B4-4749-81C9-E5C4A328B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67f95b06874d49" /><Relationship Type="http://schemas.openxmlformats.org/officeDocument/2006/relationships/slideLayout" Target="/ppt/slideLayouts/slideLayout1.xml" Id="R17676b9993c549e0" /><Relationship Type="http://schemas.openxmlformats.org/officeDocument/2006/relationships/slideLayout" Target="/ppt/slideLayouts/slideLayout2.xml" Id="R24176857104c4e35" /><Relationship Type="http://schemas.openxmlformats.org/officeDocument/2006/relationships/slideLayout" Target="/ppt/slideLayouts/slideLayout3.xml" Id="R3fdd40f2a2ac46ef" /><Relationship Type="http://schemas.openxmlformats.org/officeDocument/2006/relationships/slideLayout" Target="/ppt/slideLayouts/slideLayout4.xml" Id="R1b128fcfb5ef47f3" /><Relationship Type="http://schemas.openxmlformats.org/officeDocument/2006/relationships/slideLayout" Target="/ppt/slideLayouts/slideLayout5.xml" Id="R5f362dc5a2104971" /><Relationship Type="http://schemas.openxmlformats.org/officeDocument/2006/relationships/slideLayout" Target="/ppt/slideLayouts/slideLayout6.xml" Id="R0a5849e3187f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76b9993c549e0"/>
    <p:sldLayoutId xmlns:r="http://schemas.openxmlformats.org/officeDocument/2006/relationships" id="2147483650" r:id="R24176857104c4e35"/>
    <p:sldLayoutId xmlns:r="http://schemas.openxmlformats.org/officeDocument/2006/relationships" id="2147483651" r:id="R3fdd40f2a2ac46ef"/>
    <p:sldLayoutId xmlns:r="http://schemas.openxmlformats.org/officeDocument/2006/relationships" id="2147483652" r:id="R1b128fcfb5ef47f3"/>
    <p:sldLayoutId xmlns:r="http://schemas.openxmlformats.org/officeDocument/2006/relationships" id="2147483653" r:id="R5f362dc5a2104971"/>
    <p:sldLayoutId xmlns:r="http://schemas.openxmlformats.org/officeDocument/2006/relationships" id="2147483654" r:id="R0a5849e3187f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9d1f7e4044031" /><Relationship Type="http://schemas.openxmlformats.org/officeDocument/2006/relationships/notesSlide" Target="/ppt/notesSlides/notesSlide1.xml" Id="R74cb1fc5112147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6b491e9e1402e" /><Relationship Type="http://schemas.openxmlformats.org/officeDocument/2006/relationships/notesSlide" Target="/ppt/notesSlides/notesSlide2.xml" Id="R69ac8281ff324a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f65ecea8c49da" /><Relationship Type="http://schemas.openxmlformats.org/officeDocument/2006/relationships/notesSlide" Target="/ppt/notesSlides/notesSlide3.xml" Id="R995ca6dfbb2c4e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1805b1a294518" /><Relationship Type="http://schemas.openxmlformats.org/officeDocument/2006/relationships/notesSlide" Target="/ppt/notesSlides/notesSlide4.xml" Id="R995f0dd94c8a4f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9c50e55554d94" /><Relationship Type="http://schemas.openxmlformats.org/officeDocument/2006/relationships/notesSlide" Target="/ppt/notesSlides/notesSlide5.xml" Id="Rcc3b9b7431fa4f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8387410d54a57" /><Relationship Type="http://schemas.openxmlformats.org/officeDocument/2006/relationships/notesSlide" Target="/ppt/notesSlides/notesSlide6.xml" Id="Rc8d06d91ff21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3530025ac4394" /><Relationship Type="http://schemas.openxmlformats.org/officeDocument/2006/relationships/notesSlide" Target="/ppt/notesSlides/notesSlide7.xml" Id="R346facc4ae4147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0d17726ef4fdf" /><Relationship Type="http://schemas.openxmlformats.org/officeDocument/2006/relationships/notesSlide" Target="/ppt/notesSlides/notesSlide8.xml" Id="Rdf37cd5870f442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de920f69f4ab0" /><Relationship Type="http://schemas.openxmlformats.org/officeDocument/2006/relationships/notesSlide" Target="/ppt/notesSlides/notesSlide9.xml" Id="R2f6b1fe2efe14d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03aa8cec44d2b" /><Relationship Type="http://schemas.openxmlformats.org/officeDocument/2006/relationships/notesSlide" Target="/ppt/notesSlides/notesSlide10.xml" Id="R090171e671d842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b313b77fc435a" /><Relationship Type="http://schemas.openxmlformats.org/officeDocument/2006/relationships/notesSlide" Target="/ppt/notesSlides/notesSlide11.xml" Id="R303a0eccd7484d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11af2e0e4424b" /><Relationship Type="http://schemas.openxmlformats.org/officeDocument/2006/relationships/notesSlide" Target="/ppt/notesSlides/notesSlide12.xml" Id="R8f263301a87146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3f4118487433b" /><Relationship Type="http://schemas.openxmlformats.org/officeDocument/2006/relationships/notesSlide" Target="/ppt/notesSlides/notesSlide13.xml" Id="R208cd7927e404a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ddfff8b6e4504" /><Relationship Type="http://schemas.openxmlformats.org/officeDocument/2006/relationships/notesSlide" Target="/ppt/notesSlides/notesSlide14.xml" Id="R3ed44ce6c14347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a02b95f6f4f36" /><Relationship Type="http://schemas.openxmlformats.org/officeDocument/2006/relationships/notesSlide" Target="/ppt/notesSlides/notesSlide15.xml" Id="R44774012a4e74c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de30f4fb6429e" /><Relationship Type="http://schemas.openxmlformats.org/officeDocument/2006/relationships/notesSlide" Target="/ppt/notesSlides/notesSlide16.xml" Id="R8cc54dcb831648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17b125dc341db" /><Relationship Type="http://schemas.openxmlformats.org/officeDocument/2006/relationships/notesSlide" Target="/ppt/notesSlides/notesSlide17.xml" Id="R7f481116f51944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46b22a7df4ed8" /><Relationship Type="http://schemas.openxmlformats.org/officeDocument/2006/relationships/notesSlide" Target="/ppt/notesSlides/notesSlide18.xml" Id="R1f6b0b76dfb944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adec9055346a2" /><Relationship Type="http://schemas.openxmlformats.org/officeDocument/2006/relationships/notesSlide" Target="/ppt/notesSlides/notesSlide19.xml" Id="Re39556cc4b7347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cd5556ad04ef4" /><Relationship Type="http://schemas.openxmlformats.org/officeDocument/2006/relationships/notesSlide" Target="/ppt/notesSlides/notesSlide20.xml" Id="Rf4677828e67c46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74ab959cb43a8" /><Relationship Type="http://schemas.openxmlformats.org/officeDocument/2006/relationships/notesSlide" Target="/ppt/notesSlides/notesSlide21.xml" Id="Re47df24ff82a4d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C7E14-0808-49DF-AE4A-E4D14ADD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057D-3EF6-42B4-A796-1A814BE8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TAREA 2 · ALGORITMOS DE RUTEO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61FA8-D8B5-436F-81FC-126BBF49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19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Ruteo físico resiliente de UAV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5BE5-41B0-4B15-9DBD-10C049C4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Inspección territorial civil en un entorno de referencia de Mykolaiv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EA2EE-74DB-42E1-AF65-8CCC19D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520A2-127D-4723-9322-75D57FD1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Grafo geolocalizado · rutas alternativas · fallas simuladas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F5954-8940-413D-86C8-A2B394E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Integrantes: [completar]     Profesor: [completar]     Fecha: [completar]</a:t>
            </a:r>
          </a:p>
        </p:txBody>
      </p:sp>
    </p:spTree>
    <p:extLst>
      <p:ext uri="{BB962C8B-B14F-4D97-AF65-F5344CB8AC3E}">
        <p14:creationId xmlns:p14="http://schemas.microsoft.com/office/powerpoint/2010/main" val="700789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61FA7-B142-43DD-9D0F-30D2284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589E-ECDA-40C9-928A-2E9293B0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AB82-CA61-4F83-8AEA-245ED3E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Cómo corregimos el enfoque de la Tarea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6DD7E-AD42-4B52-946A-D8E383C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A160B-A210-4BDC-80AF-2284C48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9960A-1391-4AD1-8179-0B9C712D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02BDB-C226-448E-833D-8D4CB099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F076A-41A4-430E-8D3A-B869C2EA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Misión civil delimitada y antecedentes documentados; las fallas del vuelo siguen siendo simuladas.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3E371-71E2-4332-A6BA-42CFF838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4BE1C-ED78-4FE2-B544-BDC08016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Grafo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9B09B-2DF3-4B24-A950-0C426B25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241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 solo grafo de navegación: los nodos son posiciones físicas, no UAV ni enlaces de comunicación.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06333-108C-4025-BD15-7173CA8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55C2C-4C88-4FAA-9C15-528EA1F1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Hipótesis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E69E1-999F-44AA-AEC4-3D20F12F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Predicción cuantitativa sobre finalización de misión frente a controles pareados.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5D19E-5905-4441-8D37-CC83E2AC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06046-D658-421D-99C0-BB6FE6A8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Contribución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08621-740F-4C23-A790-689C015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El objetivo central es diseñar y evaluar el mecanismo de ruteo, no solo reunir datos.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1EFF1-B78D-4F26-9B9B-596CF8B7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59F7F-2BC1-47D3-98BB-262FDA9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Geometría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5295A-9035-4D3D-AAFD-3AE66F9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01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Modelo 2,5D con elevación y alturas estimadas; se declaran sus límites.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39005-4E4E-4546-BC67-C58D8DFB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6024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77E97-02D6-4003-9244-A851FFBB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6660B-B81D-4585-A8EA-3C4A103A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CASO CIVIL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06969-987D-4D32-9C23-A247B184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Contexto de estudio: Mykolaiv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82A7-C1D0-4197-8D06-FFD5909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6E30E-ED28-4A7A-AF13-83E1085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8B053-C739-4767-87B7-CAAC7CF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E7036-55D3-453E-8F16-B524FAFD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UNOSAT identificó 198 estructuras con daño visible en imágenes de julio de 2022. El PNUD documenta proyectos de recuperación y apoyo a la recopilación de datos espaciales en la región.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B15FD-96DE-4994-AD36-6E9355A6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El estudio simula una inspección de puntos de interés. Los antecedentes justifican estudiar la misión; no prueban que la ruta UAV o las fallas simuladas hayan ocurrido.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81954-7B81-4FCE-A975-F7BDB57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509587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98B4B-AA6B-4F6B-860F-0EE70B0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47850"/>
            <a:ext cx="475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3C0D8-85AB-412B-A685-6BB024A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43125"/>
            <a:ext cx="4752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Mapa del área de estudio con fuente y fecha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8FAF9-2490-4C95-84B8-6B5DF80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4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Referencia histórica y cartográfica provisional</a:t>
            </a:r>
          </a:p>
        </p:txBody>
      </p:sp>
    </p:spTree>
    <p:extLst>
      <p:ext uri="{BB962C8B-B14F-4D97-AF65-F5344CB8AC3E}">
        <p14:creationId xmlns:p14="http://schemas.microsoft.com/office/powerpoint/2010/main" val="1575903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BA0FA-50B0-487C-A500-E41FD06D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BC63-C9A5-4377-A140-2BEEB289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1FD92-A9C0-49A6-AD5E-788200B8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Misión, pregunta e hipótesis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3DDB6-5D30-4DDF-8C58-7C6BB2B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17E10-45D9-4C5A-9E37-1D3E9B49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24A3-D130-415E-825C-D5028677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20BAD-334F-42DE-9A4E-93BB4F2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Misión simulada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305D0-D1A5-4CE5-9827-990C5D83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Origen A → observación P₁ → P₂ → P₃ → destino 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94BC7-8C56-4FDC-854C-D662F2D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Cada par consecutivo forma un tramo origen–destino. Se exige visitar los puntos en orden y respetar un presupuesto de distancia. No se afirma cobertura continua del área.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09BEA-A748-43F6-A3C7-F4DF334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5455E-9D3E-4BBA-8CA7-3487FC10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Pregunta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1CEF4-8FF9-4B03-96F9-48FB5603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¿La selección de corredores separados y la replanificación aumentan la finalización de misión frente a dos rutas elegidas solo por distancia?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4BEF2-CAF5-42F4-8F54-7A23146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8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Hipótesis refutable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D634C-FB17-4E4D-8C5C-7C5DA08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Con parámetros congelados, C superará al par Dijkstra fijo A en escenarios pareados y dentro del presupuesto. Se compara también con Dijkstra que replantea (D).</a:t>
            </a:r>
          </a:p>
        </p:txBody>
      </p:sp>
    </p:spTree>
    <p:extLst>
      <p:ext uri="{BB962C8B-B14F-4D97-AF65-F5344CB8AC3E}">
        <p14:creationId xmlns:p14="http://schemas.microsoft.com/office/powerpoint/2010/main" val="1007684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D9BFA-A27B-4BB9-ADDA-355C22E8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158A1-B041-4F98-9519-3F49DA3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INFRAESTRUCTURA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EF809-8BAA-4F73-8EE7-04E24088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Un único grafo físico de navegación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09E9-035C-4030-BD98-EE5EC26C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7C84E-404B-4EE0-9224-F97A82D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E2AD8-8331-48EC-812D-16BDF56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5F73A-B054-4D51-A12A-22CAF66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C6BDF-B4ED-49E2-95EE-13EB4D1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Puntos de navegación geolocalizados, con elevación como atributo.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C25B2-0DE1-47C5-9B80-353E27E9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6149F-D9AE-4EE3-945A-44F2CB5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C97EF-F7FE-40B7-893B-6A57E89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95550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Segmentos candidatos de desplazamiento con longitud, atributos y costo.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0EB5F-6624-42A1-9718-1549E11F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E94FF-088D-4D8B-A2B2-63F4280A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2422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Estado UAV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A77EB-7072-4BCC-BC13-38CE453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433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Posición actual y fallas conocidas; la posición no crea un nodo del grafo.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370BE-5DCA-42F1-83CB-FFF6B42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CA896-C0AF-4D8B-A04F-EBF2CFD3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314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Topología de referencia: 196 nodos y 618 aristas. La admisibilidad de los segmentos cambia cuando aparece una falla. El relieve y los edificios dan una aproximación 2,5D.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49245-AE7D-462F-86B4-FF01E47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019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62DA9-D414-43CF-9A7E-9D72A7B3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76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7FCB5-DF0C-46CD-A0BC-57C4A655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467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Grafo sobre mapa y nodos de la misión</a:t>
            </a:r>
          </a:p>
        </p:txBody>
      </p:sp>
    </p:spTree>
    <p:extLst>
      <p:ext uri="{BB962C8B-B14F-4D97-AF65-F5344CB8AC3E}">
        <p14:creationId xmlns:p14="http://schemas.microsoft.com/office/powerpoint/2010/main" val="1583435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819F6-852E-4615-ABBE-A151760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AEAA1-5E2F-450D-8EA6-7D3C2CA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DOCKER Y BASE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30C61-4B3D-4DAD-8E62-0A4A8C61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Arquitectura reproducible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CF5D-0ABE-48C1-B92F-AE5914B5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4334-8D2C-4920-9DDC-4BD28D7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13D4-4981-4082-B35C-86A6D49A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287B1-86EE-42B8-A53C-67D1EC1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Docker ejecuta PostgreSQL 17, PostGIS 3.5 y pgRouting 3.8. El pipeline crea el esquema, genera el grafo, extrae seis fuentes a JSON, carga datos, asigna pesos, calcula rutas y sirve la plataforma.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B98B0-73C9-403F-B148-9B661351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Tablas principales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5610E-0AFE-446C-A079-3ECE10CD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nodos, aristas, mision, meta_*, amz_*, fuentes, rutas y evaluaciones. Los JSON documentados conservan trazabilidad de la extracción.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97D4B-49E3-4033-A0B2-5B5B424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953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3988F-C5B5-4DEF-BB08-2F67590F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E1525-F935-4434-82C1-E58235A7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61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Captura de Docker/servicios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FCCC9-6F7C-4F08-8BC3-03FAEE8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71950"/>
            <a:ext cx="57054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01907-0241-41AE-8FAA-585606E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24350"/>
            <a:ext cx="5362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51305-EDBB-4B70-A924-12A1590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19625"/>
            <a:ext cx="5362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Diagrama relacional de la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286074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42638-F1B0-468A-8BD4-8BE1E52C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90FEE-452B-4968-99DD-71E4B0CF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TRES FUENTES IMPLEMENTADAS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BC8EE-E973-40A8-95CE-FB85496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Metadata que modifica el ruteo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6EB7-B931-4ADB-8816-342C386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1333A-9D23-415F-9713-91D4544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3C6FF-37AF-455A-B4A2-32729432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43B0C-24E1-4B81-BC3C-853DA68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OSM / Overpass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F6056-82F6-4A9C-B9B0-0180CA3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00200"/>
            <a:ext cx="834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33.593 edificios. Altura disponible o estimada para 1.022. Aporta obstáculos próximos a aristas.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BC973-3CD4-4C93-A6DA-8F2FB31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14484-0FD9-4C23-9E69-5C5F180A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Open-Meteo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99ABF-33E4-4B2A-A1EB-943D6A59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834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814 muestras de terreno, 0–57 m en el recorte. Aporta relieve para la prueba de despeje vertical.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5CF71-EBC1-480F-A184-F661ED4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39BAA-A82E-4927-882A-56B40B01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Open-Meteo Weather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94740-7932-4A16-923B-3355DB9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834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720 horas de viento histórico. Define umbral global y factor direccional de costo.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B3D4C-2D08-458C-B21C-05832B1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41F5D-2DB3-4AFB-849A-747EC97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Límites: alturas incompletas, DEM de 90 m y viento regional. La petición histórica no fija explícitamente el modelo meteorológico.</a:t>
            </a:r>
          </a:p>
        </p:txBody>
      </p:sp>
    </p:spTree>
    <p:extLst>
      <p:ext uri="{BB962C8B-B14F-4D97-AF65-F5344CB8AC3E}">
        <p14:creationId xmlns:p14="http://schemas.microsoft.com/office/powerpoint/2010/main" val="1568108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2267C-8388-4BE3-B482-B16D468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2D2FB-4CE6-4A53-9538-5BA0D40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DATOS HISTÓRICOS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F6BC4-5542-459D-82DD-5BC2B6EE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Tres fuentes de amenaza contextual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B091C-2A97-463C-B530-38D8E12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5B80E-72FD-45FB-95CF-62626E5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3E4B-51C9-42E3-BE7C-2456AC9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09F9C-2405-492D-BF4B-4F8E4000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GPSJam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5E651-503C-4D66-9085-259BF6A6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90675"/>
            <a:ext cx="833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7 celdas H3: precisión GNSS reportada por aviación. Indicador regional, no medición de jamming en UAV.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2A91A-C5B0-47C3-8DD1-ACDA0C69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EB341-3C4D-4538-8423-7AE24B2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Focos térmicos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9E0A7-4FA2-4763-8C32-5B99F03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86075"/>
            <a:ext cx="833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41 registros clasificados: 26 históricos y 15 de evaluación. Orientan escenarios sintéticos.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31CD2-A682-455D-B1A7-A6E9FEB6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DCC36-CAC5-4F10-97CF-4AE1A28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UCDP 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67E6B-9A99-4541-BAA6-CF80D00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81475"/>
            <a:ext cx="833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65 eventos georreferenciados. Aportan densidad histórica con precisión espacial variable.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3E2CA-ADA7-4F28-9EEC-11F378C9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2E1D9-22E6-4745-AA68-9580A941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Ninguna fuente prueba que un segmento UAV estuviera bloqueado. La falla se activa solo dentro del simulador.</a:t>
            </a:r>
          </a:p>
        </p:txBody>
      </p:sp>
    </p:spTree>
    <p:extLst>
      <p:ext uri="{BB962C8B-B14F-4D97-AF65-F5344CB8AC3E}">
        <p14:creationId xmlns:p14="http://schemas.microsoft.com/office/powerpoint/2010/main" val="644829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91BED-1425-41D0-9E09-63EDD1A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EED7F-ACD9-4895-B4FB-79EBE4D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MODELO DE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A9C44-E8BC-4A49-A66F-F9BF532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De los datos a restricciones justificables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5FD9B-D7F0-4A7C-8BC5-05114B3B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7DB48-FE2B-4436-8A15-2439EB8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CC933-8E33-4578-BD7B-38047C4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A34F-24B2-47EE-AD0C-EFDA0B89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Obstáculos 2,5D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45980-EC15-4709-A921-896B7F1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Excluir un segmento si relieve relativo + altura estimada ≥ altura de vuelo − margen.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EB95F-9D7B-4A0F-9A2D-DB0A8FE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1AF80-3356-4397-B02D-0437A1A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Viento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9DE25-37AD-4008-B47C-E81D6DB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Si supera el máximo elegido, la misión no es admisible. Bajo el umbral, altera el costo por dirección.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67508-53D3-4E09-B3C4-E0227208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8BF7E-9C83-45ED-BFE9-5EA2C80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Contexto histórico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9E482-3A8B-4316-9ACA-FC0B6054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Focos, eventos y GNSS generan un puntaje compuesto que ordena candidatas; no cierran aristas.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76E9C-157F-4166-966B-DF9682B4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A194E-AFFB-4D9E-B219-09F5E96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Datos faltantes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CE8B4-B3F9-49F1-90F5-2C8BAA7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Se conserva un valor por defecto documentado y no se declara cierre sin evidencia.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0C6F4-5E62-4C4F-9695-9466605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7153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C2121-0BE2-416B-8867-84A846D3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5B1F6-5972-4763-8ABC-7023115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ESCENARIOS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CDEA5-76B6-47B8-BA7D-66DC8B2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Fallas espaciales simuladas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EA775-C63E-44D7-B63F-A9BD50C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FD378-8A8E-45B4-8B0A-49C85525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5B0A0-D2A3-4C16-9692-8BBE5DD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A61CB-EB46-4110-AC9C-550923EC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5619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 escenario fija discos con centro, radio y momento de activación. Una arista queda bloqueada cuando intersecta un disco activo. El UAV descubre solo fallas incidentes en su posición actual.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3B852-0797-4DA2-A383-0C81AD73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Supuestos explícitos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C9561-B1CB-45E5-AA73-6FD9426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Los discos que contienen un punto obligatorio se remuestrean. El número, el radio y la activación de las fallas son decisiones del experimento; no equivalen a eventos observados de vuelo.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A7A17-59D7-4721-A907-A87E519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A076C-EA55-4EC1-A801-3605159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499A3-0A54-4F38-A9B7-609BFC9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62175"/>
            <a:ext cx="461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Mapa de un escenario: focos, discos y aristas cerradas</a:t>
            </a:r>
          </a:p>
        </p:txBody>
      </p:sp>
    </p:spTree>
    <p:extLst>
      <p:ext uri="{BB962C8B-B14F-4D97-AF65-F5344CB8AC3E}">
        <p14:creationId xmlns:p14="http://schemas.microsoft.com/office/powerpoint/2010/main" val="1201427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E410-CC58-483F-A7B8-1C5E03F8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D852-8904-41C2-9FF0-FA44E050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CONFIGURACIÓN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24ED8-727B-45DC-93ED-C913DD5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Parámetros del experimento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B76E-6539-421A-AF0E-B4BB3491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34F78-12EF-4F04-B68B-E16D9C3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5B945-AEFE-4484-9767-52CC1C10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A7D24-930B-487D-9FEF-283295EE80FE}"/>
              </a:ext>
            </a:extLst>
          </p:cNvPr>
          <p:cNvGraphicFramePr/>
          <p:nvPr/>
        </p:nvGraphicFramePr>
        <p:xfrm>
          <a:off xmlns:a="http://schemas.openxmlformats.org/drawingml/2006/main" x="1000125" y="1666875"/>
          <a:ext xmlns:a="http://schemas.openxmlformats.org/drawingml/2006/main" cx="100965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286500"/>
                <a:gridCol w="3810000"/>
              </a:tblGrid>
              <a:tr h="50601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Parámetro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Altura / margen vertical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60 m / 10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Viento máximo / crucero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12 m/s / 12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Desvío α / holgura 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0,35 / 0,60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Peso de riesgo / candidatas Yen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 / K =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Separación de corredores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0,4 km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Radio de incertidumbre / penalización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0,6 km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0601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Fallas por escenario / radio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3 / 0,25–0,60 km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A6035-A6B7-478F-BB0B-DE6F52F5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674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9A6413"/>
                </a:solidFill>
                <a:latin typeface="Noto Sans"/>
                <a:ea typeface="Noto Sans"/>
                <a:cs typeface="Noto Sans"/>
              </a:rPr>
              <a:t>Los valores de evaluación deben congelarse antes de ejecutar el conjunto reservado.</a:t>
            </a:r>
          </a:p>
        </p:txBody>
      </p:sp>
    </p:spTree>
    <p:extLst>
      <p:ext uri="{BB962C8B-B14F-4D97-AF65-F5344CB8AC3E}">
        <p14:creationId xmlns:p14="http://schemas.microsoft.com/office/powerpoint/2010/main" val="1874187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1B943-0FB5-46C1-B7D6-CB80830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6F010-01DF-4DA3-BA1C-D7B80A67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ALGORITMOS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91D68-9FDD-4465-86F7-4837C75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Línea base y método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3115-44C4-40D2-9E94-3AA7ABE7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2B398-151D-40FD-BAB3-606FCFA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8B3D9-6AA9-483B-8D44-0C3DFB8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B71F3-F2A5-409A-A344-969309E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 · Dijkstra fijo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AD57F-D902-4326-AFA2-BB8E294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Dos consultas pgr_dijkstra por tramo, con costo largo_km. La segunda excluye las aristas de la primera. El respaldo con penalización x10 se debe reportar aparte.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405B7-A232-4B90-98A8-C872E8AF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 · Propuesta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3666F-3DD1-4A3D-9701-55C4989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38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Yen genera hasta K=8 caminos simples. Se escoge un par según longitud, solape espacial y puntaje contextual. Al descubrir una falla, se replantea desde la posición actual.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4F5FA-7DDF-4A8E-AE44-39A60D3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41D33-0AE4-48E7-9109-9D45D27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Aporte del grupo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AD5F7-CBCD-4A8A-8E56-0AAC8390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Selección del par y regla de reacción acotada. Yen genera candidatas; Luna et al. sirve como antecedente de replanificación, sin replicar su sistema.</a:t>
            </a:r>
          </a:p>
        </p:txBody>
      </p:sp>
    </p:spTree>
    <p:extLst>
      <p:ext uri="{BB962C8B-B14F-4D97-AF65-F5344CB8AC3E}">
        <p14:creationId xmlns:p14="http://schemas.microsoft.com/office/powerpoint/2010/main" val="1119050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6EC4F-2339-41E8-A414-5E85DB2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5399B-9395-42AD-ACEE-70F05F31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PSEUDOCÓDIGO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3DEF-155E-473D-AB66-7E2CA75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Mecanismo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B2802-4293-4DFB-A448-66D1104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C983C-9339-49F6-B74E-9C7CC6EB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3C3D-8FC6-4823-A2C4-C9B4F005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BEFA2-21ED-43F9-B142-B566E497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PLANIFICAR(s, 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137AC-EFEA-42D4-8B5F-4D374D3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6680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1  Quitar restricciones y fallas conocidas del grafo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  Calcular r_min con Dijkstra por kilómetros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3  Generar K=8 candidatas con Yen y costo contextual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4  Filtrar por desvío y presupuesto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5  Elegir el par con menor J(longitud, solape, riesgo)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6F136-E778-456A-9DF8-1E9DEE1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8FCC8-E9B0-4659-AF46-D03309B4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REACCIONAR(posición, siguiente punto)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A0F15-AAB8-465E-86DF-F49E4EF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668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1  Registrar arista bloqueada y penalizar su entorno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  Recalcular Dijkstra con costo contextual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3  Si excede el presupuesto, intentar Dijkstra por kilómetros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4  Si no existe ruta admisible, registrar fracaso</a:t>
            </a:r>
          </a:p>
        </p:txBody>
      </p:sp>
    </p:spTree>
    <p:extLst>
      <p:ext uri="{BB962C8B-B14F-4D97-AF65-F5344CB8AC3E}">
        <p14:creationId xmlns:p14="http://schemas.microsoft.com/office/powerpoint/2010/main" val="840839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65777-E753-4F3D-A6A0-56FA67D7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9152-9A80-456D-943D-02BE3541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REQUISITO ORIGEN–DESTINO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29394-F5A5-4DF9-AD67-A89FBE3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Comparación de dos rutas por tramo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06BAF-CB20-44D0-A499-B4BFE7E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84643-58E9-42CD-B127-36B84F8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5CDC3-92A4-43CE-A042-9D3EAAC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A325-2985-4C04-92C0-370E08A0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200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EFB1-C46B-4DDD-BC5C-DC86267C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636A1-CD0A-4167-84E1-122EB7D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Mapa: dos rutas pgr_dijkstra por kilómetros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3C2D4-5C29-431F-8B15-627A7DE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24025"/>
            <a:ext cx="5200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C92B7-8123-44B4-98CA-72A3357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764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8FF46-720E-4E96-B498-0611195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Mapa: par elegido por Yen y selección resiliente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B619C-A54F-47EB-B52A-F8B5166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482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Mostrar para el mismo origen y destino: kilómetros de cada ruta, solape, costo, restricciones activas y diferencia en resiliencia. Regenerar el ejemplo de base de datos antes de insertar cifras.</a:t>
            </a:r>
          </a:p>
        </p:txBody>
      </p:sp>
    </p:spTree>
    <p:extLst>
      <p:ext uri="{BB962C8B-B14F-4D97-AF65-F5344CB8AC3E}">
        <p14:creationId xmlns:p14="http://schemas.microsoft.com/office/powerpoint/2010/main" val="6430703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0945F-018C-42CE-93F9-2EFA53B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6FC79-961C-44CE-9B01-63541F0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MÉTRICAS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33231-E5F4-489D-B396-3AA3831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Cómo medimos la resiliencia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EF3F5-50EF-467E-BDA0-AC03A44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AB0EA-998F-46B4-A567-16397E1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21172-08E6-4141-ABFB-6D1BCBD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6F559-1503-4F1B-A8C2-DB0ACD7B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 misión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F8BB7-C07A-46AA-9B35-85F7353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Fracción de escenarios que visita P₁, P₂ y P₃ en orden, llega a B y respeta Lmax.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573C5-56F0-4C83-B741-C68FC64C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491C7-9092-4ACC-A813-960B862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 par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90B71-8C2A-43AD-B54F-E0A2E76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Fracción en que al menos una de las dos rutas precalculadas sigue libre.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0E22B-350E-405E-8510-9013002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332D2-0443-4DBA-869E-4B5DF8E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ΔR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17FAC-FA36-4EC6-8A9B-3F9C4D3D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100 × (R_C − R_A), en puntos porcentuales. McNemar exacta sobre escenarios pareados.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38D-D43D-471B-9ABF-7CA3B2FF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7AAAC-CBC3-40D3-B988-152EBC5C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Costos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D8DE-B2BD-4368-A033-3E805B5C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3392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Kilómetros, exceso sobre la ruta mínima, replanificaciones y tiempo de cálculo.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C8A16-A0BE-471F-9486-6FABA57C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6AE51-9767-4B7F-BCE9-ED6B712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Lmax = (1 + β) × L*; L* = 13,1637 km para la misión por defecto.</a:t>
            </a:r>
          </a:p>
        </p:txBody>
      </p:sp>
    </p:spTree>
    <p:extLst>
      <p:ext uri="{BB962C8B-B14F-4D97-AF65-F5344CB8AC3E}">
        <p14:creationId xmlns:p14="http://schemas.microsoft.com/office/powerpoint/2010/main" val="4984340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1BF46-D25E-474B-9AC0-C590D02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253C-1CEF-451A-B823-E366429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MÉTODO EXPERIMENTAL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83AB6-60D9-49BF-B065-017C853A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Diseño de evaluación pareada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A1E33-7B9D-486F-9054-D35E3C9E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A723B-1819-4E61-85EE-AEE5C02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2002A-F628-4785-B37B-F03B26B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EAA0A-A570-4F5F-97FB-18C252F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Controles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2186F-719C-4C09-ACC1-3AFCC5A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066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A: par Dijkstra fijo. B: dos Yen más cortos. D: Dijkstra con replanificación. C: propuesta. C0/C1: ablaciones de entorno y presupuesto.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0E86D-CB71-4010-8CCF-55E4BD79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9B5D-80A5-465D-BF55-766A71EA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Comparabilidad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30CC4-6D1E-4F4C-9BBA-D0152DA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Mismo grafo, misión, restricciones, escenarios y límite de recorrido para todos los métodos. Cada celda de ajuste contiene 100 escenarios.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C28C-9DB5-46D1-BAA4-F421EA7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A9308-A319-4B62-8AEF-07B83EC7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Separación de conjuntos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DF2FB-59EB-4F2D-8206-04D578B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387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Ajuste: semillas 0–99. Evaluación reservada: 10.000–10.299, después de congelar parámetros. Esa evaluación aún está pendiente.</a:t>
            </a:r>
          </a:p>
        </p:txBody>
      </p:sp>
    </p:spTree>
    <p:extLst>
      <p:ext uri="{BB962C8B-B14F-4D97-AF65-F5344CB8AC3E}">
        <p14:creationId xmlns:p14="http://schemas.microsoft.com/office/powerpoint/2010/main" val="12099344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FF09D-5A2B-485E-B047-1E5D9EF3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BAA70-CF23-492D-8B1C-500999C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NO SON RESULTADOS FINALES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3EB63-EB85-4866-9B9E-00A6E635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Resultados preliminares del conjunto de ajuste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B373E-54C6-4FF5-9AB5-76318C2F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11065-E6FC-48BD-A2A7-814A78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37A18-FEB5-4560-A160-31C4766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E40A0-C19D-41AB-85B1-6518F2E9047F}"/>
              </a:ext>
            </a:extLst>
          </p:cNvPr>
          <p:cNvGraphicFramePr/>
          <p:nvPr/>
        </p:nvGraphicFramePr>
        <p:xfrm>
          <a:off xmlns:a="http://schemas.openxmlformats.org/drawingml/2006/main" x="647700" y="1743075"/>
          <a:ext xmlns:a="http://schemas.openxmlformats.org/drawingml/2006/main" cx="10887075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809750"/>
                <a:gridCol w="1809750"/>
                <a:gridCol w="2095500"/>
                <a:gridCol w="2505075"/>
              </a:tblGrid>
              <a:tr h="590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Fallas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A fijo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B Yen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 repl.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 prop.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82 %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96 %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73 %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96 %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75 %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72 %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94 %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90 %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70 %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84 %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5C55D-6376-45FC-A180-B3A7D5A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Con 5 fallas y β=0,60, C supera a A en 10 puntos (p=0,01294), pero solo en 1 punto a D (p=1). Con β=0,10, C queda 7 puntos bajo D.</a:t>
            </a:r>
          </a:p>
        </p:txBody>
      </p:sp>
    </p:spTree>
    <p:extLst>
      <p:ext uri="{BB962C8B-B14F-4D97-AF65-F5344CB8AC3E}">
        <p14:creationId xmlns:p14="http://schemas.microsoft.com/office/powerpoint/2010/main" val="18239975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1DB1C-B21A-4013-957D-9CFA2C6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796E5-72BB-487B-B200-D715EFB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LECTURA CRÍTICA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E4770-4188-4A2C-A847-6B148DE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Qué indican los resultados y qué falta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6D71C-CE82-41EC-8CE7-C2D7050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81656-4189-46DC-891B-F383F73A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DB2B5-398F-450A-9EA1-9FDEE40B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7BCED-AA3F-451E-B744-7BA0182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Hallazgo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A134C-11B6-4102-82BD-9763BFE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972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La replanificación explica gran parte de la mejora frente al par Dijkstra fijo.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26130-CD76-4BB4-A6F0-EE35FC67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01FF8-6C8A-4FA9-9730-3039A07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Sin atribución causal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29405-DD7F-4AAD-B914-E5FF71E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 casi empata con D cuando β=0,60 y pierde con presupuestos estrictos.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12D5-1DBA-4CD9-9ADA-3ADED08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9A894-7516-4996-AE76-C031B07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D713A-68C8-4F36-A41C-B4FFD803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En una celda de ajuste C tarda ~34 ms por misión; A y D, menos de 2 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E9386-B851-496A-9652-9042BF23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921D7-F5D1-412E-89F5-FBDB9E1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Pendiente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E2ED7-0684-4A7B-8A18-039B33A9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012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Regenerar el ejemplo DB, verificar interfaz y ejecutar evaluación reservada.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0C44F-3381-489D-88E1-050E45CF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81801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85452-F2F8-4F26-B7EF-D655C8B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F491-879C-446C-BE8B-068FB1F7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55689-7323-4A93-83EF-80672A67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Plataforma de consulta y visualización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759CC-76E0-4E5F-8DBB-2AE6B32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4338-8F9A-45A2-B31C-77617CF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E37A5-240F-4B6E-B129-A6667217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55944-FE33-4878-B110-1618BEE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191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La interfaz Leaflet permite escoger origen, destino y preferencias. Muestra capas, rutas y métricas diferenciales para un tramo. La misión completa se evalúa en el simulador.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D3E4B-6B0B-458A-AACD-42C1F286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Comprobaciones para la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872D6-E23E-4CB6-800F-86942956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428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1  Dos rutas visibles por método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  Parámetros y restricciones activos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3  Resiliencia del par rotulada correctamente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4  Respuesta con el mismo escenario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D6A59-11D9-4850-8547-6C3F1993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57350"/>
            <a:ext cx="623887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9D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9002C-4B64-4BB3-B97D-6EF79114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589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FF2A0-2419-4940-9E48-D590C7B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05025"/>
            <a:ext cx="589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Captura de la interfaz con rutas y leyenda</a:t>
            </a:r>
          </a:p>
        </p:txBody>
      </p:sp>
    </p:spTree>
    <p:extLst>
      <p:ext uri="{BB962C8B-B14F-4D97-AF65-F5344CB8AC3E}">
        <p14:creationId xmlns:p14="http://schemas.microsoft.com/office/powerpoint/2010/main" val="4447994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3B6EE-6F5E-4540-9D60-63FA5B3F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C0849-447C-411E-A220-F239126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60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BE5E1-317E-494B-9BA0-E46A00E9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Cobertura de la rúbrica y entrega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A1E81-03E5-4E75-ADF0-9303663D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D05A5-503B-46A2-BBB1-D6B9E9D3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0EFA6-B8C7-45BE-8282-78D0E64D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1878A-4E4B-4DCB-9783-C8E59FF11520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925175" cy="3314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1428750"/>
                <a:gridCol w="5495925"/>
              </a:tblGrid>
              <a:tr h="5524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Bloque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Puntos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Evidencia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T w="9525">
                      <a:solidFill>
                        <a:srgbClr val="B7C9D0"/>
                      </a:solidFill>
                      <a:prstDash val="solid"/>
                    </a:lnT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Docker + BD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Compose, SQL, diagrama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Metadata + amenazas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6 extractores JSON y cargadores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Fallas + restricciones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Escenarios, pesos, preferencias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Algoritmo + rutas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Paper, pseudocódigo, Dijkstra, Yen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Resiliencia + plataforma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9D0"/>
                      </a:solidFill>
                      <a:prstDash val="solid"/>
                    </a:lnL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Métricas, mapa, comparación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9D0"/>
                      </a:solidFill>
                      <a:prstDash val="solid"/>
                    </a:lnR>
                    <a:lnB w="9525">
                      <a:solidFill>
                        <a:srgbClr val="B7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BE28E-FBA1-44E3-8071-5183AC16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Antes de entregar: completar capturas, repetir el ejemplo DB, ejecutar evaluación reservada y publicar la versión evaluada en GitLab UDP. Presentación en Canvas.</a:t>
            </a:r>
          </a:p>
        </p:txBody>
      </p:sp>
    </p:spTree>
    <p:extLst>
      <p:ext uri="{BB962C8B-B14F-4D97-AF65-F5344CB8AC3E}">
        <p14:creationId xmlns:p14="http://schemas.microsoft.com/office/powerpoint/2010/main" val="1228368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2418F-BD06-46E4-96BD-F9D9929A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4811-6FDB-4903-8094-9CEADCBA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24F1F-AFE3-4219-95AB-082458F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Conclusión y fuentes esenciales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96C40-F968-4E79-9667-E7C03882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9559B-BC58-4916-9D3D-C881E9D0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Ruteo físico resiliente de UAV · inspección territorial civil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3CC22-93C2-4CFF-AB32-01973152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defPPr>
            <a:lvl1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1pPr>
            <a:lvl2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2pPr>
            <a:lvl3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3pPr>
            <a:lvl4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4pPr>
            <a:lvl5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5pPr>
            <a:lvl6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6pPr>
            <a:lvl7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7pPr>
            <a:lvl8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8pPr>
            <a:lvl9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B7D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9D754-8F90-45AA-A592-5BACD68F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76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El prototipo ya integra un grafo físico, fuentes geoespaciales, rutas alternativas y fallas simuladas. Los resultados de ajuste muestran una mejora frente al par fijo, pero no demuestran superioridad consistente sobre Dijkstra con replanificación.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F4F60-BE15-4449-8C91-782F992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242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FAD2F-53C8-41B4-BFB0-02B4BC61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Fuentes para citar en la versión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78AD9-6B3A-4467-96BE-EBD4BDAC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810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UNOSAT (2022), producto 3404 · PNUD (2025–2026), recuperación de Mykolaiv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Yen (1971), k rutas simples · Luna et al. (2024), replanificación en vuelo</a:t>
            </a:r>
          </a:p>
          <a:p xmlns:a="http://schemas.openxmlformats.org/drawingml/2006/main">
            <a:pPr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OSM/Overpass · Open-Meteo · GPSJam · NASA FIRMS · UCDP GED · pgRouting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6F2B8-78BC-4DA4-933B-41FE62AE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Siguiente cierre experimental: evaluación reservada con parámetros congelados.</a:t>
            </a:r>
          </a:p>
        </p:txBody>
      </p:sp>
    </p:spTree>
    <p:extLst>
      <p:ext uri="{BB962C8B-B14F-4D97-AF65-F5344CB8AC3E}">
        <p14:creationId xmlns:p14="http://schemas.microsoft.com/office/powerpoint/2010/main" val="218552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2026-10-19T20:31:31.7910000Z</dcterms:created>
  <dcterms:modified xsi:type="dcterms:W3CDTF">2026-10-19T20:31:31.7910000Z</dcterms:modified>
</coreProperties>
</file>