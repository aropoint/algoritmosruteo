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139a813cdc441d" /><Relationship Type="http://schemas.openxmlformats.org/officeDocument/2006/relationships/extended-properties" Target="/docProps/app.xml" Id="R9f1e6ac9a1cf4ddd" /><Relationship Type="http://schemas.openxmlformats.org/officeDocument/2006/relationships/officeDocument" Target="/ppt/presentation.xml" Id="R10ffe35a1e9e42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98394290ba4eea"/>
  </p:sldMasterIdLst>
  <p:notesMasterIdLst>
    <p:notesMasterId xmlns:r="http://schemas.openxmlformats.org/officeDocument/2006/relationships" r:id="R3978262b86ef412e"/>
  </p:notesMasterIdLst>
  <p:sldIdLst>
    <p:sldId xmlns:r="http://schemas.openxmlformats.org/officeDocument/2006/relationships" id="256" r:id="R7f40b7616b4a418a"/>
    <p:sldId xmlns:r="http://schemas.openxmlformats.org/officeDocument/2006/relationships" id="257" r:id="Rfcbbf460c0674c50"/>
    <p:sldId xmlns:r="http://schemas.openxmlformats.org/officeDocument/2006/relationships" id="258" r:id="R675f5c5c5a144259"/>
    <p:sldId xmlns:r="http://schemas.openxmlformats.org/officeDocument/2006/relationships" id="259" r:id="R2bfbb2c46c1a4062"/>
    <p:sldId xmlns:r="http://schemas.openxmlformats.org/officeDocument/2006/relationships" id="260" r:id="Ra7bcc6f6072d4442"/>
    <p:sldId xmlns:r="http://schemas.openxmlformats.org/officeDocument/2006/relationships" id="261" r:id="R3fb3a2cd81804913"/>
    <p:sldId xmlns:r="http://schemas.openxmlformats.org/officeDocument/2006/relationships" id="262" r:id="R0315328093854445"/>
    <p:sldId xmlns:r="http://schemas.openxmlformats.org/officeDocument/2006/relationships" id="263" r:id="R5dd2171371b04d56"/>
    <p:sldId xmlns:r="http://schemas.openxmlformats.org/officeDocument/2006/relationships" id="264" r:id="Rcfc426d795544b60"/>
    <p:sldId xmlns:r="http://schemas.openxmlformats.org/officeDocument/2006/relationships" id="265" r:id="R605a3a2a30324e29"/>
    <p:sldId xmlns:r="http://schemas.openxmlformats.org/officeDocument/2006/relationships" id="266" r:id="R1ebfa60ea65d408f"/>
    <p:sldId xmlns:r="http://schemas.openxmlformats.org/officeDocument/2006/relationships" id="267" r:id="R81fffcb2e20b452b"/>
    <p:sldId xmlns:r="http://schemas.openxmlformats.org/officeDocument/2006/relationships" id="268" r:id="R43a27890745c45e7"/>
    <p:sldId xmlns:r="http://schemas.openxmlformats.org/officeDocument/2006/relationships" id="269" r:id="Rd0ac0bf2255f44b1"/>
    <p:sldId xmlns:r="http://schemas.openxmlformats.org/officeDocument/2006/relationships" id="270" r:id="R048a5308cb0e4746"/>
    <p:sldId xmlns:r="http://schemas.openxmlformats.org/officeDocument/2006/relationships" id="271" r:id="R0f5fb5865d064e46"/>
    <p:sldId xmlns:r="http://schemas.openxmlformats.org/officeDocument/2006/relationships" id="272" r:id="R0f22cbd6e7b24743"/>
    <p:sldId xmlns:r="http://schemas.openxmlformats.org/officeDocument/2006/relationships" id="273" r:id="R2a67beaa91f94438"/>
    <p:sldId xmlns:r="http://schemas.openxmlformats.org/officeDocument/2006/relationships" id="274" r:id="Rbd6469ea3d244529"/>
    <p:sldId xmlns:r="http://schemas.openxmlformats.org/officeDocument/2006/relationships" id="275" r:id="R8ddca9b3d5084b35"/>
    <p:sldId xmlns:r="http://schemas.openxmlformats.org/officeDocument/2006/relationships" id="276" r:id="Rfb36ba6d6e5041f4"/>
    <p:sldId xmlns:r="http://schemas.openxmlformats.org/officeDocument/2006/relationships" id="277" r:id="R4ba01db664c04f71"/>
    <p:sldId xmlns:r="http://schemas.openxmlformats.org/officeDocument/2006/relationships" id="278" r:id="Rb1c33c8dce4843f6"/>
    <p:sldId xmlns:r="http://schemas.openxmlformats.org/officeDocument/2006/relationships" id="279" r:id="R7097d7e55d984f49"/>
    <p:sldId xmlns:r="http://schemas.openxmlformats.org/officeDocument/2006/relationships" id="280" r:id="R059d3f693c2a4f34"/>
    <p:sldId xmlns:r="http://schemas.openxmlformats.org/officeDocument/2006/relationships" id="281" r:id="Rb84f1ba1442e44a3"/>
    <p:sldId xmlns:r="http://schemas.openxmlformats.org/officeDocument/2006/relationships" id="282" r:id="R044cd2b3c1364b0b"/>
    <p:sldId xmlns:r="http://schemas.openxmlformats.org/officeDocument/2006/relationships" id="283" r:id="R2cbedfb98517468c"/>
    <p:sldId xmlns:r="http://schemas.openxmlformats.org/officeDocument/2006/relationships" id="284" r:id="R0142a139dfa84e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250d3febe249b2" /><Relationship Type="http://schemas.openxmlformats.org/officeDocument/2006/relationships/slideMaster" Target="/ppt/slideMasters/slideMaster1.xml" Id="R9198394290ba4eea" /><Relationship Type="http://schemas.openxmlformats.org/officeDocument/2006/relationships/notesMaster" Target="/ppt/notesMasters/notesMaster1.xml" Id="R3978262b86ef412e" /><Relationship Type="http://schemas.openxmlformats.org/officeDocument/2006/relationships/presProps" Target="/ppt/presProps.xml" Id="Racc73cfaa92b43c8" /><Relationship Type="http://schemas.openxmlformats.org/officeDocument/2006/relationships/tableStyles" Target="/ppt/tableStyles.xml" Id="R310aaf851a7342b6" /><Relationship Type="http://schemas.openxmlformats.org/officeDocument/2006/relationships/slide" Target="/ppt/slides/slide1.xml" Id="R7f40b7616b4a418a" /><Relationship Type="http://schemas.openxmlformats.org/officeDocument/2006/relationships/slide" Target="/ppt/slides/slide2.xml" Id="Rfcbbf460c0674c50" /><Relationship Type="http://schemas.openxmlformats.org/officeDocument/2006/relationships/slide" Target="/ppt/slides/slide3.xml" Id="R675f5c5c5a144259" /><Relationship Type="http://schemas.openxmlformats.org/officeDocument/2006/relationships/slide" Target="/ppt/slides/slide4.xml" Id="R2bfbb2c46c1a4062" /><Relationship Type="http://schemas.openxmlformats.org/officeDocument/2006/relationships/slide" Target="/ppt/slides/slide5.xml" Id="Ra7bcc6f6072d4442" /><Relationship Type="http://schemas.openxmlformats.org/officeDocument/2006/relationships/slide" Target="/ppt/slides/slide6.xml" Id="R3fb3a2cd81804913" /><Relationship Type="http://schemas.openxmlformats.org/officeDocument/2006/relationships/slide" Target="/ppt/slides/slide7.xml" Id="R0315328093854445" /><Relationship Type="http://schemas.openxmlformats.org/officeDocument/2006/relationships/slide" Target="/ppt/slides/slide8.xml" Id="R5dd2171371b04d56" /><Relationship Type="http://schemas.openxmlformats.org/officeDocument/2006/relationships/slide" Target="/ppt/slides/slide9.xml" Id="Rcfc426d795544b60" /><Relationship Type="http://schemas.openxmlformats.org/officeDocument/2006/relationships/slide" Target="/ppt/slides/slide10.xml" Id="R605a3a2a30324e29" /><Relationship Type="http://schemas.openxmlformats.org/officeDocument/2006/relationships/slide" Target="/ppt/slides/slide11.xml" Id="R1ebfa60ea65d408f" /><Relationship Type="http://schemas.openxmlformats.org/officeDocument/2006/relationships/slide" Target="/ppt/slides/slide12.xml" Id="R81fffcb2e20b452b" /><Relationship Type="http://schemas.openxmlformats.org/officeDocument/2006/relationships/slide" Target="/ppt/slides/slide13.xml" Id="R43a27890745c45e7" /><Relationship Type="http://schemas.openxmlformats.org/officeDocument/2006/relationships/slide" Target="/ppt/slides/slide14.xml" Id="Rd0ac0bf2255f44b1" /><Relationship Type="http://schemas.openxmlformats.org/officeDocument/2006/relationships/slide" Target="/ppt/slides/slide15.xml" Id="R048a5308cb0e4746" /><Relationship Type="http://schemas.openxmlformats.org/officeDocument/2006/relationships/slide" Target="/ppt/slides/slide16.xml" Id="R0f5fb5865d064e46" /><Relationship Type="http://schemas.openxmlformats.org/officeDocument/2006/relationships/slide" Target="/ppt/slides/slide17.xml" Id="R0f22cbd6e7b24743" /><Relationship Type="http://schemas.openxmlformats.org/officeDocument/2006/relationships/slide" Target="/ppt/slides/slide18.xml" Id="R2a67beaa91f94438" /><Relationship Type="http://schemas.openxmlformats.org/officeDocument/2006/relationships/slide" Target="/ppt/slides/slide19.xml" Id="Rbd6469ea3d244529" /><Relationship Type="http://schemas.openxmlformats.org/officeDocument/2006/relationships/slide" Target="/ppt/slides/slide20.xml" Id="R8ddca9b3d5084b35" /><Relationship Type="http://schemas.openxmlformats.org/officeDocument/2006/relationships/slide" Target="/ppt/slides/slide21.xml" Id="Rfb36ba6d6e5041f4" /><Relationship Type="http://schemas.openxmlformats.org/officeDocument/2006/relationships/slide" Target="/ppt/slides/slide22.xml" Id="R4ba01db664c04f71" /><Relationship Type="http://schemas.openxmlformats.org/officeDocument/2006/relationships/slide" Target="/ppt/slides/slide23.xml" Id="Rb1c33c8dce4843f6" /><Relationship Type="http://schemas.openxmlformats.org/officeDocument/2006/relationships/slide" Target="/ppt/slides/slide24.xml" Id="R7097d7e55d984f49" /><Relationship Type="http://schemas.openxmlformats.org/officeDocument/2006/relationships/slide" Target="/ppt/slides/slide25.xml" Id="R059d3f693c2a4f34" /><Relationship Type="http://schemas.openxmlformats.org/officeDocument/2006/relationships/slide" Target="/ppt/slides/slide26.xml" Id="Rb84f1ba1442e44a3" /><Relationship Type="http://schemas.openxmlformats.org/officeDocument/2006/relationships/slide" Target="/ppt/slides/slide27.xml" Id="R044cd2b3c1364b0b" /><Relationship Type="http://schemas.openxmlformats.org/officeDocument/2006/relationships/slide" Target="/ppt/slides/slide28.xml" Id="R2cbedfb98517468c" /><Relationship Type="http://schemas.openxmlformats.org/officeDocument/2006/relationships/slide" Target="/ppt/slides/slide29.xml" Id="R0142a139dfa84e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14e7d0421643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5082deb454066" /><Relationship Type="http://schemas.openxmlformats.org/officeDocument/2006/relationships/notesMaster" Target="/ppt/notesMasters/notesMaster1.xml" Id="Ra33f8f2850c344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5591000c444aff" /><Relationship Type="http://schemas.openxmlformats.org/officeDocument/2006/relationships/notesMaster" Target="/ppt/notesMasters/notesMaster1.xml" Id="Rb494dd0896db45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a5a6ffc5842eb" /><Relationship Type="http://schemas.openxmlformats.org/officeDocument/2006/relationships/notesMaster" Target="/ppt/notesMasters/notesMaster1.xml" Id="Rb674728ee3d44b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81bf35c2a54f12" /><Relationship Type="http://schemas.openxmlformats.org/officeDocument/2006/relationships/notesMaster" Target="/ppt/notesMasters/notesMaster1.xml" Id="Ra26741edb5a64d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5ed119cebd4b59" /><Relationship Type="http://schemas.openxmlformats.org/officeDocument/2006/relationships/notesMaster" Target="/ppt/notesMasters/notesMaster1.xml" Id="R83fd93e6a41240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0aa259a9684057" /><Relationship Type="http://schemas.openxmlformats.org/officeDocument/2006/relationships/notesMaster" Target="/ppt/notesMasters/notesMaster1.xml" Id="Rbb557bcc799141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df13840f9c42af" /><Relationship Type="http://schemas.openxmlformats.org/officeDocument/2006/relationships/notesMaster" Target="/ppt/notesMasters/notesMaster1.xml" Id="R20b812f12a414b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1eec71b2604830" /><Relationship Type="http://schemas.openxmlformats.org/officeDocument/2006/relationships/notesMaster" Target="/ppt/notesMasters/notesMaster1.xml" Id="R9c2537b4d6ab42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ceed23dd8d414a" /><Relationship Type="http://schemas.openxmlformats.org/officeDocument/2006/relationships/notesMaster" Target="/ppt/notesMasters/notesMaster1.xml" Id="R0635def4318742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a96eb1f44a4990" /><Relationship Type="http://schemas.openxmlformats.org/officeDocument/2006/relationships/notesMaster" Target="/ppt/notesMasters/notesMaster1.xml" Id="Re1a1552d8ab94b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dfd7c99ecc4e41" /><Relationship Type="http://schemas.openxmlformats.org/officeDocument/2006/relationships/notesMaster" Target="/ppt/notesMasters/notesMaster1.xml" Id="R15f951e469b449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4bf17011d74693" /><Relationship Type="http://schemas.openxmlformats.org/officeDocument/2006/relationships/notesMaster" Target="/ppt/notesMasters/notesMaster1.xml" Id="Rb0f391c57cd74c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926c9fb5d54a52" /><Relationship Type="http://schemas.openxmlformats.org/officeDocument/2006/relationships/notesMaster" Target="/ppt/notesMasters/notesMaster1.xml" Id="Re2dea2d987a049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0af73898444445" /><Relationship Type="http://schemas.openxmlformats.org/officeDocument/2006/relationships/notesMaster" Target="/ppt/notesMasters/notesMaster1.xml" Id="Rfd0c3a7ebac744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51ee8388444b5f" /><Relationship Type="http://schemas.openxmlformats.org/officeDocument/2006/relationships/notesMaster" Target="/ppt/notesMasters/notesMaster1.xml" Id="R1cc21830422743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b083792e314bc5" /><Relationship Type="http://schemas.openxmlformats.org/officeDocument/2006/relationships/notesMaster" Target="/ppt/notesMasters/notesMaster1.xml" Id="Reb638528690241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93f1c1bd404036" /><Relationship Type="http://schemas.openxmlformats.org/officeDocument/2006/relationships/notesMaster" Target="/ppt/notesMasters/notesMaster1.xml" Id="R926f4208ea314f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5bfdb0ff8b414c" /><Relationship Type="http://schemas.openxmlformats.org/officeDocument/2006/relationships/notesMaster" Target="/ppt/notesMasters/notesMaster1.xml" Id="Rce0db6be2dda40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ce0b10ee0a4d3d" /><Relationship Type="http://schemas.openxmlformats.org/officeDocument/2006/relationships/notesMaster" Target="/ppt/notesMasters/notesMaster1.xml" Id="R9a9d1bbe6aa041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c56e50e61842bc" /><Relationship Type="http://schemas.openxmlformats.org/officeDocument/2006/relationships/notesMaster" Target="/ppt/notesMasters/notesMaster1.xml" Id="R10dcc676f82f4a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e2367a9499f4a5c" /><Relationship Type="http://schemas.openxmlformats.org/officeDocument/2006/relationships/notesMaster" Target="/ppt/notesMasters/notesMaster1.xml" Id="R1646e478b01c41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b340d1a4fe34a5d" /><Relationship Type="http://schemas.openxmlformats.org/officeDocument/2006/relationships/notesMaster" Target="/ppt/notesMasters/notesMaster1.xml" Id="Recc5cd50f49549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7fa71d3b2c44330" /><Relationship Type="http://schemas.openxmlformats.org/officeDocument/2006/relationships/notesMaster" Target="/ppt/notesMasters/notesMaster1.xml" Id="R906f03ad37084e3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80cbc26cac54995" /><Relationship Type="http://schemas.openxmlformats.org/officeDocument/2006/relationships/notesMaster" Target="/ppt/notesMasters/notesMaster1.xml" Id="R8e689e78f4eb4f6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356c07401847ba" /><Relationship Type="http://schemas.openxmlformats.org/officeDocument/2006/relationships/notesMaster" Target="/ppt/notesMasters/notesMaster1.xml" Id="Rcc9f4fe901bf44d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1e4ce232e134816" /><Relationship Type="http://schemas.openxmlformats.org/officeDocument/2006/relationships/notesMaster" Target="/ppt/notesMasters/notesMaster1.xml" Id="R63fc57ac4b1a4a9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4d307603711424d" /><Relationship Type="http://schemas.openxmlformats.org/officeDocument/2006/relationships/notesMaster" Target="/ppt/notesMasters/notesMaster1.xml" Id="Re6f73ee16135475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8aaa7d229f74ec9" /><Relationship Type="http://schemas.openxmlformats.org/officeDocument/2006/relationships/notesMaster" Target="/ppt/notesMasters/notesMaster1.xml" Id="Re005a506a81a45f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98675b215a94520" /><Relationship Type="http://schemas.openxmlformats.org/officeDocument/2006/relationships/notesMaster" Target="/ppt/notesMasters/notesMaster1.xml" Id="R72ec036d92da46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UNOSAT, producto 3404: https://unosat.org/products/3404. Policía Nacional de Ucrania, reportes de ataques en Mykolaiv: https://npu.gov.ua/news/u-mykolaievi-politseiski-dokumentuiut-naslidky-cherhovoi-ataky-vorozhymy-bpla y https://npu.gov.ua/news/postrazhdaly-troie-hromadian-zaznaly-poshkodzhen-tsyvilni-obiekty-u-mykolaievi-politseiski-dokumentuiut-naslidky-cherhovykh-voiennykh-zlochyniv-rf. PNUD: https://www.undp.org/ukraine/projects/mykolaiv-strategic-partnership. Los antecedentes no prueban la misión simulada.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OpenStreetMap/Overpass, Open-Meteo Elevation (Copernicus GLO-90), Open-Meteo Historical Weather. Cifras de primera corrida documentada en 05_T2/README.md.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GPSJam, The Economist war-fire model sobre NASA FIRMS, UCDP GED vía HDX. Cifras de primera corrida documentada en 05_T2/README.md. Son indicadores contextuales, no cierres observados de rutas UAV.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de ajuste sintético en 05_T2/resultados/. Comparación pareada: mismo grafo, misión, restricciones y fallas. Los resultados del ejemplo PostGIS/sitio requieren regeneración tras la corrección de focos.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11cb550d347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2ede337a24c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a3b15a18347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99e5dc76841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c64b53c2146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03d8ab38042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D2C0B9-30E2-44B4-B5BF-F64A4B56A1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F5A701-1F4D-466C-BC10-BF61FE85CC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F0912F-593D-444B-B579-2331C6EE7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9A49C8-C9BE-43B5-8941-65D5C98A4C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184017-D59A-4372-8910-D8A51334DD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76E8A9-66A4-43A5-8910-65036DAC2F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C53397-0A98-4BF8-977F-10CE0A4ED9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58D16D-379E-4391-9408-4A67CB337E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4813C6-38CF-4B76-A145-896AFA36FC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898B17-ADFD-4897-B3E7-582D3C0C6C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b847330dd647af" /><Relationship Type="http://schemas.openxmlformats.org/officeDocument/2006/relationships/slideLayout" Target="/ppt/slideLayouts/slideLayout1.xml" Id="R07cddeccdea047a7" /><Relationship Type="http://schemas.openxmlformats.org/officeDocument/2006/relationships/slideLayout" Target="/ppt/slideLayouts/slideLayout2.xml" Id="Ra12e3d5673ff4393" /><Relationship Type="http://schemas.openxmlformats.org/officeDocument/2006/relationships/slideLayout" Target="/ppt/slideLayouts/slideLayout3.xml" Id="R6327bb0dd76a4f81" /><Relationship Type="http://schemas.openxmlformats.org/officeDocument/2006/relationships/slideLayout" Target="/ppt/slideLayouts/slideLayout4.xml" Id="R8b419399da90487d" /><Relationship Type="http://schemas.openxmlformats.org/officeDocument/2006/relationships/slideLayout" Target="/ppt/slideLayouts/slideLayout5.xml" Id="R100a1b27c6244d03" /><Relationship Type="http://schemas.openxmlformats.org/officeDocument/2006/relationships/slideLayout" Target="/ppt/slideLayouts/slideLayout6.xml" Id="R2ef450c484834a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cddeccdea047a7"/>
    <p:sldLayoutId xmlns:r="http://schemas.openxmlformats.org/officeDocument/2006/relationships" id="2147483650" r:id="Ra12e3d5673ff4393"/>
    <p:sldLayoutId xmlns:r="http://schemas.openxmlformats.org/officeDocument/2006/relationships" id="2147483651" r:id="R6327bb0dd76a4f81"/>
    <p:sldLayoutId xmlns:r="http://schemas.openxmlformats.org/officeDocument/2006/relationships" id="2147483652" r:id="R8b419399da90487d"/>
    <p:sldLayoutId xmlns:r="http://schemas.openxmlformats.org/officeDocument/2006/relationships" id="2147483653" r:id="R100a1b27c6244d03"/>
    <p:sldLayoutId xmlns:r="http://schemas.openxmlformats.org/officeDocument/2006/relationships" id="2147483654" r:id="R2ef450c484834a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2788ea4284c3d" /><Relationship Type="http://schemas.openxmlformats.org/officeDocument/2006/relationships/notesSlide" Target="/ppt/notesSlides/notesSlide1.xml" Id="Raf917bb2083647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24c59037b9464f" /><Relationship Type="http://schemas.openxmlformats.org/officeDocument/2006/relationships/notesSlide" Target="/ppt/notesSlides/notesSlide2.xml" Id="R831a9338593049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cda084a58d40c3" /><Relationship Type="http://schemas.openxmlformats.org/officeDocument/2006/relationships/notesSlide" Target="/ppt/notesSlides/notesSlide3.xml" Id="R78f5eba792974c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b34973ad04e9a" /><Relationship Type="http://schemas.openxmlformats.org/officeDocument/2006/relationships/notesSlide" Target="/ppt/notesSlides/notesSlide4.xml" Id="R965653d8deb24d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6d056fffd4579" /><Relationship Type="http://schemas.openxmlformats.org/officeDocument/2006/relationships/notesSlide" Target="/ppt/notesSlides/notesSlide5.xml" Id="Rc1cdcbc492db41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bf1d10ab94180" /><Relationship Type="http://schemas.openxmlformats.org/officeDocument/2006/relationships/notesSlide" Target="/ppt/notesSlides/notesSlide6.xml" Id="R52331501cee348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535eb0b2ea4c70" /><Relationship Type="http://schemas.openxmlformats.org/officeDocument/2006/relationships/notesSlide" Target="/ppt/notesSlides/notesSlide7.xml" Id="R90d4db9b491846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81f7471734fd4" /><Relationship Type="http://schemas.openxmlformats.org/officeDocument/2006/relationships/notesSlide" Target="/ppt/notesSlides/notesSlide8.xml" Id="R6cabf70fb9d848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cda4f498e4cdf" /><Relationship Type="http://schemas.openxmlformats.org/officeDocument/2006/relationships/notesSlide" Target="/ppt/notesSlides/notesSlide9.xml" Id="Rd5186386b7b842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aa747e5df4c97" /><Relationship Type="http://schemas.openxmlformats.org/officeDocument/2006/relationships/notesSlide" Target="/ppt/notesSlides/notesSlide10.xml" Id="R422a4e3afa5a46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8754d33554927" /><Relationship Type="http://schemas.openxmlformats.org/officeDocument/2006/relationships/notesSlide" Target="/ppt/notesSlides/notesSlide11.xml" Id="R196f292252c448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c66b75f794ee8" /><Relationship Type="http://schemas.openxmlformats.org/officeDocument/2006/relationships/notesSlide" Target="/ppt/notesSlides/notesSlide12.xml" Id="R0efc9d0405f245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61e04c28d34402" /><Relationship Type="http://schemas.openxmlformats.org/officeDocument/2006/relationships/notesSlide" Target="/ppt/notesSlides/notesSlide13.xml" Id="R6bc118a764274c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b34cdc9e34174" /><Relationship Type="http://schemas.openxmlformats.org/officeDocument/2006/relationships/notesSlide" Target="/ppt/notesSlides/notesSlide14.xml" Id="Refdbe855508147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f5c986fec4a9f" /><Relationship Type="http://schemas.openxmlformats.org/officeDocument/2006/relationships/notesSlide" Target="/ppt/notesSlides/notesSlide15.xml" Id="Rb7e996e9ce6542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82da51f0074954" /><Relationship Type="http://schemas.openxmlformats.org/officeDocument/2006/relationships/notesSlide" Target="/ppt/notesSlides/notesSlide16.xml" Id="R44285282aa854c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eac80ad594b7d" /><Relationship Type="http://schemas.openxmlformats.org/officeDocument/2006/relationships/notesSlide" Target="/ppt/notesSlides/notesSlide17.xml" Id="R9fb440c8b3ee49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e6dc636564af2" /><Relationship Type="http://schemas.openxmlformats.org/officeDocument/2006/relationships/notesSlide" Target="/ppt/notesSlides/notesSlide18.xml" Id="R05fadf78c0234d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526b7c9854ea5" /><Relationship Type="http://schemas.openxmlformats.org/officeDocument/2006/relationships/notesSlide" Target="/ppt/notesSlides/notesSlide19.xml" Id="Rd9efbf9a09484ca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3ee88c380046f5" /><Relationship Type="http://schemas.openxmlformats.org/officeDocument/2006/relationships/notesSlide" Target="/ppt/notesSlides/notesSlide20.xml" Id="Rdf9463c611dc4b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a81628c3f41ac" /><Relationship Type="http://schemas.openxmlformats.org/officeDocument/2006/relationships/notesSlide" Target="/ppt/notesSlides/notesSlide21.xml" Id="R1abf49f88d00430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02774be0a4391" /><Relationship Type="http://schemas.openxmlformats.org/officeDocument/2006/relationships/notesSlide" Target="/ppt/notesSlides/notesSlide22.xml" Id="R0e11af06c3624d0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c381fdef449c6" /><Relationship Type="http://schemas.openxmlformats.org/officeDocument/2006/relationships/notesSlide" Target="/ppt/notesSlides/notesSlide23.xml" Id="R2a811484b620427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1601314d94ed8" /><Relationship Type="http://schemas.openxmlformats.org/officeDocument/2006/relationships/notesSlide" Target="/ppt/notesSlides/notesSlide24.xml" Id="Ree5b09f259ac4d9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a586e0fe94002" /><Relationship Type="http://schemas.openxmlformats.org/officeDocument/2006/relationships/notesSlide" Target="/ppt/notesSlides/notesSlide25.xml" Id="Rb9c7868c8fef4af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ac2b57a1c8455d" /><Relationship Type="http://schemas.openxmlformats.org/officeDocument/2006/relationships/notesSlide" Target="/ppt/notesSlides/notesSlide26.xml" Id="R0145bb28abca439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0c36b1f7cb47cf" /><Relationship Type="http://schemas.openxmlformats.org/officeDocument/2006/relationships/notesSlide" Target="/ppt/notesSlides/notesSlide27.xml" Id="R99279e7bd5f646e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189b457d74ff6" /><Relationship Type="http://schemas.openxmlformats.org/officeDocument/2006/relationships/notesSlide" Target="/ppt/notesSlides/notesSlide28.xml" Id="Rbf27cdd9c54b4a5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b59bc6ef744a46" /><Relationship Type="http://schemas.openxmlformats.org/officeDocument/2006/relationships/notesSlide" Target="/ppt/notesSlides/notesSlide29.xml" Id="R638658470ef34a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8AA6F-9202-41D2-ABE7-B2BCB809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C46C3-F371-4706-BEBB-567DFCB2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D80"/>
                </a:solidFill>
              </a:defRPr>
            </a:defPPr>
            <a:lvl1pPr>
              <a:defRPr sz="1200" b="1">
                <a:solidFill>
                  <a:srgbClr val="087D80"/>
                </a:solidFill>
              </a:defRPr>
            </a:lvl1pPr>
            <a:lvl2pPr>
              <a:defRPr sz="1200" b="1">
                <a:solidFill>
                  <a:srgbClr val="087D80"/>
                </a:solidFill>
              </a:defRPr>
            </a:lvl2pPr>
            <a:lvl3pPr>
              <a:defRPr sz="1200" b="1">
                <a:solidFill>
                  <a:srgbClr val="087D80"/>
                </a:solidFill>
              </a:defRPr>
            </a:lvl3pPr>
            <a:lvl4pPr>
              <a:defRPr sz="1200" b="1">
                <a:solidFill>
                  <a:srgbClr val="087D80"/>
                </a:solidFill>
              </a:defRPr>
            </a:lvl4pPr>
            <a:lvl5pPr>
              <a:defRPr sz="1200" b="1">
                <a:solidFill>
                  <a:srgbClr val="087D80"/>
                </a:solidFill>
              </a:defRPr>
            </a:lvl5pPr>
            <a:lvl6pPr>
              <a:defRPr sz="1200" b="1">
                <a:solidFill>
                  <a:srgbClr val="087D80"/>
                </a:solidFill>
              </a:defRPr>
            </a:lvl6pPr>
            <a:lvl7pPr>
              <a:defRPr sz="1200" b="1">
                <a:solidFill>
                  <a:srgbClr val="087D80"/>
                </a:solidFill>
              </a:defRPr>
            </a:lvl7pPr>
            <a:lvl8pPr>
              <a:defRPr sz="1200" b="1">
                <a:solidFill>
                  <a:srgbClr val="087D80"/>
                </a:solidFill>
              </a:defRPr>
            </a:lvl8pPr>
            <a:lvl9pPr>
              <a:defRPr sz="120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D80"/>
                </a:solidFill>
              </a:defRPr>
            </a:pPr>
            <a:r>
              <a:rPr sz="1200" b="1">
                <a:solidFill>
                  <a:srgbClr val="087D80"/>
                </a:solidFill>
              </a:rPr>
              <a:t>TAREA 2 · ALGORITMOS DE RUTEO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281AB-B17A-47EE-8A56-7DDB6041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8572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4253F"/>
                </a:solidFill>
              </a:defRPr>
            </a:defPPr>
            <a:lvl1pPr>
              <a:defRPr sz="3900" b="1">
                <a:solidFill>
                  <a:srgbClr val="14253F"/>
                </a:solidFill>
              </a:defRPr>
            </a:lvl1pPr>
            <a:lvl2pPr>
              <a:defRPr sz="3900" b="1">
                <a:solidFill>
                  <a:srgbClr val="14253F"/>
                </a:solidFill>
              </a:defRPr>
            </a:lvl2pPr>
            <a:lvl3pPr>
              <a:defRPr sz="3900" b="1">
                <a:solidFill>
                  <a:srgbClr val="14253F"/>
                </a:solidFill>
              </a:defRPr>
            </a:lvl3pPr>
            <a:lvl4pPr>
              <a:defRPr sz="3900" b="1">
                <a:solidFill>
                  <a:srgbClr val="14253F"/>
                </a:solidFill>
              </a:defRPr>
            </a:lvl4pPr>
            <a:lvl5pPr>
              <a:defRPr sz="3900" b="1">
                <a:solidFill>
                  <a:srgbClr val="14253F"/>
                </a:solidFill>
              </a:defRPr>
            </a:lvl5pPr>
            <a:lvl6pPr>
              <a:defRPr sz="3900" b="1">
                <a:solidFill>
                  <a:srgbClr val="14253F"/>
                </a:solidFill>
              </a:defRPr>
            </a:lvl6pPr>
            <a:lvl7pPr>
              <a:defRPr sz="3900" b="1">
                <a:solidFill>
                  <a:srgbClr val="14253F"/>
                </a:solidFill>
              </a:defRPr>
            </a:lvl7pPr>
            <a:lvl8pPr>
              <a:defRPr sz="3900" b="1">
                <a:solidFill>
                  <a:srgbClr val="14253F"/>
                </a:solidFill>
              </a:defRPr>
            </a:lvl8pPr>
            <a:lvl9pPr>
              <a:defRPr sz="3900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4253F"/>
                </a:solidFill>
              </a:defRPr>
            </a:pPr>
            <a:r>
              <a:rPr sz="3900" b="1">
                <a:solidFill>
                  <a:srgbClr val="14253F"/>
                </a:solidFill>
              </a:rPr>
              <a:t>Cuando un tramo</a:t>
            </a:r>
          </a:p>
          <a:p xmlns:a="http://schemas.openxmlformats.org/drawingml/2006/main">
            <a:pPr>
              <a:defRPr sz="3900" b="1">
                <a:solidFill>
                  <a:srgbClr val="14253F"/>
                </a:solidFill>
              </a:defRPr>
            </a:pPr>
            <a:r>
              <a:rPr sz="3900" b="1">
                <a:solidFill>
                  <a:srgbClr val="14253F"/>
                </a:solidFill>
              </a:rPr>
              <a:t>se bloquea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2AAF3-72F3-484E-9082-2D74950F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94652"/>
                </a:solidFill>
              </a:defRPr>
            </a:defPPr>
            <a:lvl1pPr>
              <a:defRPr sz="2175" b="0">
                <a:solidFill>
                  <a:srgbClr val="394652"/>
                </a:solidFill>
              </a:defRPr>
            </a:lvl1pPr>
            <a:lvl2pPr>
              <a:defRPr sz="2175" b="0">
                <a:solidFill>
                  <a:srgbClr val="394652"/>
                </a:solidFill>
              </a:defRPr>
            </a:lvl2pPr>
            <a:lvl3pPr>
              <a:defRPr sz="2175" b="0">
                <a:solidFill>
                  <a:srgbClr val="394652"/>
                </a:solidFill>
              </a:defRPr>
            </a:lvl3pPr>
            <a:lvl4pPr>
              <a:defRPr sz="2175" b="0">
                <a:solidFill>
                  <a:srgbClr val="394652"/>
                </a:solidFill>
              </a:defRPr>
            </a:lvl4pPr>
            <a:lvl5pPr>
              <a:defRPr sz="2175" b="0">
                <a:solidFill>
                  <a:srgbClr val="394652"/>
                </a:solidFill>
              </a:defRPr>
            </a:lvl5pPr>
            <a:lvl6pPr>
              <a:defRPr sz="2175" b="0">
                <a:solidFill>
                  <a:srgbClr val="394652"/>
                </a:solidFill>
              </a:defRPr>
            </a:lvl6pPr>
            <a:lvl7pPr>
              <a:defRPr sz="2175" b="0">
                <a:solidFill>
                  <a:srgbClr val="394652"/>
                </a:solidFill>
              </a:defRPr>
            </a:lvl7pPr>
            <a:lvl8pPr>
              <a:defRPr sz="2175" b="0">
                <a:solidFill>
                  <a:srgbClr val="394652"/>
                </a:solidFill>
              </a:defRPr>
            </a:lvl8pPr>
            <a:lvl9pPr>
              <a:defRPr sz="2175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94652"/>
                </a:solidFill>
              </a:defRPr>
            </a:pPr>
            <a:r>
              <a:rPr sz="2175" b="0">
                <a:solidFill>
                  <a:srgbClr val="394652"/>
                </a:solidFill>
              </a:rPr>
              <a:t>Ruteo físico resiliente de UAV para inspección territorial simulada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318E0-D41A-4B70-B1E6-7B4F7BB5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07B"/>
                </a:solidFill>
              </a:defRPr>
            </a:defPPr>
            <a:lvl1pPr>
              <a:defRPr sz="1500" b="0">
                <a:solidFill>
                  <a:srgbClr val="60707B"/>
                </a:solidFill>
              </a:defRPr>
            </a:lvl1pPr>
            <a:lvl2pPr>
              <a:defRPr sz="1500" b="0">
                <a:solidFill>
                  <a:srgbClr val="60707B"/>
                </a:solidFill>
              </a:defRPr>
            </a:lvl2pPr>
            <a:lvl3pPr>
              <a:defRPr sz="1500" b="0">
                <a:solidFill>
                  <a:srgbClr val="60707B"/>
                </a:solidFill>
              </a:defRPr>
            </a:lvl3pPr>
            <a:lvl4pPr>
              <a:defRPr sz="1500" b="0">
                <a:solidFill>
                  <a:srgbClr val="60707B"/>
                </a:solidFill>
              </a:defRPr>
            </a:lvl4pPr>
            <a:lvl5pPr>
              <a:defRPr sz="1500" b="0">
                <a:solidFill>
                  <a:srgbClr val="60707B"/>
                </a:solidFill>
              </a:defRPr>
            </a:lvl5pPr>
            <a:lvl6pPr>
              <a:defRPr sz="1500" b="0">
                <a:solidFill>
                  <a:srgbClr val="60707B"/>
                </a:solidFill>
              </a:defRPr>
            </a:lvl6pPr>
            <a:lvl7pPr>
              <a:defRPr sz="1500" b="0">
                <a:solidFill>
                  <a:srgbClr val="60707B"/>
                </a:solidFill>
              </a:defRPr>
            </a:lvl7pPr>
            <a:lvl8pPr>
              <a:defRPr sz="1500" b="0">
                <a:solidFill>
                  <a:srgbClr val="60707B"/>
                </a:solidFill>
              </a:defRPr>
            </a:lvl8pPr>
            <a:lvl9pPr>
              <a:defRPr sz="1500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07B"/>
                </a:solidFill>
              </a:defRPr>
            </a:pPr>
            <a:r>
              <a:rPr sz="1500" b="0">
                <a:solidFill>
                  <a:srgbClr val="60707B"/>
                </a:solidFill>
              </a:rPr>
              <a:t>Mykolaiv como referencia cartográfica e histórica · fallas simuladas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35AF4-44B8-4A6E-9E01-07BAEA11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94652"/>
                </a:solidFill>
              </a:defRPr>
            </a:defPPr>
            <a:lvl1pPr>
              <a:defRPr sz="1200" b="0">
                <a:solidFill>
                  <a:srgbClr val="394652"/>
                </a:solidFill>
              </a:defRPr>
            </a:lvl1pPr>
            <a:lvl2pPr>
              <a:defRPr sz="1200" b="0">
                <a:solidFill>
                  <a:srgbClr val="394652"/>
                </a:solidFill>
              </a:defRPr>
            </a:lvl2pPr>
            <a:lvl3pPr>
              <a:defRPr sz="1200" b="0">
                <a:solidFill>
                  <a:srgbClr val="394652"/>
                </a:solidFill>
              </a:defRPr>
            </a:lvl3pPr>
            <a:lvl4pPr>
              <a:defRPr sz="1200" b="0">
                <a:solidFill>
                  <a:srgbClr val="394652"/>
                </a:solidFill>
              </a:defRPr>
            </a:lvl4pPr>
            <a:lvl5pPr>
              <a:defRPr sz="1200" b="0">
                <a:solidFill>
                  <a:srgbClr val="394652"/>
                </a:solidFill>
              </a:defRPr>
            </a:lvl5pPr>
            <a:lvl6pPr>
              <a:defRPr sz="1200" b="0">
                <a:solidFill>
                  <a:srgbClr val="394652"/>
                </a:solidFill>
              </a:defRPr>
            </a:lvl6pPr>
            <a:lvl7pPr>
              <a:defRPr sz="1200" b="0">
                <a:solidFill>
                  <a:srgbClr val="394652"/>
                </a:solidFill>
              </a:defRPr>
            </a:lvl7pPr>
            <a:lvl8pPr>
              <a:defRPr sz="1200" b="0">
                <a:solidFill>
                  <a:srgbClr val="394652"/>
                </a:solidFill>
              </a:defRPr>
            </a:lvl8pPr>
            <a:lvl9pPr>
              <a:defRPr sz="120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94652"/>
                </a:solidFill>
              </a:defRPr>
            </a:pPr>
            <a:r>
              <a:rPr sz="1200" b="0">
                <a:solidFill>
                  <a:srgbClr val="394652"/>
                </a:solidFill>
              </a:rPr>
              <a:t>Diego Pérez Carrasco · Alex Marambio Leyton · Aaron Pozas Oyarce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292FF-F418-44CE-94A8-2D862A11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13F72-1E5E-4295-9DAA-17129E17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Universidad Diego Portales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98BDD-86A3-4FB1-9071-43864771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2108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36CD0-9DBB-418A-B9B1-E9DC7DDF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185F7-EB19-4DCC-980C-D7D5CB2C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OBJETO DEL RUTEO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750C6-B55D-4D07-BA2B-09F7E827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Ruteo de paquetes y ruteo físico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8F48C-824C-4A29-A394-C261FAB5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Zheng et al. (2024), CLUN-LSR; proyecto Tarea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D2525-7CB6-4856-9C46-CAB79DF6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89240-C28A-43C4-BA91-E5B4D461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B90C6-1C6B-420E-94E3-2669D1BE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CE710-67E2-46E6-A016-7FB56027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Tarea 1 · comunicación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6E69E-815E-4406-9DBC-8F809BC3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Un UAV era un nodo de una red mesh. Las aristas representaban enlaces de radio y la ruta indicaba por dónde pasaban los datos.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9C8D8-AD30-4A6F-BF0C-7EFC5EEE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193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Tarea 2 · desplazamiento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7C757-248C-4488-9AC5-C5E30A93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Los nodos son puntos de navegación. Las aristas son segmentos físicos que puede recorrer la misión simulada.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52C6B-478B-46D1-A1EF-DA9C585E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CLUN-LSR queda como antecedente de resiliencia de comunicaciones; aquí se calcula una trayectoria física.</a:t>
            </a:r>
          </a:p>
        </p:txBody>
      </p:sp>
    </p:spTree>
    <p:extLst>
      <p:ext uri="{BB962C8B-B14F-4D97-AF65-F5344CB8AC3E}">
        <p14:creationId xmlns:p14="http://schemas.microsoft.com/office/powerpoint/2010/main" val="848006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6ED5A-595B-43E7-B4CD-B0684AC7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41252-A668-4BF7-AC23-7671793F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MISIÓN SIMULADA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59F95-DA39-4384-9984-8EA406CB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Un origen, tres observaciones y un destino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92BE2-9EF4-4C51-AB8D-476169A6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Misión y parámetros: 05_T2/ruteo/config.py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B8B86-B729-4751-AEC3-A169C89B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3038C-642E-4512-92C6-17CE962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E32AD-CA0C-48F8-94AF-09CD8416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27E86-02F7-427C-BF7A-0FF426C9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53F"/>
                </a:solidFill>
              </a:defRPr>
            </a:defPPr>
            <a:lvl1pPr>
              <a:defRPr sz="3150" b="1">
                <a:solidFill>
                  <a:srgbClr val="14253F"/>
                </a:solidFill>
              </a:defRPr>
            </a:lvl1pPr>
            <a:lvl2pPr>
              <a:defRPr sz="3150" b="1">
                <a:solidFill>
                  <a:srgbClr val="14253F"/>
                </a:solidFill>
              </a:defRPr>
            </a:lvl2pPr>
            <a:lvl3pPr>
              <a:defRPr sz="3150" b="1">
                <a:solidFill>
                  <a:srgbClr val="14253F"/>
                </a:solidFill>
              </a:defRPr>
            </a:lvl3pPr>
            <a:lvl4pPr>
              <a:defRPr sz="3150" b="1">
                <a:solidFill>
                  <a:srgbClr val="14253F"/>
                </a:solidFill>
              </a:defRPr>
            </a:lvl4pPr>
            <a:lvl5pPr>
              <a:defRPr sz="3150" b="1">
                <a:solidFill>
                  <a:srgbClr val="14253F"/>
                </a:solidFill>
              </a:defRPr>
            </a:lvl5pPr>
            <a:lvl6pPr>
              <a:defRPr sz="3150" b="1">
                <a:solidFill>
                  <a:srgbClr val="14253F"/>
                </a:solidFill>
              </a:defRPr>
            </a:lvl6pPr>
            <a:lvl7pPr>
              <a:defRPr sz="3150" b="1">
                <a:solidFill>
                  <a:srgbClr val="14253F"/>
                </a:solidFill>
              </a:defRPr>
            </a:lvl7pPr>
            <a:lvl8pPr>
              <a:defRPr sz="3150" b="1">
                <a:solidFill>
                  <a:srgbClr val="14253F"/>
                </a:solidFill>
              </a:defRPr>
            </a:lvl8pPr>
            <a:lvl9pPr>
              <a:defRPr sz="3150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53F"/>
                </a:solidFill>
              </a:defRPr>
            </a:pPr>
            <a:r>
              <a:rPr sz="3150" b="1">
                <a:solidFill>
                  <a:srgbClr val="14253F"/>
                </a:solidFill>
              </a:rPr>
              <a:t>A  →  P₁  →  P₂  →  P₃  → 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6897F-E95A-4112-A76E-EE826BA4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Secuencia obligatoria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45DC9-CD7E-404F-B06F-1A366312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El UAV visita P₁, P₂ y P₃ en orden y luego debe alcanzar 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B1970-6D0C-4F35-A713-5806CEEB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28975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Evaluación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3D582-E62F-468B-922B-7F8700A7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90925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Cada par consecutivo es un tramo origen–destino. Se mide la finalización dentro de un presupuesto de distancia.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AE9A5-F83D-4E22-83C7-EA66CC1B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La misión inspecciona puntos discretos; no equivale a cobertura continua del área.</a:t>
            </a:r>
          </a:p>
        </p:txBody>
      </p:sp>
    </p:spTree>
    <p:extLst>
      <p:ext uri="{BB962C8B-B14F-4D97-AF65-F5344CB8AC3E}">
        <p14:creationId xmlns:p14="http://schemas.microsoft.com/office/powerpoint/2010/main" val="394308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F1ECE-FB34-47F4-B0DA-CEB26726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D87B2-DDA5-4AF3-B298-C592771F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GRAFO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23DBF-AB5E-40B2-9697-65C4F969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Una malla física geolocalizada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B6426-2B7E-4A13-B04A-32F1C2E1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Infraestructura/generar_infraestructura.py; primera corrida documentada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2953C-E18E-49C6-BA4E-EEABF2D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60D63-DE61-4387-B60E-F1A51A2E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7FE87-D841-4EF7-BA47-F7118D4F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670F9-674A-46F2-995A-885EF667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4253F"/>
                </a:solidFill>
              </a:defRPr>
            </a:defPPr>
            <a:lvl1pPr>
              <a:defRPr sz="3825" b="1">
                <a:solidFill>
                  <a:srgbClr val="14253F"/>
                </a:solidFill>
              </a:defRPr>
            </a:lvl1pPr>
            <a:lvl2pPr>
              <a:defRPr sz="3825" b="1">
                <a:solidFill>
                  <a:srgbClr val="14253F"/>
                </a:solidFill>
              </a:defRPr>
            </a:lvl2pPr>
            <a:lvl3pPr>
              <a:defRPr sz="3825" b="1">
                <a:solidFill>
                  <a:srgbClr val="14253F"/>
                </a:solidFill>
              </a:defRPr>
            </a:lvl3pPr>
            <a:lvl4pPr>
              <a:defRPr sz="3825" b="1">
                <a:solidFill>
                  <a:srgbClr val="14253F"/>
                </a:solidFill>
              </a:defRPr>
            </a:lvl4pPr>
            <a:lvl5pPr>
              <a:defRPr sz="3825" b="1">
                <a:solidFill>
                  <a:srgbClr val="14253F"/>
                </a:solidFill>
              </a:defRPr>
            </a:lvl5pPr>
            <a:lvl6pPr>
              <a:defRPr sz="3825" b="1">
                <a:solidFill>
                  <a:srgbClr val="14253F"/>
                </a:solidFill>
              </a:defRPr>
            </a:lvl6pPr>
            <a:lvl7pPr>
              <a:defRPr sz="3825" b="1">
                <a:solidFill>
                  <a:srgbClr val="14253F"/>
                </a:solidFill>
              </a:defRPr>
            </a:lvl7pPr>
            <a:lvl8pPr>
              <a:defRPr sz="3825" b="1">
                <a:solidFill>
                  <a:srgbClr val="14253F"/>
                </a:solidFill>
              </a:defRPr>
            </a:lvl8pPr>
            <a:lvl9pPr>
              <a:defRPr sz="38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4253F"/>
                </a:solidFill>
              </a:defRPr>
            </a:pPr>
            <a:r>
              <a:rPr sz="3825" b="1">
                <a:solidFill>
                  <a:srgbClr val="14253F"/>
                </a:solidFill>
              </a:rPr>
              <a:t>196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2B8F8-83F9-4FA7-959C-A6201920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D80"/>
                </a:solidFill>
              </a:defRPr>
            </a:defPPr>
            <a:lvl1pPr>
              <a:defRPr sz="1650" b="1">
                <a:solidFill>
                  <a:srgbClr val="087D80"/>
                </a:solidFill>
              </a:defRPr>
            </a:lvl1pPr>
            <a:lvl2pPr>
              <a:defRPr sz="1650" b="1">
                <a:solidFill>
                  <a:srgbClr val="087D80"/>
                </a:solidFill>
              </a:defRPr>
            </a:lvl2pPr>
            <a:lvl3pPr>
              <a:defRPr sz="1650" b="1">
                <a:solidFill>
                  <a:srgbClr val="087D80"/>
                </a:solidFill>
              </a:defRPr>
            </a:lvl3pPr>
            <a:lvl4pPr>
              <a:defRPr sz="1650" b="1">
                <a:solidFill>
                  <a:srgbClr val="087D80"/>
                </a:solidFill>
              </a:defRPr>
            </a:lvl4pPr>
            <a:lvl5pPr>
              <a:defRPr sz="1650" b="1">
                <a:solidFill>
                  <a:srgbClr val="087D80"/>
                </a:solidFill>
              </a:defRPr>
            </a:lvl5pPr>
            <a:lvl6pPr>
              <a:defRPr sz="1650" b="1">
                <a:solidFill>
                  <a:srgbClr val="087D80"/>
                </a:solidFill>
              </a:defRPr>
            </a:lvl6pPr>
            <a:lvl7pPr>
              <a:defRPr sz="1650" b="1">
                <a:solidFill>
                  <a:srgbClr val="087D80"/>
                </a:solidFill>
              </a:defRPr>
            </a:lvl7pPr>
            <a:lvl8pPr>
              <a:defRPr sz="1650" b="1">
                <a:solidFill>
                  <a:srgbClr val="087D80"/>
                </a:solidFill>
              </a:defRPr>
            </a:lvl8pPr>
            <a:lvl9pPr>
              <a:defRPr sz="16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D80"/>
                </a:solidFill>
              </a:defRPr>
            </a:pPr>
            <a:r>
              <a:rPr sz="1650" b="1">
                <a:solidFill>
                  <a:srgbClr val="087D80"/>
                </a:solidFill>
              </a:rPr>
              <a:t>nodos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D4837-2686-48D4-8DEA-ABD169ED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621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4253F"/>
                </a:solidFill>
              </a:defRPr>
            </a:defPPr>
            <a:lvl1pPr>
              <a:defRPr sz="3825" b="1">
                <a:solidFill>
                  <a:srgbClr val="14253F"/>
                </a:solidFill>
              </a:defRPr>
            </a:lvl1pPr>
            <a:lvl2pPr>
              <a:defRPr sz="3825" b="1">
                <a:solidFill>
                  <a:srgbClr val="14253F"/>
                </a:solidFill>
              </a:defRPr>
            </a:lvl2pPr>
            <a:lvl3pPr>
              <a:defRPr sz="3825" b="1">
                <a:solidFill>
                  <a:srgbClr val="14253F"/>
                </a:solidFill>
              </a:defRPr>
            </a:lvl3pPr>
            <a:lvl4pPr>
              <a:defRPr sz="3825" b="1">
                <a:solidFill>
                  <a:srgbClr val="14253F"/>
                </a:solidFill>
              </a:defRPr>
            </a:lvl4pPr>
            <a:lvl5pPr>
              <a:defRPr sz="3825" b="1">
                <a:solidFill>
                  <a:srgbClr val="14253F"/>
                </a:solidFill>
              </a:defRPr>
            </a:lvl5pPr>
            <a:lvl6pPr>
              <a:defRPr sz="3825" b="1">
                <a:solidFill>
                  <a:srgbClr val="14253F"/>
                </a:solidFill>
              </a:defRPr>
            </a:lvl6pPr>
            <a:lvl7pPr>
              <a:defRPr sz="3825" b="1">
                <a:solidFill>
                  <a:srgbClr val="14253F"/>
                </a:solidFill>
              </a:defRPr>
            </a:lvl7pPr>
            <a:lvl8pPr>
              <a:defRPr sz="3825" b="1">
                <a:solidFill>
                  <a:srgbClr val="14253F"/>
                </a:solidFill>
              </a:defRPr>
            </a:lvl8pPr>
            <a:lvl9pPr>
              <a:defRPr sz="38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4253F"/>
                </a:solidFill>
              </a:defRPr>
            </a:pPr>
            <a:r>
              <a:rPr sz="3825" b="1">
                <a:solidFill>
                  <a:srgbClr val="14253F"/>
                </a:solidFill>
              </a:rPr>
              <a:t>618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728DA-0E34-4C8E-A0FA-4F2E8F98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05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D80"/>
                </a:solidFill>
              </a:defRPr>
            </a:defPPr>
            <a:lvl1pPr>
              <a:defRPr sz="1650" b="1">
                <a:solidFill>
                  <a:srgbClr val="087D80"/>
                </a:solidFill>
              </a:defRPr>
            </a:lvl1pPr>
            <a:lvl2pPr>
              <a:defRPr sz="1650" b="1">
                <a:solidFill>
                  <a:srgbClr val="087D80"/>
                </a:solidFill>
              </a:defRPr>
            </a:lvl2pPr>
            <a:lvl3pPr>
              <a:defRPr sz="1650" b="1">
                <a:solidFill>
                  <a:srgbClr val="087D80"/>
                </a:solidFill>
              </a:defRPr>
            </a:lvl3pPr>
            <a:lvl4pPr>
              <a:defRPr sz="1650" b="1">
                <a:solidFill>
                  <a:srgbClr val="087D80"/>
                </a:solidFill>
              </a:defRPr>
            </a:lvl4pPr>
            <a:lvl5pPr>
              <a:defRPr sz="1650" b="1">
                <a:solidFill>
                  <a:srgbClr val="087D80"/>
                </a:solidFill>
              </a:defRPr>
            </a:lvl5pPr>
            <a:lvl6pPr>
              <a:defRPr sz="1650" b="1">
                <a:solidFill>
                  <a:srgbClr val="087D80"/>
                </a:solidFill>
              </a:defRPr>
            </a:lvl6pPr>
            <a:lvl7pPr>
              <a:defRPr sz="1650" b="1">
                <a:solidFill>
                  <a:srgbClr val="087D80"/>
                </a:solidFill>
              </a:defRPr>
            </a:lvl7pPr>
            <a:lvl8pPr>
              <a:defRPr sz="1650" b="1">
                <a:solidFill>
                  <a:srgbClr val="087D80"/>
                </a:solidFill>
              </a:defRPr>
            </a:lvl8pPr>
            <a:lvl9pPr>
              <a:defRPr sz="16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D80"/>
                </a:solidFill>
              </a:defRPr>
            </a:pPr>
            <a:r>
              <a:rPr sz="1650" b="1">
                <a:solidFill>
                  <a:srgbClr val="087D80"/>
                </a:solidFill>
              </a:rPr>
              <a:t>aristas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427A2-E26B-417B-B996-EBB6E2A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4905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94652"/>
                </a:solidFill>
              </a:defRPr>
            </a:defPPr>
            <a:lvl1pPr>
              <a:defRPr sz="1800" b="0">
                <a:solidFill>
                  <a:srgbClr val="394652"/>
                </a:solidFill>
              </a:defRPr>
            </a:lvl1pPr>
            <a:lvl2pPr>
              <a:defRPr sz="1800" b="0">
                <a:solidFill>
                  <a:srgbClr val="394652"/>
                </a:solidFill>
              </a:defRPr>
            </a:lvl2pPr>
            <a:lvl3pPr>
              <a:defRPr sz="1800" b="0">
                <a:solidFill>
                  <a:srgbClr val="394652"/>
                </a:solidFill>
              </a:defRPr>
            </a:lvl3pPr>
            <a:lvl4pPr>
              <a:defRPr sz="1800" b="0">
                <a:solidFill>
                  <a:srgbClr val="394652"/>
                </a:solidFill>
              </a:defRPr>
            </a:lvl4pPr>
            <a:lvl5pPr>
              <a:defRPr sz="1800" b="0">
                <a:solidFill>
                  <a:srgbClr val="394652"/>
                </a:solidFill>
              </a:defRPr>
            </a:lvl5pPr>
            <a:lvl6pPr>
              <a:defRPr sz="1800" b="0">
                <a:solidFill>
                  <a:srgbClr val="394652"/>
                </a:solidFill>
              </a:defRPr>
            </a:lvl6pPr>
            <a:lvl7pPr>
              <a:defRPr sz="1800" b="0">
                <a:solidFill>
                  <a:srgbClr val="394652"/>
                </a:solidFill>
              </a:defRPr>
            </a:lvl7pPr>
            <a:lvl8pPr>
              <a:defRPr sz="1800" b="0">
                <a:solidFill>
                  <a:srgbClr val="394652"/>
                </a:solidFill>
              </a:defRPr>
            </a:lvl8pPr>
            <a:lvl9pPr>
              <a:defRPr sz="180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94652"/>
                </a:solidFill>
              </a:defRPr>
            </a:pPr>
            <a:r>
              <a:rPr sz="1800" b="0">
                <a:solidFill>
                  <a:srgbClr val="394652"/>
                </a:solidFill>
              </a:rPr>
              <a:t>Modelo 2,5D: elevación y edificios como atributos parciales.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C9F45-1293-4E04-94FF-EBFB7ECA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953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9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8868B-3B31-40A3-8A87-D8A441CA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288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ESPACIO PARA IMAGEN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BAEB2-5ED6-4295-AA30-520D0448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47925"/>
            <a:ext cx="4572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707B"/>
                </a:solidFill>
              </a:defRPr>
            </a:defPPr>
            <a:lvl1pPr>
              <a:defRPr sz="1575" b="0">
                <a:solidFill>
                  <a:srgbClr val="60707B"/>
                </a:solidFill>
              </a:defRPr>
            </a:lvl1pPr>
            <a:lvl2pPr>
              <a:defRPr sz="1575" b="0">
                <a:solidFill>
                  <a:srgbClr val="60707B"/>
                </a:solidFill>
              </a:defRPr>
            </a:lvl2pPr>
            <a:lvl3pPr>
              <a:defRPr sz="1575" b="0">
                <a:solidFill>
                  <a:srgbClr val="60707B"/>
                </a:solidFill>
              </a:defRPr>
            </a:lvl3pPr>
            <a:lvl4pPr>
              <a:defRPr sz="1575" b="0">
                <a:solidFill>
                  <a:srgbClr val="60707B"/>
                </a:solidFill>
              </a:defRPr>
            </a:lvl4pPr>
            <a:lvl5pPr>
              <a:defRPr sz="1575" b="0">
                <a:solidFill>
                  <a:srgbClr val="60707B"/>
                </a:solidFill>
              </a:defRPr>
            </a:lvl5pPr>
            <a:lvl6pPr>
              <a:defRPr sz="1575" b="0">
                <a:solidFill>
                  <a:srgbClr val="60707B"/>
                </a:solidFill>
              </a:defRPr>
            </a:lvl6pPr>
            <a:lvl7pPr>
              <a:defRPr sz="1575" b="0">
                <a:solidFill>
                  <a:srgbClr val="60707B"/>
                </a:solidFill>
              </a:defRPr>
            </a:lvl7pPr>
            <a:lvl8pPr>
              <a:defRPr sz="1575" b="0">
                <a:solidFill>
                  <a:srgbClr val="60707B"/>
                </a:solidFill>
              </a:defRPr>
            </a:lvl8pPr>
            <a:lvl9pPr>
              <a:defRPr sz="15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707B"/>
                </a:solidFill>
              </a:defRPr>
            </a:pPr>
            <a:r>
              <a:rPr sz="1575" b="0">
                <a:solidFill>
                  <a:srgbClr val="60707B"/>
                </a:solidFill>
              </a:rPr>
              <a:t>Mapa del grafo y puntos de observación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2AA9C-3A1A-424E-82D4-B261168E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La malla es sintética y Mykolaiv funciona como referencia cartográfica provisional.</a:t>
            </a:r>
          </a:p>
        </p:txBody>
      </p:sp>
    </p:spTree>
    <p:extLst>
      <p:ext uri="{BB962C8B-B14F-4D97-AF65-F5344CB8AC3E}">
        <p14:creationId xmlns:p14="http://schemas.microsoft.com/office/powerpoint/2010/main" val="2020880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260D4-CF94-439F-A4C8-E6E65341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6CAD6-1564-49CC-A0A9-61F7482B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CONTEXTO DEL CASO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0F717-62B2-488F-BDA3-8EF71934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Mykolaiv: antecedentes para una inspección civil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2F4DD-013F-424B-8054-0C57BF6D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UNOSAT producto 3404; Policía Nacional de Ucrania (2026); PNUD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6EBC9-47DB-493C-BCA8-EC60DC9E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D22F0-D44F-4A06-B7CB-78757A27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60914-1975-4EF0-A5C0-7914E17E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E51B2-AC61-4A2A-85EB-A8850926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Daño documentado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922B0-4FAC-4243-8A7E-4705BD0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UNOSAT identificó 198 estructuras con daño visible en imágenes del 21 de julio de 2022.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723C1-E0C9-4B70-AB25-3E6A9A5D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94310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Situación reciente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71776-51D0-4B39-B228-3DD4B794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0505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Reportes policiales de 2026 documentan nuevos ataques y daños civiles en la ciudad.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C904D-A928-4F6C-A0B0-FB162F1B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94310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Recuperación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700EB-1E55-4A0A-82FB-98720B74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0505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El PNUD mantiene una alianza de recuperación con autoridades de Mykolaiv hasta 2028.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48285-BBE0-4BCA-8292-92B155A9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La misión, el grafo y las fallas son simulados; estos antecedentes no prueban un vuelo UAV local.</a:t>
            </a:r>
          </a:p>
        </p:txBody>
      </p:sp>
    </p:spTree>
    <p:extLst>
      <p:ext uri="{BB962C8B-B14F-4D97-AF65-F5344CB8AC3E}">
        <p14:creationId xmlns:p14="http://schemas.microsoft.com/office/powerpoint/2010/main" val="708632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44A28-60D9-4814-A864-43801DE3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F6EAE-7C1B-4711-93B7-965A89B2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F71F5-F058-4601-A38D-CB80D355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De las fuentes al mapa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6ADCC-E30C-4512-83AF-D5F8B309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05_T2/pipeline.py; 05_T2/README.md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2F3A6-DBE1-49B9-B2A3-57F8E628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7B2A6-CA9A-43CA-884E-8713C70F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42413-74C8-4BDC-AE32-E8BEDD84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017D8-86B2-498B-B9FC-5EE83A99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Fuentes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F959F-8382-4B8B-B987-FC0E0429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25431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Tres productos de metadata y tres fuentes de amenaza contextual.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B9E71-6C4D-440C-8F84-CF516601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47875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Archivos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619F7-C7B7-42C9-AD1B-7916B9C9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09825"/>
            <a:ext cx="25431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Un archivo de datos por fuente y un documento que explica sus campos.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4C455-FF7B-4019-B4F9-E1648896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47875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PostGIS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52065-0BB0-4B9F-BAFB-B69D3047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25431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Cargadores, tablas geoespaciales y cálculo de pesos por tramo.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F0B5B-2B3D-41C6-ACAA-1D9E4E87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Web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636A7-46B0-47F2-A128-94D4BCB4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09825"/>
            <a:ext cx="25431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Leaflet muestra rutas y preferencias para origen y destino.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52117-56C4-4F1B-97ED-FB9BFEF7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253F"/>
                </a:solidFill>
              </a:defRPr>
            </a:defPPr>
            <a:lvl1pPr>
              <a:defRPr sz="2175" b="1">
                <a:solidFill>
                  <a:srgbClr val="14253F"/>
                </a:solidFill>
              </a:defRPr>
            </a:lvl1pPr>
            <a:lvl2pPr>
              <a:defRPr sz="2175" b="1">
                <a:solidFill>
                  <a:srgbClr val="14253F"/>
                </a:solidFill>
              </a:defRPr>
            </a:lvl2pPr>
            <a:lvl3pPr>
              <a:defRPr sz="2175" b="1">
                <a:solidFill>
                  <a:srgbClr val="14253F"/>
                </a:solidFill>
              </a:defRPr>
            </a:lvl3pPr>
            <a:lvl4pPr>
              <a:defRPr sz="2175" b="1">
                <a:solidFill>
                  <a:srgbClr val="14253F"/>
                </a:solidFill>
              </a:defRPr>
            </a:lvl4pPr>
            <a:lvl5pPr>
              <a:defRPr sz="2175" b="1">
                <a:solidFill>
                  <a:srgbClr val="14253F"/>
                </a:solidFill>
              </a:defRPr>
            </a:lvl5pPr>
            <a:lvl6pPr>
              <a:defRPr sz="2175" b="1">
                <a:solidFill>
                  <a:srgbClr val="14253F"/>
                </a:solidFill>
              </a:defRPr>
            </a:lvl6pPr>
            <a:lvl7pPr>
              <a:defRPr sz="2175" b="1">
                <a:solidFill>
                  <a:srgbClr val="14253F"/>
                </a:solidFill>
              </a:defRPr>
            </a:lvl7pPr>
            <a:lvl8pPr>
              <a:defRPr sz="2175" b="1">
                <a:solidFill>
                  <a:srgbClr val="14253F"/>
                </a:solidFill>
              </a:defRPr>
            </a:lvl8pPr>
            <a:lvl9pPr>
              <a:defRPr sz="217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53F"/>
                </a:solidFill>
              </a:defRPr>
            </a:pPr>
            <a:r>
              <a:rPr sz="2175" b="1">
                <a:solidFill>
                  <a:srgbClr val="14253F"/>
                </a:solidFill>
              </a:rPr>
              <a:t>18 pasos completados en la primera corrida de Docker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185D4-8A09-48E3-BB45-D78E548E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La ejecución del ETL acredita carga técnica; la calidad de las rutas se evalúa aparte.</a:t>
            </a:r>
          </a:p>
        </p:txBody>
      </p:sp>
    </p:spTree>
    <p:extLst>
      <p:ext uri="{BB962C8B-B14F-4D97-AF65-F5344CB8AC3E}">
        <p14:creationId xmlns:p14="http://schemas.microsoft.com/office/powerpoint/2010/main" val="1928360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C1F2A-EC40-4B99-8BB2-3E9316D2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0ED5F-81CE-4F26-9D06-BC2B4D4A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8E793-3F01-4369-A2B7-BF739260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Tres fuentes que afectan las rutas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F0CAB-79FB-47BE-BDE8-D7879F07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OSM/Overpass; Open-Meteo Elevation; Open-Meteo Historical Weather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9AC4A-4D8B-4A95-9E58-571B93F1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584DA-0537-4342-AF7C-D7C46BA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ADD64-6916-4061-886C-14482380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F5A77-3513-42B2-81AC-8EECB2D5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Edificios · OSM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16298-2ED0-467B-8356-D0F200DB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33.593 huellas; 1.022 con altura disponible o estimada. Ayudan a descartar tramos con obstáculos.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23115-3D41-4C4B-8F7A-4DF54A0F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9335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Elevación · Copernicus GLO-90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2C793-7153-43AE-BCFA-B472218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955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814 muestras de terreno. Aportan relieve para comprobar el despeje vertical.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216E6-AC90-425F-A040-7C84F32A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9335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Viento · ERA5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6E143-B272-48C4-B663-CBE2C9F4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2955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720 horas históricas para una ubicación. Define un umbral y modifica el costo según la dirección.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FB926-85B6-4D2C-92A8-89A4B8CF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Las alturas faltan en muchos edificios; el viento representa una condición regional, no cada arista.</a:t>
            </a:r>
          </a:p>
        </p:txBody>
      </p:sp>
    </p:spTree>
    <p:extLst>
      <p:ext uri="{BB962C8B-B14F-4D97-AF65-F5344CB8AC3E}">
        <p14:creationId xmlns:p14="http://schemas.microsoft.com/office/powerpoint/2010/main" val="18301269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2451D-466B-4B09-ABEE-6E376C54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F3655-7F4C-40CA-B3DF-34A35F21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AMENAZAS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FF884-7875-40C4-B235-AF79B26D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Tres fuentes de contexto histórico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F49DA-4C88-43D9-902E-EA3E15C2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GPSJam; The Economist/NASA FIRMS; UCDP GED vía HDX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C266B-84E4-4C95-B4DF-A5395BAC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B86FA-F764-430B-83D5-8358DBEE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6013F-FE02-4525-BC55-8C48A599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94EEC-5222-4DA0-8029-40930AC2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GPSJam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6050F-037E-4C15-A33E-8CC32398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7 celdas H3 con indicador GNSS derivado de aviación. No mide interferencia en el UAV simulado.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991B7-F231-40F8-9624-E9877EC2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9335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Focos térmicos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69FF9-53FB-42BF-A079-1AD84389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955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41 registros clasificados: 26 históricos y 15 del período de evaluación. Pueden orientar centros de fallas sintéticas.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61981-7F08-44F7-BE04-378D2E73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9335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UCDP 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89430-E700-456F-B6CB-DF373384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2955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65 eventos georreferenciados. Alimentan un puntaje contextual con incertidumbre espacial.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87AD5-1657-44DF-A997-E9C8DA19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Un registro geográfico no cierra por sí solo una arista ni demuestra jamming local.</a:t>
            </a:r>
          </a:p>
        </p:txBody>
      </p:sp>
    </p:spTree>
    <p:extLst>
      <p:ext uri="{BB962C8B-B14F-4D97-AF65-F5344CB8AC3E}">
        <p14:creationId xmlns:p14="http://schemas.microsoft.com/office/powerpoint/2010/main" val="85046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A8AAC-DF39-4E83-8CD2-EE2BA993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025F3-8E7E-4579-82C7-6667E38F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TRAZABILIDAD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A278B-8715-4D7D-A2DA-6E53F199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Cada fuente tiene un formato documentado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A3983-123F-4821-8C58-E39BA3F4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05_T2/*/ESTRUCTURA_*.md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AB7DE-BA70-4C44-9C77-81531D59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4E859-DE70-4831-9575-2AF90779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78768-1F17-42A2-9E3D-29E3CB66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C6B81-AA83-4547-B1C7-6FE8BF31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Infraestructura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BD898-0612-4527-8DF6-18083BD9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Identifica nodos, aristas, geometrías y el orden de la misión.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4F9B5-1E27-42AC-82C4-B0056A93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7C66F-2770-4BAC-9D4F-01781103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Conserva edificios, elevaciones y series de viento con unidades y procedencia.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F3899-03BB-4420-AD91-2E55C89D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Amenazas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BD6AB-8D12-46E0-971D-06A2572C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Registra celdas GNSS, focos y eventos con sus límites espaciales y temporales.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91073-1C3E-448F-9468-A54004E6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Los archivos JSON y sus documentos permiten reproducir la carga. La presentación no necesita mostrar su sintaxis.</a:t>
            </a:r>
          </a:p>
        </p:txBody>
      </p:sp>
    </p:spTree>
    <p:extLst>
      <p:ext uri="{BB962C8B-B14F-4D97-AF65-F5344CB8AC3E}">
        <p14:creationId xmlns:p14="http://schemas.microsoft.com/office/powerpoint/2010/main" val="2831190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5143F-7E62-4AD6-AB69-099B9B71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997DD-B9EE-4FC1-BC74-381E2AC7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CARGA GEOESPACIAL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699DF-7327-49F5-BD3A-075567B6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Cada dato llega a una tabla específica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6D924-ED6F-4DB6-8660-01E9B1FD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05_T2/Metadata/cargar_*.py; Amenazas/cargar_*.py; BD/schema.sql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C2B3D-694D-46F1-845B-9CDDB7BA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F66FF-193C-4D6A-ACA4-DD0CCF47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58992-C509-4F4B-8DA7-DA770393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58AFC-6CD7-4151-BE45-50B9F325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CA9A1-FE31-47A3-A740-2C15C530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Edificios → meta_edificios</a:t>
            </a:r>
          </a:p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Elevación → meta_elevacion</a:t>
            </a:r>
          </a:p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Viento → meta_viento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CC870-893B-4E8B-B5F6-E03413DA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Amenazas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79115-B373-4C3C-A449-0FE6D1FC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GPSJam → amz_gpsjam_celdas</a:t>
            </a:r>
          </a:p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Focos → amz_incendios</a:t>
            </a:r>
          </a:p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Eventos → amz_eventos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D2C93-EE83-44E3-AB03-B6CD5145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La tabla fuentes registra procedencia, licencia y parámetros; pesos.sql deriva atributos de las aristas.</a:t>
            </a:r>
          </a:p>
        </p:txBody>
      </p:sp>
    </p:spTree>
    <p:extLst>
      <p:ext uri="{BB962C8B-B14F-4D97-AF65-F5344CB8AC3E}">
        <p14:creationId xmlns:p14="http://schemas.microsoft.com/office/powerpoint/2010/main" val="16722237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4E504-85CD-4488-9451-BB09E147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B18AD-1C3E-48D3-B81A-E7443CDF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EJECUCIÓN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BB228-8825-484E-B424-C5A388E6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Docker conecta base, ETL y sitio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BB95E-2BC7-4BEA-B6F7-EF3CADB7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docker-compose.yml; 05_T2/README.md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2C515-EBE7-4243-A569-7C175BB4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EB933-1726-4CD3-BF95-A2745F84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05474-9EA7-4234-A87B-6205CBAC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50251-64CA-4240-9959-892D5EF7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Base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AA3F4-4A46-4420-B973-83D52E30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PostgreSQL 17, PostGIS 3.5 y pgRouting 3.8 con volumen persistente.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1266C-D37F-41C7-892D-FEC94A57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002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Aplicación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7EFA8-759D-4CF3-A4FC-BF536E32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622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El perfil de tareas ejecuta extracción, carga, pesos y consultas pgRouting.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86A4C-6E33-4A5B-9118-218EDEAD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0002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Sitio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69F26-05D3-447C-8620-C4C35FFF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622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FastAPI ofrece la consulta; Leaflet presenta rutas y capas del mapa.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4442F-8847-4254-9387-9E9B90EA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Compose inicia la base antes de los procesos de aplicación y web.</a:t>
            </a:r>
          </a:p>
        </p:txBody>
      </p:sp>
    </p:spTree>
    <p:extLst>
      <p:ext uri="{BB962C8B-B14F-4D97-AF65-F5344CB8AC3E}">
        <p14:creationId xmlns:p14="http://schemas.microsoft.com/office/powerpoint/2010/main" val="13740042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DDEB2-255F-4F28-99A1-60F99FE7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26CAE-73E5-40C2-B349-A3E0DC26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MODELO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DABA0-482A-49AB-A105-7001A759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Cinco dominios en una sola 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B8D68-50FB-48CC-8D31-94EC3F1D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05_T2/BD/MODELO_BD.md; BD/diagrama_bd.png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ACF93-27EB-4FDF-BAAD-3992F1D3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5FD84-07F4-4428-8E71-C577119D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352C0-8E84-4F85-87D7-A1E88ACE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53CF5-20CA-403F-9B18-49D273F4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Navegación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3360F-DD91-494D-A8BB-47B7C6CA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nodos, aristas y mision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5C51D-B33A-404B-BDC3-40201559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5740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Entorno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92B49-7DBE-437A-A3D1-042BD5EF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41935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meta_edificios, meta_elevacion y meta_viento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C1283-DC69-4822-BAFC-8EB17AE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05740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Amenazas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E640A-FB2E-4663-BD62-687C58A8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41935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amz_gpsjam_celdas, amz_incendios y amz_eventos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3E600-3593-43DA-931A-98BFF72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Resultados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BFE77-7689-4DB5-ACC2-CE7F54E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rutas y evaluaciones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B7B6C-5C2F-411F-AB33-565C285F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81425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Soporte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5FBEF-3D18-4BC0-98BC-F2C4BB08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43375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fuentes y parámetros de pesos</a:t>
            </a:r>
          </a:p>
        </p:txBody>
      </p:sp>
    </p:spTree>
    <p:extLst>
      <p:ext uri="{BB962C8B-B14F-4D97-AF65-F5344CB8AC3E}">
        <p14:creationId xmlns:p14="http://schemas.microsoft.com/office/powerpoint/2010/main" val="1952126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25EED-FC47-4142-9B07-27074097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C25C1-D004-486F-90E0-05B31A3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CLAVES Y GEOMETRÍA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260FB-7F6C-48D5-82BE-97AAD2B1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El esquema conecta puntos, segmentos y misión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7AE40-BBD1-42D6-BE5B-34B92360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05_T2/BD/schema.sql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1B60E-9325-4278-875F-A539DEE5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6FB6A-DA99-46CC-99C9-559B64DD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5CFBB-C4B4-4ADF-9757-8D2AE0CE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4FFF8-81BE-4AD3-8500-17AB48A9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Nodos y aristas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5A4F3-DCBA-4DCA-AD7B-367E4E90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source y target de cada arista referencian nodos. Las geometrías son Point y LineString.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DC3F3-B975-48DD-8C55-9C5B48A8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Misión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D4415-CEBE-4FE4-84F9-11AB3378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La tabla mision define el orden de inicio, observaciones y destino.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612F0-326F-4583-A8DF-4D485789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Resultados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4B31B-101D-4AED-80FD-36372018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rutas guarda secuencias; evaluaciones registra escenarios, fallas y métricas.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C933C-CCD4-4395-BC60-9F054886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EPSG:4326 identifica coordenadas horizontales; la altitud se almacena como atributo.</a:t>
            </a:r>
          </a:p>
        </p:txBody>
      </p:sp>
    </p:spTree>
    <p:extLst>
      <p:ext uri="{BB962C8B-B14F-4D97-AF65-F5344CB8AC3E}">
        <p14:creationId xmlns:p14="http://schemas.microsoft.com/office/powerpoint/2010/main" val="21279025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C76E2-FADF-418A-ACC4-AF438BF8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B522D-3C6E-418C-865F-51AB2662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ESQUEMA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6AE2B-9EDB-438A-B2D3-66247880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Cómo se prepara la 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376C2-635C-4D31-8C95-3D9AFCFA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05_T2/BD/schema.sql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DB165-AD4D-4EF4-9385-3318B02B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10F3F-90D1-4D69-B8FD-D5C5D3B2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030D8-3200-40C6-AC1C-D7230ED3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666B5-3B31-49DE-9DE0-9D79033D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Extensiones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48D83-54F0-4381-9682-0A75E45A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PostGIS aporta geometrías y pgRouting las funciones de caminos.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2AFD5-4033-4F86-B24F-0A796019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2882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Recreación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81184-CFAE-4D08-BBAD-71ED2681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9077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El script elimina vistas y tablas del esquema de trabajo antes de crearlas.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47321-40C5-4AFA-987B-0F728701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02882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Procedencia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D27EE-079F-43B6-A1BD-64A09820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9077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fuentes conserva URL, licencia, parámetros y archivo original.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DDA96-B413-4493-A28E-86B8C4DF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La recreación del esquema borra sus tablas: debe ejecutarse solo en la base destinada al proyecto.</a:t>
            </a:r>
          </a:p>
        </p:txBody>
      </p:sp>
    </p:spTree>
    <p:extLst>
      <p:ext uri="{BB962C8B-B14F-4D97-AF65-F5344CB8AC3E}">
        <p14:creationId xmlns:p14="http://schemas.microsoft.com/office/powerpoint/2010/main" val="12069031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2D4EF-C480-4B14-85EC-41D2C32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B3194-FFF6-43EA-A339-4CDB351B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TABLAS DE INFRAESTRUCTURA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8EBEF-74E1-4E9E-AE2A-5CF00F3B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Restricciones básicas del grafo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F6ACF-17C4-474E-8DF4-450C86AD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05_T2/BD/schema.sql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D2CC5-2480-47C4-A90F-3F5A200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334E6-CC80-445E-9B38-88DD01E5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27707-57EB-4DDD-89C6-A54A2C51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ED369-684F-4205-8430-F7B1B482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nodos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D2229-D036-4EC7-9F25-4C5DB63C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Cada id representa un punto de navegación. Registra tipo, elevación y geometría.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CEEC2-0B40-4AF8-81A2-1A60CDD2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1930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aristas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B24DC-D504-4A38-9006-B67ACA78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8125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Cada id une dos nodos distintos; largo_km debe ser positivo.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FCB01-831E-4E97-9E30-FC310A68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01930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Índice espacial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8BCB7-372F-4BF5-A027-BD3B7744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8125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GiST acelera consultas sobre los segmentos y otras geometrías.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3E7B1-7916-4D45-BF74-C081F16F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La geometría horizontal no basta para afirmar que una trayectoria real es segura.</a:t>
            </a:r>
          </a:p>
        </p:txBody>
      </p:sp>
    </p:spTree>
    <p:extLst>
      <p:ext uri="{BB962C8B-B14F-4D97-AF65-F5344CB8AC3E}">
        <p14:creationId xmlns:p14="http://schemas.microsoft.com/office/powerpoint/2010/main" val="10204887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4313B-403A-49A4-8397-1CF19E0C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22C4A-693D-4688-96B7-FE092CF5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MODELO DE FALLAS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9AEF1-F66C-4ADE-92A6-ABC52921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Un disco sintético bloquea segmentos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E9CBA-416B-46E4-AE4D-99D51ED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05_T2/ruteo/fallas.py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CD699-71A0-46E2-B163-9A853C21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956AB-CAD9-4D26-9654-8652763C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0C90F-84A4-4A6A-88F4-D9620BCC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C35CE-9277-452B-8EEF-94428657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Centro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20409-3654-4C9D-B2C0-0A0217C7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Se elige de manera reproducible; puede situarse cerca de un foco histórico.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A7509-8D48-4836-89D8-98AB31D4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99072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Radio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6AADF-3DD4-4C40-B462-A6AE1149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5267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Entre 0,25 y 0,60 km por defecto.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7BA89-ABC5-4367-BA33-D0D63C5D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99072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Activación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B9D37-6325-42F2-8B46-9F8343FB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5267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Ocurre durante el recorrido; se cierran aristas que intersectan el disco.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86C9D-F522-4CE5-8794-15FC60C6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El UAV descubre bloqueos solo al llegar a un nodo adyacente. No hay alertas entre varios UAV.</a:t>
            </a:r>
          </a:p>
        </p:txBody>
      </p:sp>
    </p:spTree>
    <p:extLst>
      <p:ext uri="{BB962C8B-B14F-4D97-AF65-F5344CB8AC3E}">
        <p14:creationId xmlns:p14="http://schemas.microsoft.com/office/powerpoint/2010/main" val="17128637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4FBA2-C8B9-4D28-AB9C-C4D025DC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910FF-7893-4DE5-B81A-FF14E8F7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RESTRICCIONES DEL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EBC78-E140-4DD8-836B-3FDC96C0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Los datos pueden excluir segmentos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6C9C8-889E-4624-8898-089C0698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05_T2/ruteo/pesos.py; 05_T2/ruteo/config.py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AF8BE-8463-4BC7-BBC7-57D7F78F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52BCC-F058-4021-9DBA-F1F400B6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25DEB-38C8-41C0-BCCA-E7AB6B31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DC9EC-288A-46B0-AF37-395A084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Relieve y edificios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500AF-81F0-4792-BA13-79E5926A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Un tramo se excluye si el obstáculo estimado alcanza la altura de vuelo menos el margen.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923C8-20A8-4906-993A-8C4A0CA5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9621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Viento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900AB-4C01-44E7-9D18-F5E91D96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241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Una velocidad representativa superior al máximo elegido vuelve la misión inadmisible.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CF3F9-C7CA-4ADF-A93B-FCA1DC77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9621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Zonas restringidas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FC555-41A5-4EF6-BC3E-3FE265FE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241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La preferencia existe, pero esta versión no carga una capa geográfica que aplique el cierre.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1C9D4-8B55-464F-A0B4-06E75987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Datos ausentes se tratan como neutros; esto no certifica seguridad de vuelo.</a:t>
            </a:r>
          </a:p>
        </p:txBody>
      </p:sp>
    </p:spTree>
    <p:extLst>
      <p:ext uri="{BB962C8B-B14F-4D97-AF65-F5344CB8AC3E}">
        <p14:creationId xmlns:p14="http://schemas.microsoft.com/office/powerpoint/2010/main" val="16362346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00D8D-76DD-47BD-94EB-891902B2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158C1-B124-4ABC-BAA1-88FEBAE7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PREFERENCIAS INICIALES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EE218-9F27-4A85-A92F-C7A2E174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Parámetros por defecto de la simulación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1409D-F5A5-42DA-A4FC-2B4407C2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05_T2/ruteo/config.py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5F72E-5B29-443B-9479-CE11CFCC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808C3-E830-42D9-A925-0C81A425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67BF8-6445-4B6A-8CE1-50B8E749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60A86-EC4A-4A47-9142-3A3F2D6A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Vuelo y viento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B82FD-6D98-4986-A74B-2AC0A9EA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Altura 60 m; margen vertical 10 m; viento máximo y velocidad de crucero 12 m/s.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520C3-2476-4AB0-9FC0-F9A26779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95262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Desvío y presupuesto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58D8D-EAA8-4560-B8DD-4A9FA44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1457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α = 0,35 limita candidatas; β = 0,60 fija la distancia extra disponible.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D595E-8000-495D-A89A-F591204A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95262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Selección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94711-EDF7-4536-9A92-7579D4DB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1457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Peso de riesgo 1,0; hasta K = 8 candidatas Yen; separación 0,4 km.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0E70F-44DF-4F72-841F-C21BF939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Son supuestos del experimento, no límites aeronáuticos certificados.</a:t>
            </a:r>
          </a:p>
        </p:txBody>
      </p:sp>
    </p:spTree>
    <p:extLst>
      <p:ext uri="{BB962C8B-B14F-4D97-AF65-F5344CB8AC3E}">
        <p14:creationId xmlns:p14="http://schemas.microsoft.com/office/powerpoint/2010/main" val="1099266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FC193-5529-4BF7-822F-1C5FA947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187EE-FF5E-4A7D-9E66-D5E90CBA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COSTO DE UN TRAMO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D5D33-D26B-4F93-8A34-6BD439AC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La referencia usa km; la propuesta añade 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AD0F7-0A1A-4697-8252-A5777257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05_T2/ruteo/pesos.py; BD/pesos.sql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7FD2E-05F4-42A7-9849-99B9C295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AF604-18AE-4606-B1F9-2B258A76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E915E-263F-4B53-AF82-27A6FC0F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6C15A-660E-41B8-BC06-A683C24C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53F"/>
                </a:solidFill>
              </a:defRPr>
            </a:defPPr>
            <a:lvl1pPr>
              <a:defRPr sz="2025" b="1">
                <a:solidFill>
                  <a:srgbClr val="14253F"/>
                </a:solidFill>
              </a:defRPr>
            </a:lvl1pPr>
            <a:lvl2pPr>
              <a:defRPr sz="2025" b="1">
                <a:solidFill>
                  <a:srgbClr val="14253F"/>
                </a:solidFill>
              </a:defRPr>
            </a:lvl2pPr>
            <a:lvl3pPr>
              <a:defRPr sz="2025" b="1">
                <a:solidFill>
                  <a:srgbClr val="14253F"/>
                </a:solidFill>
              </a:defRPr>
            </a:lvl3pPr>
            <a:lvl4pPr>
              <a:defRPr sz="2025" b="1">
                <a:solidFill>
                  <a:srgbClr val="14253F"/>
                </a:solidFill>
              </a:defRPr>
            </a:lvl4pPr>
            <a:lvl5pPr>
              <a:defRPr sz="2025" b="1">
                <a:solidFill>
                  <a:srgbClr val="14253F"/>
                </a:solidFill>
              </a:defRPr>
            </a:lvl5pPr>
            <a:lvl6pPr>
              <a:defRPr sz="2025" b="1">
                <a:solidFill>
                  <a:srgbClr val="14253F"/>
                </a:solidFill>
              </a:defRPr>
            </a:lvl6pPr>
            <a:lvl7pPr>
              <a:defRPr sz="2025" b="1">
                <a:solidFill>
                  <a:srgbClr val="14253F"/>
                </a:solidFill>
              </a:defRPr>
            </a:lvl7pPr>
            <a:lvl8pPr>
              <a:defRPr sz="2025" b="1">
                <a:solidFill>
                  <a:srgbClr val="14253F"/>
                </a:solidFill>
              </a:defRPr>
            </a:lvl8pPr>
            <a:lvl9pPr>
              <a:defRPr sz="20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53F"/>
                </a:solidFill>
              </a:defRPr>
            </a:pPr>
            <a:r>
              <a:rPr sz="2025" b="1">
                <a:solidFill>
                  <a:srgbClr val="14253F"/>
                </a:solidFill>
              </a:rPr>
              <a:t>Dijkstra: longitud del segmento en kilómetros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1B5EB-386B-4CB3-92A5-8D8B560D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8108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94652"/>
                </a:solidFill>
              </a:defRPr>
            </a:defPPr>
            <a:lvl1pPr>
              <a:defRPr sz="1875" b="0">
                <a:solidFill>
                  <a:srgbClr val="394652"/>
                </a:solidFill>
              </a:defRPr>
            </a:lvl1pPr>
            <a:lvl2pPr>
              <a:defRPr sz="1875" b="0">
                <a:solidFill>
                  <a:srgbClr val="394652"/>
                </a:solidFill>
              </a:defRPr>
            </a:lvl2pPr>
            <a:lvl3pPr>
              <a:defRPr sz="1875" b="0">
                <a:solidFill>
                  <a:srgbClr val="394652"/>
                </a:solidFill>
              </a:defRPr>
            </a:lvl3pPr>
            <a:lvl4pPr>
              <a:defRPr sz="1875" b="0">
                <a:solidFill>
                  <a:srgbClr val="394652"/>
                </a:solidFill>
              </a:defRPr>
            </a:lvl4pPr>
            <a:lvl5pPr>
              <a:defRPr sz="1875" b="0">
                <a:solidFill>
                  <a:srgbClr val="394652"/>
                </a:solidFill>
              </a:defRPr>
            </a:lvl5pPr>
            <a:lvl6pPr>
              <a:defRPr sz="1875" b="0">
                <a:solidFill>
                  <a:srgbClr val="394652"/>
                </a:solidFill>
              </a:defRPr>
            </a:lvl6pPr>
            <a:lvl7pPr>
              <a:defRPr sz="1875" b="0">
                <a:solidFill>
                  <a:srgbClr val="394652"/>
                </a:solidFill>
              </a:defRPr>
            </a:lvl7pPr>
            <a:lvl8pPr>
              <a:defRPr sz="1875" b="0">
                <a:solidFill>
                  <a:srgbClr val="394652"/>
                </a:solidFill>
              </a:defRPr>
            </a:lvl8pPr>
            <a:lvl9pPr>
              <a:defRPr sz="1875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94652"/>
                </a:solidFill>
              </a:defRPr>
            </a:pPr>
            <a:r>
              <a:rPr sz="1875" b="0">
                <a:solidFill>
                  <a:srgbClr val="394652"/>
                </a:solidFill>
              </a:rPr>
              <a:t>Propuesta: longitud × factor de viento × (1 + peso de riesgo × puntaje) × penalización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9FFE7-ACBE-4B2A-B018-A99FB7B7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El costo ordena rutas; la distancia recorrida se sigue informando en kilómetros. El puntaje no es probabilidad calibrada.</a:t>
            </a:r>
          </a:p>
        </p:txBody>
      </p:sp>
    </p:spTree>
    <p:extLst>
      <p:ext uri="{BB962C8B-B14F-4D97-AF65-F5344CB8AC3E}">
        <p14:creationId xmlns:p14="http://schemas.microsoft.com/office/powerpoint/2010/main" val="21276687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61899-6DEB-4158-9600-25A01C33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FDFB6-D0E8-464A-98FF-58661CEA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GENERACIÓN DE CANDIDATAS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F8E21-1100-45E5-B245-3F05A4B6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Yen propone rutas; el grupo selecciona el par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ABC63-7C9B-4C45-A512-FB9AF64A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Yen (1971); 05_T2/ruteo/algoritmos.py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EB07D-4DB4-481A-9C34-C9A7578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1C377-7AB8-4D1F-8288-1F40E92B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72A68-E25F-4E45-8C39-B583ED50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1220F-8615-4DA2-89A9-845B422F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Candidatas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FFD0B-3A6A-45CD-97DD-B554DC0B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pgr_KSP obtiene hasta ocho caminos simples para un tramo.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2A564-542D-45A4-BA4F-8B524266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Filtro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732EE-896C-4442-94FB-E0277821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Se descartan rutas fuera del desvío α o del presupuesto restante.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3424A-CC63-470D-95F6-7EFD4DFC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Selección propia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A8E69-EC10-4895-9152-BB41220A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Entre pares válidos se ponderan longitud, cercanía espacial y puntaje contextual.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6B78A-08C2-4C74-90A9-C1EB5261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Yen enumera caminos; la regla de selección y la reacción a fallas pertenecen a esta propuesta.</a:t>
            </a:r>
          </a:p>
        </p:txBody>
      </p:sp>
    </p:spTree>
    <p:extLst>
      <p:ext uri="{BB962C8B-B14F-4D97-AF65-F5344CB8AC3E}">
        <p14:creationId xmlns:p14="http://schemas.microsoft.com/office/powerpoint/2010/main" val="14188524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C326A-A913-4D28-8FCE-7E8086F2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2AFA4-EBE1-480C-9BB8-2551F3C5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LÍNEA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1CCFA-E146-4923-99BE-54012219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Dos rutas Dijkstra con costo en km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1C0A9-0AA5-4EC4-BE6F-F420657A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05_T2/comun/rutas.py; criterio pgr_dijkstra de la rúbrica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CB52C-4C5B-4CF8-8EC4-E515B443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98F0B-5A02-4800-AFD9-9C7089A1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ECEF4-5AD9-49B2-8B86-EA1064CE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E668E-0CEB-41BC-87AF-073B8EF7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Ruta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DAA2E-2D5E-4870-9E9F-F8EB5FAE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Camino de menor longitud entre el origen y el destino del tramo.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2D3FB-77E4-4BBB-B853-809BEE3A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Ruta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DCC7B-9BDA-4990-9AE7-B8BB721B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Nueva búsqueda tras excluir las aristas de la primera ruta.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B901C-C64A-44E9-8FD6-91251653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Si esa exclusión desconecta el par, el código usa un respaldo con penalización ×10. Ese caso debe reportarse aparte.</a:t>
            </a:r>
          </a:p>
        </p:txBody>
      </p:sp>
    </p:spTree>
    <p:extLst>
      <p:ext uri="{BB962C8B-B14F-4D97-AF65-F5344CB8AC3E}">
        <p14:creationId xmlns:p14="http://schemas.microsoft.com/office/powerpoint/2010/main" val="10993668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C445B-569F-4809-86C5-D3D1FCFE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C9385-3910-4069-8A87-D9E17B79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PAR PROPUESTO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EA878-1D0C-411B-8411-64C9C137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La alternativa busca separación física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3D2AA-35EE-462C-890C-4210D0E9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05_T2/ruteo/algoritmos.py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0B4F9-8210-460A-96A7-623645E7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29403-FA69-4360-A916-20EB4DE8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50D0A-1B8E-4D15-BE23-5E6E0E7D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54CD2-EC45-48A4-AA48-17F5F214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Principal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A2E61-6815-44F2-9F15-15F0A115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Ruta seleccionada por costo contextual y condiciones de admisibilidad.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32AB8-A759-45CD-A50B-5C89F432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Alternativa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1011E-250D-449E-B1F1-66C75E50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Otra candidata que procura evitar el mismo corredor y reducir fallas compartidas.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06098-FFD7-4969-83C3-F00D111B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53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9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9DF49-4116-4E6D-8825-665E473E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ESPACIO PARA IMAGEN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74007-C931-4D30-947E-77F49A1D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057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707B"/>
                </a:solidFill>
              </a:defRPr>
            </a:defPPr>
            <a:lvl1pPr>
              <a:defRPr sz="1575" b="0">
                <a:solidFill>
                  <a:srgbClr val="60707B"/>
                </a:solidFill>
              </a:defRPr>
            </a:lvl1pPr>
            <a:lvl2pPr>
              <a:defRPr sz="1575" b="0">
                <a:solidFill>
                  <a:srgbClr val="60707B"/>
                </a:solidFill>
              </a:defRPr>
            </a:lvl2pPr>
            <a:lvl3pPr>
              <a:defRPr sz="1575" b="0">
                <a:solidFill>
                  <a:srgbClr val="60707B"/>
                </a:solidFill>
              </a:defRPr>
            </a:lvl3pPr>
            <a:lvl4pPr>
              <a:defRPr sz="1575" b="0">
                <a:solidFill>
                  <a:srgbClr val="60707B"/>
                </a:solidFill>
              </a:defRPr>
            </a:lvl4pPr>
            <a:lvl5pPr>
              <a:defRPr sz="1575" b="0">
                <a:solidFill>
                  <a:srgbClr val="60707B"/>
                </a:solidFill>
              </a:defRPr>
            </a:lvl5pPr>
            <a:lvl6pPr>
              <a:defRPr sz="1575" b="0">
                <a:solidFill>
                  <a:srgbClr val="60707B"/>
                </a:solidFill>
              </a:defRPr>
            </a:lvl6pPr>
            <a:lvl7pPr>
              <a:defRPr sz="1575" b="0">
                <a:solidFill>
                  <a:srgbClr val="60707B"/>
                </a:solidFill>
              </a:defRPr>
            </a:lvl7pPr>
            <a:lvl8pPr>
              <a:defRPr sz="1575" b="0">
                <a:solidFill>
                  <a:srgbClr val="60707B"/>
                </a:solidFill>
              </a:defRPr>
            </a:lvl8pPr>
            <a:lvl9pPr>
              <a:defRPr sz="15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707B"/>
                </a:solidFill>
              </a:defRPr>
            </a:pPr>
            <a:r>
              <a:rPr sz="1575" b="0">
                <a:solidFill>
                  <a:srgbClr val="60707B"/>
                </a:solidFill>
              </a:rPr>
              <a:t>Mapa de dos rutas calculadas para el mismo origen y destino</a:t>
            </a:r>
          </a:p>
        </p:txBody>
      </p:sp>
    </p:spTree>
    <p:extLst>
      <p:ext uri="{BB962C8B-B14F-4D97-AF65-F5344CB8AC3E}">
        <p14:creationId xmlns:p14="http://schemas.microsoft.com/office/powerpoint/2010/main" val="12711136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79B42-6C3B-4153-98AD-489AEDD0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96CC5-6B19-4F21-807B-8600E714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REPLANIFICACIÓN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9EB1A-9FF2-4E03-A4B2-05BA329D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Una falla se atiende desde la posición actual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F5CD1-94B3-4FF3-AB94-084FB7EB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05_T2/ruteo/simulador.py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2FDAD-1E2F-477A-9264-F6B150C6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66A05-76B1-4E8D-95C5-14A263F8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829D1-BB9B-4721-95CC-8735000E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98DDF-BFB6-42C1-9C0B-C0530E97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Detección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23FEE-D71F-4B26-B138-64CF7617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El UAV registra el bloqueo de una arista incidente al nodo alcanzado.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FBD73-036B-47D0-AA1C-47012134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Entorno cercano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1006B-036A-46F0-83F6-D0FEEE2D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Se penalizan tramos dentro de ρ = 0,6 km; el factor por defecto es 1 + γ = 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5531F-C0EF-4457-A555-4655208D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0097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Nueva ruta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0A708-4E6D-4063-9619-9CBE1E5E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717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Dijkstra recalcula desde el nodo actual hacia el siguiente punto obligatorio.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DB769-AFDC-416B-BB95-FD87CA08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El simulador conserva la distancia ya recorrida y controla el presupuesto disponible.</a:t>
            </a:r>
          </a:p>
        </p:txBody>
      </p:sp>
    </p:spTree>
    <p:extLst>
      <p:ext uri="{BB962C8B-B14F-4D97-AF65-F5344CB8AC3E}">
        <p14:creationId xmlns:p14="http://schemas.microsoft.com/office/powerpoint/2010/main" val="4771100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2146D-7282-4DD5-A1FE-B5F0971C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7CB98-617A-4ECC-AF6F-22040CAE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EVALUACIÓN PAREADA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5E608-63F7-401A-A143-F6DC304E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Resiliencia del par y finalización de misión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5ED53-A4B8-4D09-954B-B61662C3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05_T2/experimentos/run_experimentos.py; resultados de ajuste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0C241-4068-4973-911F-0DC23C8C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5B655-B93D-4DB6-A46B-05425FEC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F924C-38B2-4284-8090-D72D1527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C043F-F55F-43BA-817E-D3D4DE81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R_par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ADBFD-E2C8-4535-9A4D-C071E147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Fracción de escenarios donde al menos una de las dos rutas precalculadas sigue libre.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AC88B-56EE-47DE-A033-5D396386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9335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R_misión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E10A2-D9C9-4FA4-8322-63AC4810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955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Fracción que visita los tres puntos y llega al destino dentro del presupuesto.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BA853-A686-44A9-BA6A-28E8C458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933575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Controles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93FCB-74BE-43DF-87C7-51C71802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295525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A: par Dijkstra fijo. D: Dijkstra con replanificación. C: método propuesto.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7D469-2962-43AB-A04C-23FD157A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En ajuste con cinco fallas y β = 0,60: A 87 %, D 96 %, C 97 %. La evaluación reservada sigue pendiente.</a:t>
            </a:r>
          </a:p>
        </p:txBody>
      </p:sp>
    </p:spTree>
    <p:extLst>
      <p:ext uri="{BB962C8B-B14F-4D97-AF65-F5344CB8AC3E}">
        <p14:creationId xmlns:p14="http://schemas.microsoft.com/office/powerpoint/2010/main" val="2530374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AE357-194D-425B-B750-69EC9519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E4840-8170-42D5-9005-98C36DB3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CORRECCIÓN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1DF1E-BD13-42C2-9C54-5AB6058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El ejemplo de la base debe regenerarse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376F0-FD39-4486-BBC3-3C2C44E8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05_T2/comun/resiliencia.py; commit abbfbc4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1A7FB-EB59-4A4E-B088-7F8C3051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7A486-4FBC-474F-AFAA-467F97E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CD0CA-5AB3-4940-B15C-D7D5D531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3A970-2F26-4BDA-8E3E-F599874E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Descarga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F2655-831F-4C54-B1CF-F03465B8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La fuente de focos abarcó el área de interés y un margen de 5 km.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0BB94-08E6-47EC-90D1-FCCB1170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002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Consulta anterior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D0C6E-141C-4C6B-97D5-3CBA2BC4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622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focos_bd buscaba solo dentro del área estricta y usó un respaldo histórico.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56E41-3ADC-473F-A28C-912B066D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0002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Corrección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8785C-64ED-4B3A-AE35-0086BBB8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622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La consulta ahora incluye el margen. Faltan nuevas cifras para el ejemplo BD y el sitio.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44B22-3D3B-4FF3-A730-9B17F74F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Los JSON de experimentos Python usan focos sintéticos y no dependen de ese arreglo.</a:t>
            </a:r>
          </a:p>
        </p:txBody>
      </p:sp>
    </p:spTree>
    <p:extLst>
      <p:ext uri="{BB962C8B-B14F-4D97-AF65-F5344CB8AC3E}">
        <p14:creationId xmlns:p14="http://schemas.microsoft.com/office/powerpoint/2010/main" val="20120913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B6A94-175B-4168-B153-127C0809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E1ADD-210D-4D99-BAE8-E71FC5AB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PLATAFORMA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F77C7-29F0-4719-8143-C23500C8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Consulta de rutas sobre el mapa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35D25-5433-4073-9E96-E65BF701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05_T2/SitioWeb/app.py; SitioWeb/static/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F8EBD-DF39-41FA-B40A-CC1FA5D4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50B89-1675-4452-A3CB-14E9E564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F9D04-953B-43BD-8E8B-5F8C2A45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A7BB3-4208-423E-ACA2-34D9B2B1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94652"/>
                </a:solidFill>
              </a:defRPr>
            </a:defPPr>
            <a:lvl1pPr>
              <a:defRPr sz="1725" b="0">
                <a:solidFill>
                  <a:srgbClr val="394652"/>
                </a:solidFill>
              </a:defRPr>
            </a:lvl1pPr>
            <a:lvl2pPr>
              <a:defRPr sz="1725" b="0">
                <a:solidFill>
                  <a:srgbClr val="394652"/>
                </a:solidFill>
              </a:defRPr>
            </a:lvl2pPr>
            <a:lvl3pPr>
              <a:defRPr sz="1725" b="0">
                <a:solidFill>
                  <a:srgbClr val="394652"/>
                </a:solidFill>
              </a:defRPr>
            </a:lvl3pPr>
            <a:lvl4pPr>
              <a:defRPr sz="1725" b="0">
                <a:solidFill>
                  <a:srgbClr val="394652"/>
                </a:solidFill>
              </a:defRPr>
            </a:lvl4pPr>
            <a:lvl5pPr>
              <a:defRPr sz="1725" b="0">
                <a:solidFill>
                  <a:srgbClr val="394652"/>
                </a:solidFill>
              </a:defRPr>
            </a:lvl5pPr>
            <a:lvl6pPr>
              <a:defRPr sz="1725" b="0">
                <a:solidFill>
                  <a:srgbClr val="394652"/>
                </a:solidFill>
              </a:defRPr>
            </a:lvl6pPr>
            <a:lvl7pPr>
              <a:defRPr sz="1725" b="0">
                <a:solidFill>
                  <a:srgbClr val="394652"/>
                </a:solidFill>
              </a:defRPr>
            </a:lvl7pPr>
            <a:lvl8pPr>
              <a:defRPr sz="1725" b="0">
                <a:solidFill>
                  <a:srgbClr val="394652"/>
                </a:solidFill>
              </a:defRPr>
            </a:lvl8pPr>
            <a:lvl9pPr>
              <a:defRPr sz="1725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94652"/>
                </a:solidFill>
              </a:defRPr>
            </a:pPr>
            <a:r>
              <a:rPr sz="1725" b="0">
                <a:solidFill>
                  <a:srgbClr val="394652"/>
                </a:solidFill>
              </a:rPr>
              <a:t>La interfaz Leaflet permite elegir un origen y un destino, ajustar preferencias y consultar dos pares de rutas con métricas del tramo.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BC91C-7190-4869-99E8-DDE70892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9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C21AD-2516-4899-A459-1959A0BF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ESPACIO PARA IMAGEN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9209A-A608-4860-BA51-76B2C6B2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10591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707B"/>
                </a:solidFill>
              </a:defRPr>
            </a:defPPr>
            <a:lvl1pPr>
              <a:defRPr sz="1575" b="0">
                <a:solidFill>
                  <a:srgbClr val="60707B"/>
                </a:solidFill>
              </a:defRPr>
            </a:lvl1pPr>
            <a:lvl2pPr>
              <a:defRPr sz="1575" b="0">
                <a:solidFill>
                  <a:srgbClr val="60707B"/>
                </a:solidFill>
              </a:defRPr>
            </a:lvl2pPr>
            <a:lvl3pPr>
              <a:defRPr sz="1575" b="0">
                <a:solidFill>
                  <a:srgbClr val="60707B"/>
                </a:solidFill>
              </a:defRPr>
            </a:lvl3pPr>
            <a:lvl4pPr>
              <a:defRPr sz="1575" b="0">
                <a:solidFill>
                  <a:srgbClr val="60707B"/>
                </a:solidFill>
              </a:defRPr>
            </a:lvl4pPr>
            <a:lvl5pPr>
              <a:defRPr sz="1575" b="0">
                <a:solidFill>
                  <a:srgbClr val="60707B"/>
                </a:solidFill>
              </a:defRPr>
            </a:lvl5pPr>
            <a:lvl6pPr>
              <a:defRPr sz="1575" b="0">
                <a:solidFill>
                  <a:srgbClr val="60707B"/>
                </a:solidFill>
              </a:defRPr>
            </a:lvl6pPr>
            <a:lvl7pPr>
              <a:defRPr sz="1575" b="0">
                <a:solidFill>
                  <a:srgbClr val="60707B"/>
                </a:solidFill>
              </a:defRPr>
            </a:lvl7pPr>
            <a:lvl8pPr>
              <a:defRPr sz="1575" b="0">
                <a:solidFill>
                  <a:srgbClr val="60707B"/>
                </a:solidFill>
              </a:defRPr>
            </a:lvl8pPr>
            <a:lvl9pPr>
              <a:defRPr sz="15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707B"/>
                </a:solidFill>
              </a:defRPr>
            </a:pPr>
            <a:r>
              <a:rPr sz="1575" b="0">
                <a:solidFill>
                  <a:srgbClr val="60707B"/>
                </a:solidFill>
              </a:rPr>
              <a:t>Captura del mapa con rutas A y C y diferencia de resiliencia</a:t>
            </a:r>
          </a:p>
        </p:txBody>
      </p:sp>
    </p:spTree>
    <p:extLst>
      <p:ext uri="{BB962C8B-B14F-4D97-AF65-F5344CB8AC3E}">
        <p14:creationId xmlns:p14="http://schemas.microsoft.com/office/powerpoint/2010/main" val="11360641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6E471-939F-4C11-80B2-DEB79637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FC51F-6C2D-42CC-9D86-B7241A2E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CONTROLES DEL SITIO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544C9-4CE8-4CD8-93EA-0F07A6D4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Cómo se solicita una comparación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B23E4-49DC-49A0-8502-FEAFCC53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05_T2/SitioWeb/static/; comportamiento a verificar en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E5E4D-83F6-4891-9CB8-F0A40439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EFC0E-C29E-4B86-BFC5-7A8ADCB3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9B7F8-3CD6-4111-B26F-20319615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891CE-67AE-4FB4-A7C9-943DFEC1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1 · Origen y destino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60BE7-80F2-455E-9A2F-7E1551A2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La persona elige dos nodos del grafo.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A677F-6ED1-40BB-86CB-A2153F5C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002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2 · Preferencias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0936A-9AAF-4B04-A074-F2A7029A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622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Ajusta altura, viento, desvío y peso del riesgo.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1503A-6F71-49F5-9760-C434115C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000250"/>
            <a:ext cx="347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3 · Calcular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BFBBA-1A4C-4E6E-B76B-408C1B76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62200"/>
            <a:ext cx="3479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El servicio devuelve rutas y métricas para el par elegido.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C5A5D-34B6-4F41-B7ED-A0D3AF8D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La captura existente se tomó antes del cálculo; la versión de entrega debe mostrar rutas efectivamente calculadas.</a:t>
            </a:r>
          </a:p>
        </p:txBody>
      </p:sp>
    </p:spTree>
    <p:extLst>
      <p:ext uri="{BB962C8B-B14F-4D97-AF65-F5344CB8AC3E}">
        <p14:creationId xmlns:p14="http://schemas.microsoft.com/office/powerpoint/2010/main" val="8838423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88169-C39B-47B7-820F-6F1DAF76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107F8-C7E1-4AE0-9790-D6075C98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0AEFC-9535-4143-8AB7-FC6DBD2A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La comparación final sigue pendiente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CE8D4-F324-4025-8D19-D80A79DB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05_T2/README.md; resultados de ajuste y corrección de focos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4ED16-27DB-4F06-901F-F1E362E0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9923F-1C93-4650-B645-99E198EF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FB210-5152-4770-BC00-EB6241AC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BC54A-C05B-4974-8902-36F25310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097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94652"/>
                </a:solidFill>
              </a:defRPr>
            </a:defPPr>
            <a:lvl1pPr>
              <a:defRPr sz="1875" b="0">
                <a:solidFill>
                  <a:srgbClr val="394652"/>
                </a:solidFill>
              </a:defRPr>
            </a:lvl1pPr>
            <a:lvl2pPr>
              <a:defRPr sz="1875" b="0">
                <a:solidFill>
                  <a:srgbClr val="394652"/>
                </a:solidFill>
              </a:defRPr>
            </a:lvl2pPr>
            <a:lvl3pPr>
              <a:defRPr sz="1875" b="0">
                <a:solidFill>
                  <a:srgbClr val="394652"/>
                </a:solidFill>
              </a:defRPr>
            </a:lvl3pPr>
            <a:lvl4pPr>
              <a:defRPr sz="1875" b="0">
                <a:solidFill>
                  <a:srgbClr val="394652"/>
                </a:solidFill>
              </a:defRPr>
            </a:lvl4pPr>
            <a:lvl5pPr>
              <a:defRPr sz="1875" b="0">
                <a:solidFill>
                  <a:srgbClr val="394652"/>
                </a:solidFill>
              </a:defRPr>
            </a:lvl5pPr>
            <a:lvl6pPr>
              <a:defRPr sz="1875" b="0">
                <a:solidFill>
                  <a:srgbClr val="394652"/>
                </a:solidFill>
              </a:defRPr>
            </a:lvl6pPr>
            <a:lvl7pPr>
              <a:defRPr sz="1875" b="0">
                <a:solidFill>
                  <a:srgbClr val="394652"/>
                </a:solidFill>
              </a:defRPr>
            </a:lvl7pPr>
            <a:lvl8pPr>
              <a:defRPr sz="1875" b="0">
                <a:solidFill>
                  <a:srgbClr val="394652"/>
                </a:solidFill>
              </a:defRPr>
            </a:lvl8pPr>
            <a:lvl9pPr>
              <a:defRPr sz="1875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94652"/>
                </a:solidFill>
              </a:defRPr>
            </a:pPr>
            <a:r>
              <a:rPr sz="1875" b="0">
                <a:solidFill>
                  <a:srgbClr val="394652"/>
                </a:solidFill>
              </a:rPr>
              <a:t>El prototipo integra un grafo físico, datos geoespaciales, dos métodos de rutas y fallas simuladas. En ajuste, C mejora al par fijo, pero no supera de forma consistente a Dijkstra que también replantea.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742B6-ED6E-4C52-A8A9-005D7CF9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Ya comprobado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91CC5-4E3D-4449-A73E-70604690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Primera corrida ETL y resultados del conjunto de ajuste.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21FAA-16BD-4DA0-B05D-33F1FB19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9525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D80"/>
                </a:solidFill>
              </a:defRPr>
            </a:defPPr>
            <a:lvl1pPr>
              <a:defRPr sz="1425" b="1">
                <a:solidFill>
                  <a:srgbClr val="087D80"/>
                </a:solidFill>
              </a:defRPr>
            </a:lvl1pPr>
            <a:lvl2pPr>
              <a:defRPr sz="1425" b="1">
                <a:solidFill>
                  <a:srgbClr val="087D80"/>
                </a:solidFill>
              </a:defRPr>
            </a:lvl2pPr>
            <a:lvl3pPr>
              <a:defRPr sz="1425" b="1">
                <a:solidFill>
                  <a:srgbClr val="087D80"/>
                </a:solidFill>
              </a:defRPr>
            </a:lvl3pPr>
            <a:lvl4pPr>
              <a:defRPr sz="1425" b="1">
                <a:solidFill>
                  <a:srgbClr val="087D80"/>
                </a:solidFill>
              </a:defRPr>
            </a:lvl4pPr>
            <a:lvl5pPr>
              <a:defRPr sz="1425" b="1">
                <a:solidFill>
                  <a:srgbClr val="087D80"/>
                </a:solidFill>
              </a:defRPr>
            </a:lvl5pPr>
            <a:lvl6pPr>
              <a:defRPr sz="1425" b="1">
                <a:solidFill>
                  <a:srgbClr val="087D80"/>
                </a:solidFill>
              </a:defRPr>
            </a:lvl6pPr>
            <a:lvl7pPr>
              <a:defRPr sz="1425" b="1">
                <a:solidFill>
                  <a:srgbClr val="087D80"/>
                </a:solidFill>
              </a:defRPr>
            </a:lvl7pPr>
            <a:lvl8pPr>
              <a:defRPr sz="1425" b="1">
                <a:solidFill>
                  <a:srgbClr val="087D80"/>
                </a:solidFill>
              </a:defRPr>
            </a:lvl8pPr>
            <a:lvl9pPr>
              <a:defRPr sz="1425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D80"/>
                </a:solidFill>
              </a:defRPr>
            </a:pPr>
            <a:r>
              <a:rPr sz="1425" b="1">
                <a:solidFill>
                  <a:srgbClr val="087D80"/>
                </a:solidFill>
              </a:rPr>
              <a:t>Por cerrar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8D222-1CC3-46EA-B18B-2958EB5B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81475"/>
            <a:ext cx="535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94652"/>
                </a:solidFill>
              </a:defRPr>
            </a:defPPr>
            <a:lvl1pPr>
              <a:defRPr sz="1650" b="0">
                <a:solidFill>
                  <a:srgbClr val="394652"/>
                </a:solidFill>
              </a:defRPr>
            </a:lvl1pPr>
            <a:lvl2pPr>
              <a:defRPr sz="1650" b="0">
                <a:solidFill>
                  <a:srgbClr val="394652"/>
                </a:solidFill>
              </a:defRPr>
            </a:lvl2pPr>
            <a:lvl3pPr>
              <a:defRPr sz="1650" b="0">
                <a:solidFill>
                  <a:srgbClr val="394652"/>
                </a:solidFill>
              </a:defRPr>
            </a:lvl3pPr>
            <a:lvl4pPr>
              <a:defRPr sz="1650" b="0">
                <a:solidFill>
                  <a:srgbClr val="394652"/>
                </a:solidFill>
              </a:defRPr>
            </a:lvl4pPr>
            <a:lvl5pPr>
              <a:defRPr sz="1650" b="0">
                <a:solidFill>
                  <a:srgbClr val="394652"/>
                </a:solidFill>
              </a:defRPr>
            </a:lvl5pPr>
            <a:lvl6pPr>
              <a:defRPr sz="1650" b="0">
                <a:solidFill>
                  <a:srgbClr val="394652"/>
                </a:solidFill>
              </a:defRPr>
            </a:lvl6pPr>
            <a:lvl7pPr>
              <a:defRPr sz="1650" b="0">
                <a:solidFill>
                  <a:srgbClr val="394652"/>
                </a:solidFill>
              </a:defRPr>
            </a:lvl7pPr>
            <a:lvl8pPr>
              <a:defRPr sz="1650" b="0">
                <a:solidFill>
                  <a:srgbClr val="394652"/>
                </a:solidFill>
              </a:defRPr>
            </a:lvl8pPr>
            <a:lvl9pPr>
              <a:defRPr sz="1650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94652"/>
                </a:solidFill>
              </a:defRPr>
            </a:pPr>
            <a:r>
              <a:rPr sz="1650" b="0">
                <a:solidFill>
                  <a:srgbClr val="394652"/>
                </a:solidFill>
              </a:rPr>
              <a:t>Regenerar el ejemplo de BD, comprobar la interfaz y ejecutar la evaluación reservada.</a:t>
            </a:r>
          </a:p>
        </p:txBody>
      </p:sp>
    </p:spTree>
    <p:extLst>
      <p:ext uri="{BB962C8B-B14F-4D97-AF65-F5344CB8AC3E}">
        <p14:creationId xmlns:p14="http://schemas.microsoft.com/office/powerpoint/2010/main" val="17532657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00964-8BF7-4755-842F-18AC6392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CFF21-7167-415E-BB8D-39E1216D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D80"/>
                </a:solidFill>
              </a:defRPr>
            </a:defPPr>
            <a:lvl1pPr>
              <a:defRPr sz="1050" b="1">
                <a:solidFill>
                  <a:srgbClr val="087D80"/>
                </a:solidFill>
              </a:defRPr>
            </a:lvl1pPr>
            <a:lvl2pPr>
              <a:defRPr sz="1050" b="1">
                <a:solidFill>
                  <a:srgbClr val="087D80"/>
                </a:solidFill>
              </a:defRPr>
            </a:lvl2pPr>
            <a:lvl3pPr>
              <a:defRPr sz="1050" b="1">
                <a:solidFill>
                  <a:srgbClr val="087D80"/>
                </a:solidFill>
              </a:defRPr>
            </a:lvl3pPr>
            <a:lvl4pPr>
              <a:defRPr sz="1050" b="1">
                <a:solidFill>
                  <a:srgbClr val="087D80"/>
                </a:solidFill>
              </a:defRPr>
            </a:lvl4pPr>
            <a:lvl5pPr>
              <a:defRPr sz="1050" b="1">
                <a:solidFill>
                  <a:srgbClr val="087D80"/>
                </a:solidFill>
              </a:defRPr>
            </a:lvl5pPr>
            <a:lvl6pPr>
              <a:defRPr sz="1050" b="1">
                <a:solidFill>
                  <a:srgbClr val="087D80"/>
                </a:solidFill>
              </a:defRPr>
            </a:lvl6pPr>
            <a:lvl7pPr>
              <a:defRPr sz="1050" b="1">
                <a:solidFill>
                  <a:srgbClr val="087D80"/>
                </a:solidFill>
              </a:defRPr>
            </a:lvl7pPr>
            <a:lvl8pPr>
              <a:defRPr sz="1050" b="1">
                <a:solidFill>
                  <a:srgbClr val="087D80"/>
                </a:solidFill>
              </a:defRPr>
            </a:lvl8pPr>
            <a:lvl9pPr>
              <a:defRPr sz="105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87D80"/>
                </a:solidFill>
              </a:defRPr>
            </a:pPr>
            <a:r>
              <a:rPr sz="1050" b="1">
                <a:solidFill>
                  <a:srgbClr val="087D80"/>
                </a:solidFill>
              </a:rPr>
              <a:t>REFERENCIAS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A8D20-F4CE-4FBF-8C8D-557D4CD1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53F"/>
                </a:solidFill>
              </a:defRPr>
            </a:defPPr>
            <a:lvl1pPr>
              <a:defRPr sz="2625" b="1">
                <a:solidFill>
                  <a:srgbClr val="14253F"/>
                </a:solidFill>
              </a:defRPr>
            </a:lvl1pPr>
            <a:lvl2pPr>
              <a:defRPr sz="2625" b="1">
                <a:solidFill>
                  <a:srgbClr val="14253F"/>
                </a:solidFill>
              </a:defRPr>
            </a:lvl2pPr>
            <a:lvl3pPr>
              <a:defRPr sz="2625" b="1">
                <a:solidFill>
                  <a:srgbClr val="14253F"/>
                </a:solidFill>
              </a:defRPr>
            </a:lvl3pPr>
            <a:lvl4pPr>
              <a:defRPr sz="2625" b="1">
                <a:solidFill>
                  <a:srgbClr val="14253F"/>
                </a:solidFill>
              </a:defRPr>
            </a:lvl4pPr>
            <a:lvl5pPr>
              <a:defRPr sz="2625" b="1">
                <a:solidFill>
                  <a:srgbClr val="14253F"/>
                </a:solidFill>
              </a:defRPr>
            </a:lvl5pPr>
            <a:lvl6pPr>
              <a:defRPr sz="2625" b="1">
                <a:solidFill>
                  <a:srgbClr val="14253F"/>
                </a:solidFill>
              </a:defRPr>
            </a:lvl6pPr>
            <a:lvl7pPr>
              <a:defRPr sz="2625" b="1">
                <a:solidFill>
                  <a:srgbClr val="14253F"/>
                </a:solidFill>
              </a:defRPr>
            </a:lvl7pPr>
            <a:lvl8pPr>
              <a:defRPr sz="2625" b="1">
                <a:solidFill>
                  <a:srgbClr val="14253F"/>
                </a:solidFill>
              </a:defRPr>
            </a:lvl8pPr>
            <a:lvl9pPr>
              <a:defRPr sz="2625" b="1">
                <a:solidFill>
                  <a:srgbClr val="1425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53F"/>
                </a:solidFill>
              </a:defRPr>
            </a:pPr>
            <a:r>
              <a:rPr sz="2625" b="1">
                <a:solidFill>
                  <a:srgbClr val="14253F"/>
                </a:solidFill>
              </a:rPr>
              <a:t>Fuentes principales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21D90-E3E2-4621-8758-0BC2DF2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Bibliografía y procedencia: 05_T2/Informe_Tarea_2_Ruteo_Resiliente_UAV.tex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8846A-D5A6-4FD0-B42A-3EA07F60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2E138-E2E1-477A-B99B-71583D80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0707B"/>
                </a:solidFill>
              </a:defRPr>
            </a:defPPr>
            <a:lvl1pPr>
              <a:defRPr sz="975" b="0">
                <a:solidFill>
                  <a:srgbClr val="60707B"/>
                </a:solidFill>
              </a:defRPr>
            </a:lvl1pPr>
            <a:lvl2pPr>
              <a:defRPr sz="975" b="0">
                <a:solidFill>
                  <a:srgbClr val="60707B"/>
                </a:solidFill>
              </a:defRPr>
            </a:lvl2pPr>
            <a:lvl3pPr>
              <a:defRPr sz="975" b="0">
                <a:solidFill>
                  <a:srgbClr val="60707B"/>
                </a:solidFill>
              </a:defRPr>
            </a:lvl3pPr>
            <a:lvl4pPr>
              <a:defRPr sz="975" b="0">
                <a:solidFill>
                  <a:srgbClr val="60707B"/>
                </a:solidFill>
              </a:defRPr>
            </a:lvl4pPr>
            <a:lvl5pPr>
              <a:defRPr sz="975" b="0">
                <a:solidFill>
                  <a:srgbClr val="60707B"/>
                </a:solidFill>
              </a:defRPr>
            </a:lvl5pPr>
            <a:lvl6pPr>
              <a:defRPr sz="975" b="0">
                <a:solidFill>
                  <a:srgbClr val="60707B"/>
                </a:solidFill>
              </a:defRPr>
            </a:lvl6pPr>
            <a:lvl7pPr>
              <a:defRPr sz="975" b="0">
                <a:solidFill>
                  <a:srgbClr val="60707B"/>
                </a:solidFill>
              </a:defRPr>
            </a:lvl7pPr>
            <a:lvl8pPr>
              <a:defRPr sz="975" b="0">
                <a:solidFill>
                  <a:srgbClr val="60707B"/>
                </a:solidFill>
              </a:defRPr>
            </a:lvl8pPr>
            <a:lvl9pPr>
              <a:defRPr sz="9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7B"/>
                </a:solidFill>
              </a:defRPr>
            </a:pPr>
            <a:r>
              <a:rPr sz="975" b="0">
                <a:solidFill>
                  <a:srgbClr val="60707B"/>
                </a:solidFill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6F5C1-2F67-42F9-B848-F30ECDBC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0707B"/>
                </a:solidFill>
              </a:defRPr>
            </a:defPPr>
            <a:lvl1pPr>
              <a:defRPr sz="975" b="1">
                <a:solidFill>
                  <a:srgbClr val="60707B"/>
                </a:solidFill>
              </a:defRPr>
            </a:lvl1pPr>
            <a:lvl2pPr>
              <a:defRPr sz="975" b="1">
                <a:solidFill>
                  <a:srgbClr val="60707B"/>
                </a:solidFill>
              </a:defRPr>
            </a:lvl2pPr>
            <a:lvl3pPr>
              <a:defRPr sz="975" b="1">
                <a:solidFill>
                  <a:srgbClr val="60707B"/>
                </a:solidFill>
              </a:defRPr>
            </a:lvl3pPr>
            <a:lvl4pPr>
              <a:defRPr sz="975" b="1">
                <a:solidFill>
                  <a:srgbClr val="60707B"/>
                </a:solidFill>
              </a:defRPr>
            </a:lvl4pPr>
            <a:lvl5pPr>
              <a:defRPr sz="975" b="1">
                <a:solidFill>
                  <a:srgbClr val="60707B"/>
                </a:solidFill>
              </a:defRPr>
            </a:lvl5pPr>
            <a:lvl6pPr>
              <a:defRPr sz="975" b="1">
                <a:solidFill>
                  <a:srgbClr val="60707B"/>
                </a:solidFill>
              </a:defRPr>
            </a:lvl6pPr>
            <a:lvl7pPr>
              <a:defRPr sz="975" b="1">
                <a:solidFill>
                  <a:srgbClr val="60707B"/>
                </a:solidFill>
              </a:defRPr>
            </a:lvl7pPr>
            <a:lvl8pPr>
              <a:defRPr sz="975" b="1">
                <a:solidFill>
                  <a:srgbClr val="60707B"/>
                </a:solidFill>
              </a:defRPr>
            </a:lvl8pPr>
            <a:lvl9pPr>
              <a:defRPr sz="975" b="1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0707B"/>
                </a:solidFill>
              </a:defRPr>
            </a:pPr>
            <a:r>
              <a:rPr sz="975" b="1">
                <a:solidFill>
                  <a:srgbClr val="60707B"/>
                </a:solidFill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0588F-7B82-47A5-ABA4-354C78BD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87D80"/>
                </a:solidFill>
              </a:defRPr>
            </a:defPPr>
            <a:lvl1pPr>
              <a:defRPr sz="1500" b="1">
                <a:solidFill>
                  <a:srgbClr val="087D80"/>
                </a:solidFill>
              </a:defRPr>
            </a:lvl1pPr>
            <a:lvl2pPr>
              <a:defRPr sz="1500" b="1">
                <a:solidFill>
                  <a:srgbClr val="087D80"/>
                </a:solidFill>
              </a:defRPr>
            </a:lvl2pPr>
            <a:lvl3pPr>
              <a:defRPr sz="1500" b="1">
                <a:solidFill>
                  <a:srgbClr val="087D80"/>
                </a:solidFill>
              </a:defRPr>
            </a:lvl3pPr>
            <a:lvl4pPr>
              <a:defRPr sz="1500" b="1">
                <a:solidFill>
                  <a:srgbClr val="087D80"/>
                </a:solidFill>
              </a:defRPr>
            </a:lvl4pPr>
            <a:lvl5pPr>
              <a:defRPr sz="1500" b="1">
                <a:solidFill>
                  <a:srgbClr val="087D80"/>
                </a:solidFill>
              </a:defRPr>
            </a:lvl5pPr>
            <a:lvl6pPr>
              <a:defRPr sz="1500" b="1">
                <a:solidFill>
                  <a:srgbClr val="087D80"/>
                </a:solidFill>
              </a:defRPr>
            </a:lvl6pPr>
            <a:lvl7pPr>
              <a:defRPr sz="1500" b="1">
                <a:solidFill>
                  <a:srgbClr val="087D80"/>
                </a:solidFill>
              </a:defRPr>
            </a:lvl7pPr>
            <a:lvl8pPr>
              <a:defRPr sz="1500" b="1">
                <a:solidFill>
                  <a:srgbClr val="087D80"/>
                </a:solidFill>
              </a:defRPr>
            </a:lvl8pPr>
            <a:lvl9pPr>
              <a:defRPr sz="150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D80"/>
                </a:solidFill>
              </a:defRPr>
            </a:pPr>
            <a:r>
              <a:rPr sz="1500" b="1">
                <a:solidFill>
                  <a:srgbClr val="087D80"/>
                </a:solidFill>
              </a:rPr>
              <a:t>Algoritmos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447D6-FD86-4D41-8DAE-7486AC83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143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94652"/>
                </a:solidFill>
              </a:defRPr>
            </a:defPPr>
            <a:lvl1pPr>
              <a:defRPr sz="1425" b="0">
                <a:solidFill>
                  <a:srgbClr val="394652"/>
                </a:solidFill>
              </a:defRPr>
            </a:lvl1pPr>
            <a:lvl2pPr>
              <a:defRPr sz="1425" b="0">
                <a:solidFill>
                  <a:srgbClr val="394652"/>
                </a:solidFill>
              </a:defRPr>
            </a:lvl2pPr>
            <a:lvl3pPr>
              <a:defRPr sz="1425" b="0">
                <a:solidFill>
                  <a:srgbClr val="394652"/>
                </a:solidFill>
              </a:defRPr>
            </a:lvl3pPr>
            <a:lvl4pPr>
              <a:defRPr sz="1425" b="0">
                <a:solidFill>
                  <a:srgbClr val="394652"/>
                </a:solidFill>
              </a:defRPr>
            </a:lvl4pPr>
            <a:lvl5pPr>
              <a:defRPr sz="1425" b="0">
                <a:solidFill>
                  <a:srgbClr val="394652"/>
                </a:solidFill>
              </a:defRPr>
            </a:lvl5pPr>
            <a:lvl6pPr>
              <a:defRPr sz="1425" b="0">
                <a:solidFill>
                  <a:srgbClr val="394652"/>
                </a:solidFill>
              </a:defRPr>
            </a:lvl6pPr>
            <a:lvl7pPr>
              <a:defRPr sz="1425" b="0">
                <a:solidFill>
                  <a:srgbClr val="394652"/>
                </a:solidFill>
              </a:defRPr>
            </a:lvl7pPr>
            <a:lvl8pPr>
              <a:defRPr sz="1425" b="0">
                <a:solidFill>
                  <a:srgbClr val="394652"/>
                </a:solidFill>
              </a:defRPr>
            </a:lvl8pPr>
            <a:lvl9pPr>
              <a:defRPr sz="1425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94652"/>
                </a:solidFill>
              </a:defRPr>
            </a:pPr>
            <a:r>
              <a:rPr sz="1425" b="0">
                <a:solidFill>
                  <a:srgbClr val="394652"/>
                </a:solidFill>
              </a:rPr>
              <a:t>Yen (1971), k caminos simples</a:t>
            </a:r>
          </a:p>
          <a:p xmlns:a="http://schemas.openxmlformats.org/drawingml/2006/main">
            <a:pPr>
              <a:defRPr sz="1425" b="0">
                <a:solidFill>
                  <a:srgbClr val="394652"/>
                </a:solidFill>
              </a:defRPr>
            </a:pPr>
            <a:r>
              <a:rPr sz="1425" b="0">
                <a:solidFill>
                  <a:srgbClr val="394652"/>
                </a:solidFill>
              </a:rPr>
              <a:t>Zheng et al. (2024), CLUN-LSR</a:t>
            </a:r>
          </a:p>
          <a:p xmlns:a="http://schemas.openxmlformats.org/drawingml/2006/main">
            <a:pPr>
              <a:defRPr sz="1425" b="0">
                <a:solidFill>
                  <a:srgbClr val="394652"/>
                </a:solidFill>
              </a:defRPr>
            </a:pPr>
            <a:r>
              <a:rPr sz="1425" b="0">
                <a:solidFill>
                  <a:srgbClr val="394652"/>
                </a:solidFill>
              </a:rPr>
              <a:t>Luna et al. (2024), replanificación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AC334-508A-45F4-A906-86AD85B5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764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87D80"/>
                </a:solidFill>
              </a:defRPr>
            </a:defPPr>
            <a:lvl1pPr>
              <a:defRPr sz="1500" b="1">
                <a:solidFill>
                  <a:srgbClr val="087D80"/>
                </a:solidFill>
              </a:defRPr>
            </a:lvl1pPr>
            <a:lvl2pPr>
              <a:defRPr sz="1500" b="1">
                <a:solidFill>
                  <a:srgbClr val="087D80"/>
                </a:solidFill>
              </a:defRPr>
            </a:lvl2pPr>
            <a:lvl3pPr>
              <a:defRPr sz="1500" b="1">
                <a:solidFill>
                  <a:srgbClr val="087D80"/>
                </a:solidFill>
              </a:defRPr>
            </a:lvl3pPr>
            <a:lvl4pPr>
              <a:defRPr sz="1500" b="1">
                <a:solidFill>
                  <a:srgbClr val="087D80"/>
                </a:solidFill>
              </a:defRPr>
            </a:lvl4pPr>
            <a:lvl5pPr>
              <a:defRPr sz="1500" b="1">
                <a:solidFill>
                  <a:srgbClr val="087D80"/>
                </a:solidFill>
              </a:defRPr>
            </a:lvl5pPr>
            <a:lvl6pPr>
              <a:defRPr sz="1500" b="1">
                <a:solidFill>
                  <a:srgbClr val="087D80"/>
                </a:solidFill>
              </a:defRPr>
            </a:lvl6pPr>
            <a:lvl7pPr>
              <a:defRPr sz="1500" b="1">
                <a:solidFill>
                  <a:srgbClr val="087D80"/>
                </a:solidFill>
              </a:defRPr>
            </a:lvl7pPr>
            <a:lvl8pPr>
              <a:defRPr sz="1500" b="1">
                <a:solidFill>
                  <a:srgbClr val="087D80"/>
                </a:solidFill>
              </a:defRPr>
            </a:lvl8pPr>
            <a:lvl9pPr>
              <a:defRPr sz="1500" b="1">
                <a:solidFill>
                  <a:srgbClr val="087D8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D80"/>
                </a:solidFill>
              </a:defRPr>
            </a:pPr>
            <a:r>
              <a:rPr sz="1500" b="1">
                <a:solidFill>
                  <a:srgbClr val="087D80"/>
                </a:solidFill>
              </a:rPr>
              <a:t>Datos y contexto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C478B-C491-4A9C-9B9B-209CF2FF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257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394652"/>
                </a:solidFill>
              </a:defRPr>
            </a:defPPr>
            <a:lvl1pPr>
              <a:defRPr sz="1425" b="0">
                <a:solidFill>
                  <a:srgbClr val="394652"/>
                </a:solidFill>
              </a:defRPr>
            </a:lvl1pPr>
            <a:lvl2pPr>
              <a:defRPr sz="1425" b="0">
                <a:solidFill>
                  <a:srgbClr val="394652"/>
                </a:solidFill>
              </a:defRPr>
            </a:lvl2pPr>
            <a:lvl3pPr>
              <a:defRPr sz="1425" b="0">
                <a:solidFill>
                  <a:srgbClr val="394652"/>
                </a:solidFill>
              </a:defRPr>
            </a:lvl3pPr>
            <a:lvl4pPr>
              <a:defRPr sz="1425" b="0">
                <a:solidFill>
                  <a:srgbClr val="394652"/>
                </a:solidFill>
              </a:defRPr>
            </a:lvl4pPr>
            <a:lvl5pPr>
              <a:defRPr sz="1425" b="0">
                <a:solidFill>
                  <a:srgbClr val="394652"/>
                </a:solidFill>
              </a:defRPr>
            </a:lvl5pPr>
            <a:lvl6pPr>
              <a:defRPr sz="1425" b="0">
                <a:solidFill>
                  <a:srgbClr val="394652"/>
                </a:solidFill>
              </a:defRPr>
            </a:lvl6pPr>
            <a:lvl7pPr>
              <a:defRPr sz="1425" b="0">
                <a:solidFill>
                  <a:srgbClr val="394652"/>
                </a:solidFill>
              </a:defRPr>
            </a:lvl7pPr>
            <a:lvl8pPr>
              <a:defRPr sz="1425" b="0">
                <a:solidFill>
                  <a:srgbClr val="394652"/>
                </a:solidFill>
              </a:defRPr>
            </a:lvl8pPr>
            <a:lvl9pPr>
              <a:defRPr sz="1425" b="0">
                <a:solidFill>
                  <a:srgbClr val="394652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94652"/>
                </a:solidFill>
              </a:defRPr>
            </a:pPr>
            <a:r>
              <a:rPr sz="1425" b="0">
                <a:solidFill>
                  <a:srgbClr val="394652"/>
                </a:solidFill>
              </a:rPr>
              <a:t>UNOSAT; PNUD; Policía Nacional de Ucrania</a:t>
            </a:r>
          </a:p>
          <a:p xmlns:a="http://schemas.openxmlformats.org/drawingml/2006/main">
            <a:pPr>
              <a:defRPr sz="1425" b="0">
                <a:solidFill>
                  <a:srgbClr val="394652"/>
                </a:solidFill>
              </a:defRPr>
            </a:pPr>
            <a:r>
              <a:rPr sz="1425" b="0">
                <a:solidFill>
                  <a:srgbClr val="394652"/>
                </a:solidFill>
              </a:rPr>
              <a:t>OSM/Overpass; Open-Meteo</a:t>
            </a:r>
          </a:p>
          <a:p xmlns:a="http://schemas.openxmlformats.org/drawingml/2006/main">
            <a:pPr>
              <a:defRPr sz="1425" b="0">
                <a:solidFill>
                  <a:srgbClr val="394652"/>
                </a:solidFill>
              </a:defRPr>
            </a:pPr>
            <a:r>
              <a:rPr sz="1425" b="0">
                <a:solidFill>
                  <a:srgbClr val="394652"/>
                </a:solidFill>
              </a:rPr>
              <a:t>GPSJam; Economist/NASA FIRMS; UCDP 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7501F-C5A1-42B6-9E50-750DDB4F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25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07B"/>
                </a:solidFill>
              </a:defRPr>
            </a:defPPr>
            <a:lvl1pPr>
              <a:defRPr sz="1275" b="0">
                <a:solidFill>
                  <a:srgbClr val="60707B"/>
                </a:solidFill>
              </a:defRPr>
            </a:lvl1pPr>
            <a:lvl2pPr>
              <a:defRPr sz="1275" b="0">
                <a:solidFill>
                  <a:srgbClr val="60707B"/>
                </a:solidFill>
              </a:defRPr>
            </a:lvl2pPr>
            <a:lvl3pPr>
              <a:defRPr sz="1275" b="0">
                <a:solidFill>
                  <a:srgbClr val="60707B"/>
                </a:solidFill>
              </a:defRPr>
            </a:lvl3pPr>
            <a:lvl4pPr>
              <a:defRPr sz="1275" b="0">
                <a:solidFill>
                  <a:srgbClr val="60707B"/>
                </a:solidFill>
              </a:defRPr>
            </a:lvl4pPr>
            <a:lvl5pPr>
              <a:defRPr sz="1275" b="0">
                <a:solidFill>
                  <a:srgbClr val="60707B"/>
                </a:solidFill>
              </a:defRPr>
            </a:lvl5pPr>
            <a:lvl6pPr>
              <a:defRPr sz="1275" b="0">
                <a:solidFill>
                  <a:srgbClr val="60707B"/>
                </a:solidFill>
              </a:defRPr>
            </a:lvl6pPr>
            <a:lvl7pPr>
              <a:defRPr sz="1275" b="0">
                <a:solidFill>
                  <a:srgbClr val="60707B"/>
                </a:solidFill>
              </a:defRPr>
            </a:lvl7pPr>
            <a:lvl8pPr>
              <a:defRPr sz="1275" b="0">
                <a:solidFill>
                  <a:srgbClr val="60707B"/>
                </a:solidFill>
              </a:defRPr>
            </a:lvl8pPr>
            <a:lvl9pPr>
              <a:defRPr sz="1275" b="0">
                <a:solidFill>
                  <a:srgbClr val="60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7B"/>
                </a:solidFill>
              </a:defRPr>
            </a:pPr>
            <a:r>
              <a:rPr sz="1275" b="0">
                <a:solidFill>
                  <a:srgbClr val="60707B"/>
                </a:solidFill>
              </a:rPr>
              <a:t>El informe contiene las referencias completas. Las rutas y fallas del experimento son simuladas.</a:t>
            </a:r>
          </a:p>
        </p:txBody>
      </p:sp>
    </p:spTree>
    <p:extLst>
      <p:ext uri="{BB962C8B-B14F-4D97-AF65-F5344CB8AC3E}">
        <p14:creationId xmlns:p14="http://schemas.microsoft.com/office/powerpoint/2010/main" val="1879997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2026-10-20T03:52:41.5160000Z</dcterms:created>
  <dcterms:modified xsi:type="dcterms:W3CDTF">2026-10-20T03:52:41.5160000Z</dcterms:modified>
</coreProperties>
</file>