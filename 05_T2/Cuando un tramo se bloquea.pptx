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1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 · sin aviso</c:v>
                </c:pt>
              </c:strCache>
            </c:strRef>
          </c:tx>
          <c:spPr>
            <a:solidFill>
              <a:srgbClr val="2D6075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4B565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p_det = 1</c:v>
                  </c:pt>
                  <c:pt idx="1">
                    <c:v>p_det = 0,5</c:v>
                  </c:pt>
                  <c:pt idx="2">
                    <c:v>p_det = 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0.9467</c:v>
                </c:pt>
                <c:pt idx="1">
                  <c:v>0.6667</c:v>
                </c:pt>
                <c:pt idx="2">
                  <c:v>0.5733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D_A · aviso + Dijkstra</c:v>
                </c:pt>
              </c:strCache>
            </c:strRef>
          </c:tx>
          <c:spPr>
            <a:solidFill>
              <a:srgbClr val="AB432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4B565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p_det = 1</c:v>
                  </c:pt>
                  <c:pt idx="1">
                    <c:v>p_det = 0,5</c:v>
                  </c:pt>
                  <c:pt idx="2">
                    <c:v>p_det = 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0.95</c:v>
                </c:pt>
                <c:pt idx="1">
                  <c:v>0.8067</c:v>
                </c:pt>
                <c:pt idx="2">
                  <c:v>0.72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C_A · aviso + propuesta</c:v>
                </c:pt>
              </c:strCache>
            </c:strRef>
          </c:tx>
          <c:spPr>
            <a:solidFill>
              <a:srgbClr val="88621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4B565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p_det = 1</c:v>
                  </c:pt>
                  <c:pt idx="1">
                    <c:v>p_det = 0,5</c:v>
                  </c:pt>
                  <c:pt idx="2">
                    <c:v>p_det = 0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0.9667</c:v>
                </c:pt>
                <c:pt idx="1">
                  <c:v>0.8567</c:v>
                </c:pt>
                <c:pt idx="2">
                  <c:v>0.74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750" u="none">
                  <a:solidFill>
                    <a:srgbClr val="4B565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A9A90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02722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EDAD1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B565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50">
              <a:solidFill>
                <a:srgbClr val="202722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trabajo ya incluye la segunda etapa: una flota de 3 a 5 UAV que comparte el aviso de interferencia y replanifica en vuelo.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probabilidad 0,5 la falla se centra cerca de un foco (gaussiana, σ = 0,5 km); si no, al azar en el área.
Defecto pendiente (informe §IV): en la ruta que usa la base de datos y el sitio, los 15 incendios del período de evaluación quedan fuera de la caja de la malla (a 1,95–5,12 km de la red). El muestreo recorta la posición y el 100 % de las fallas con origen foco queda pegado al borde. No afecta a resultados/, que usa focos sintéticos dentro de la malla.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Auditoría del 22-oct-2026 (informe §IX): 83 tramos excluidos; 79 necesitan la altura del edificio y solo 4 se explican por el relieve. Un dato ausente no bloquea.
Viento: se compara la mediana de la ventana (6,43 m/s a la altura de vuelo) con el umbral de 12 m/s, así que nunca se activa; la ráfaga máxima (19,1 m/s a 10 m) sí lo superaría.
Zona restringida: el campo existe y el simulador lo evalúa, pero es falso en los 618 tramos. No es una restricción evaluada.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componente GNSS viene de GPSJam. El área (~44 km²) cabe entera en una celda H3 de ~1 775 km², así que los 618 tramos reciben 0,3333. Como el riesgo se agrega con 1 − ∏(1 − rᵢ), que es monótona, no cambia el orden de ningún tramo; solo sube el riesgo medio de ~0,18 a 0,4511.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Conjunto de ajuste (semillas 0–99), 5 fallas, β = 0,60 (informe, Tabla III): A completa 87 de 100 misiones, D 96 y C 97.
C − A = +10 pp (McNemar p = 0,013). C − D = +1 pp (p = 1): la ventaja frente a A se explica sobre todo por replanificar, no por la selección del par.
Con presupuesto ajustado (β = 0,10), C queda 7 pp por debajo de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corrección del 19-oct sigue en pie: focos_bd busca en la misma ventana (AOI + 5 km) que las descargas, y ya no se usan focos históricos.
Pero el 22-oct se detectó un efecto no previsto: los 15 incendios del período de evaluación están todos fuera de la caja de la malla (a 1,95–5,12 km de la red). El muestreo recorta la posición a la caja y las fallas con origen foco quedan pegadas al borde. Arreglo propuesto: volver a sortear el foco que cae fuera, o muestrear en AOI + buffer y conservar solo los discos que tocan algún tramo.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Reemplaza la captura de la «evaluación 8» del sitio: no se puede reproducir y usaba focos que caen fuera de la malla.
Cifras del simulador (informe, Tabla III): 5 fallas, β = 0,60, 100 escenarios. R_misión: A 0,87, C 0,97, D 0,96. R_par: A 0,9075, C 0,94.
Ejemplo de la base de datos (nodos 15 → 181), verificado el 22-oct: R_par 0,91 (Dijkstra) y 0,90 (propuesta); R_misión A 0,91, D 1,00, C 1,00; ΔR = 9 pp (p = 0,0039). Describe un par origen–destino, no la misión con los tres puntos.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Implementado en ruteo/flota.py (36/36 pruebas). Reloj común en km a velocidad de crucero; con N = 1 reproduce exactamente la misión individual.
Aviso por detección: el UAV que advierte la zona (con probabilidad p_det) difunde los tramos afectados; se retransmite entre UAV a ≤ 3 km y por la estación en A.
Aviso por silencio: quien deja de oír 3 beacons (6 s) marca como zona a evitar los tramos a ≤ ρ de la última posición; si eso deja sin ruta, se ignora.
No se modelan pérdida de paquetes ni latencia: se evalúa el efecto del aviso sobre el ruteo físico, no un protocolo.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Barrido de ajuste (informe, Tabla IV), métrica R_seguidores.
D_A − D (valor del aviso): +10 pp con 4 UAV y 3 fallas; entre +11,5 y +17 pp con p_det = 0,5 y entre +13,5 y +16,2 con p_det = 0; con p_det = 1, apenas +0,2 a +0,5 pp.
C_A − D_A (selección resiliente sobre el aviso), con p_det = 0,5: +3 a +6,5 pp, pero solo es significativo con 3 fallas (p = 0,006) y con 5 UAV (p = 0,003); con 3 y 4 UAV no (p = 0,42 y 0,058).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Barrido de la flota en el conjunto de ajuste (Tabla IV del informe): 5 fallas, probabilidad de foco 0,5, β = 0,60, 100 escenarios por celda.
Con 4 UAV: p_det = 1 → D 94,7 %, D_A 95,0 %, C_A 96,7 %; p_det = 0,5 → 66,7 %, 80,7 %, 85,7 %; p_det = 0 → 57,3 %, 72,0 %, 74,0 %.
El aporte del aviso (D_A − D) va de +11,5 a +17 pp con p_det = 0,5 y de +13,5 a +16,2 pp con p_det = 0; crece con el número de UAV. Con p_det = 1 queda entre +0,2 y +0,5 pp.
En ninguna celda un seguidor completa sin aviso y pierde con aviso (por ejemplo, 68 contra 0 con 5 UAV y p_det = 0,5).
El UAV que se pierde no se salva: el beneficio es para los que vienen detrás. Resultados de ajuste; la evaluación reservada sigue pendiente.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Auditoría del 22 de octubre de 2026 sobre la base cargada (informe, sección IX; PROPUESTA_TECNICA §11.1). Se recalculó con la corrida completa desde cero del mismo día y coincide.
OpenStreetMap se edita continuamente: la descarga del 19-oct traía 33 593 edificios (1 022 con altura); la del 22-oct, 33 630 (1 019). Las exclusiones no cambian.
Como el riesgo agregado es 1 − ∏(1 − rᵢ), monótono en cada componente, la constante de GPSJam no reordena los tramos: solo desplaza y comprime la escala.
La ráfaga máxima de la ventana (19,1 m/s a 10 m) sí superaría el umbral; por eso se propone usar p95 o ráfaga.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Pendientes del informe y de PROPUESTA_TECNICA §12, ordenados por dependencia.
La corrida de evaluación (run_experimentos.py y run_flota.py con --conjunto evaluacion) se hace una sola vez y solo cuando el grupo congele los parámetros: 4 UAV, p_det = 0,5 y 3 fallas por defecto.
Defensa antiaérea: lo pidió el profesor y no está. Se declara como trabajo futuro, sin datos de sistemas reales; el modelo solo representa zonas abstractas de indisponibilidad.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287/mnsc.17.11.712" TargetMode="External"/><Relationship Id="rId1" Type="http://schemas.openxmlformats.org/officeDocument/2006/relationships/image" Target="../media/Slide-19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287/mnsc.17.11.712" TargetMode="External"/><Relationship Id="rId3" Type="http://schemas.openxmlformats.org/officeDocument/2006/relationships/hyperlink" Target="https://doi.org/10.1016/j.adhoc.2024.103702" TargetMode="External"/><Relationship Id="rId4" Type="http://schemas.openxmlformats.org/officeDocument/2006/relationships/hyperlink" Target="https://doi.org/10.1002/rob.22342" TargetMode="External"/><Relationship Id="rId5" Type="http://schemas.openxmlformats.org/officeDocument/2006/relationships/hyperlink" Target="https://wiki.openstreetmap.org/wiki/Overpass_API" TargetMode="External"/><Relationship Id="rId6" Type="http://schemas.openxmlformats.org/officeDocument/2006/relationships/hyperlink" Target="https://open-meteo.com/en/docs/elevation-api" TargetMode="External"/><Relationship Id="rId7" Type="http://schemas.openxmlformats.org/officeDocument/2006/relationships/hyperlink" Target="https://open-meteo.com/en/docs/historical-weather-api" TargetMode="External"/><Relationship Id="rId8" Type="http://schemas.openxmlformats.org/officeDocument/2006/relationships/hyperlink" Target="https://gpsjam.org/faq" TargetMode="External"/><Relationship Id="rId9" Type="http://schemas.openxmlformats.org/officeDocument/2006/relationships/hyperlink" Target="https://github.com/TheEconomist/the-economist-war-fire-model" TargetMode="External"/><Relationship Id="rId10" Type="http://schemas.openxmlformats.org/officeDocument/2006/relationships/hyperlink" Target="https://github.com/TheEconomist/the-economist-war-fire-model" TargetMode="External"/><Relationship Id="rId11" Type="http://schemas.openxmlformats.org/officeDocument/2006/relationships/hyperlink" Target="https://data.humdata.org/dataset/ucdp-data-for-ukraine" TargetMode="External"/><Relationship Id="rId12" Type="http://schemas.openxmlformats.org/officeDocument/2006/relationships/hyperlink" Target="https://www.unhcr.org/ua/en/news/briefing-notes/after-brutal-winter-millions-ukrainians-face-deepening-displacement-and" TargetMode="External"/><Relationship Id="rId13" Type="http://schemas.openxmlformats.org/officeDocument/2006/relationships/hyperlink" Target="https://www.unhcr.org/ua/en/news/briefing-notes/after-brutal-winter-millions-ukrainians-face-deepening-displacement-and" TargetMode="External"/><Relationship Id="rId1" Type="http://schemas.openxmlformats.org/officeDocument/2006/relationships/image" Target="../media/Slide-35-image-1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4987" y="819942"/>
            <a:ext cx="2494575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spc="38" kern="0" dirty="0">
                <a:solidFill>
                  <a:srgbClr val="EEE7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Diego Portales</a:t>
            </a:r>
            <a:endParaRPr lang="en-US" sz="1322" dirty="0"/>
          </a:p>
        </p:txBody>
      </p:sp>
      <p:sp>
        <p:nvSpPr>
          <p:cNvPr id="3" name="Text 1"/>
          <p:cNvSpPr txBox="1"/>
          <p:nvPr/>
        </p:nvSpPr>
        <p:spPr>
          <a:xfrm>
            <a:off x="764987" y="1192652"/>
            <a:ext cx="4293931" cy="195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4"/>
              </a:lnSpc>
              <a:buNone/>
            </a:pPr>
            <a:r>
              <a:rPr lang="en-US" sz="1028" spc="139" kern="0" dirty="0">
                <a:solidFill>
                  <a:srgbClr val="BAC9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ALGORITMOS DE RUTEO Y REDES RESILIENTES</a:t>
            </a:r>
            <a:endParaRPr lang="en-US" sz="1028" dirty="0"/>
          </a:p>
        </p:txBody>
      </p:sp>
      <p:sp>
        <p:nvSpPr>
          <p:cNvPr id="4" name="Text 2"/>
          <p:cNvSpPr txBox="1"/>
          <p:nvPr/>
        </p:nvSpPr>
        <p:spPr>
          <a:xfrm>
            <a:off x="737006" y="1453622"/>
            <a:ext cx="5419649" cy="1658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877"/>
              </a:lnSpc>
              <a:buNone/>
            </a:pPr>
            <a:r>
              <a:rPr lang="en-US" sz="4407" b="1" spc="-144" kern="0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Cuando un tramo</a:t>
            </a:r>
            <a:endParaRPr lang="en-US" sz="4407" dirty="0"/>
          </a:p>
          <a:p>
            <a:pPr algn="l" indent="0" marL="0">
              <a:lnSpc>
                <a:spcPts val="5877"/>
              </a:lnSpc>
              <a:buNone/>
            </a:pPr>
            <a:r>
              <a:rPr lang="en-US" sz="4407" b="1" spc="-139" kern="0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bloquea</a:t>
            </a:r>
            <a:endParaRPr lang="en-US" sz="4407" dirty="0"/>
          </a:p>
        </p:txBody>
      </p:sp>
      <p:sp>
        <p:nvSpPr>
          <p:cNvPr id="5" name="Text 3"/>
          <p:cNvSpPr txBox="1"/>
          <p:nvPr/>
        </p:nvSpPr>
        <p:spPr>
          <a:xfrm>
            <a:off x="764987" y="4137203"/>
            <a:ext cx="1718981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dirty="0">
                <a:solidFill>
                  <a:srgbClr val="FFF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Diego Pérez Carrasco</a:t>
            </a:r>
            <a:endParaRPr lang="en-US" sz="1175" dirty="0"/>
          </a:p>
        </p:txBody>
      </p:sp>
      <p:sp>
        <p:nvSpPr>
          <p:cNvPr id="6" name="Text 4"/>
          <p:cNvSpPr txBox="1"/>
          <p:nvPr/>
        </p:nvSpPr>
        <p:spPr>
          <a:xfrm>
            <a:off x="2410724" y="4137203"/>
            <a:ext cx="130302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dirty="0">
                <a:solidFill>
                  <a:srgbClr val="C49A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175" dirty="0"/>
          </a:p>
        </p:txBody>
      </p:sp>
      <p:sp>
        <p:nvSpPr>
          <p:cNvPr id="7" name="Text 5"/>
          <p:cNvSpPr txBox="1"/>
          <p:nvPr/>
        </p:nvSpPr>
        <p:spPr>
          <a:xfrm>
            <a:off x="2637678" y="4137203"/>
            <a:ext cx="1737726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dirty="0">
                <a:solidFill>
                  <a:srgbClr val="FFF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 Marambio Leyton</a:t>
            </a:r>
            <a:endParaRPr lang="en-US" sz="1175" dirty="0"/>
          </a:p>
        </p:txBody>
      </p:sp>
      <p:sp>
        <p:nvSpPr>
          <p:cNvPr id="8" name="Text 6"/>
          <p:cNvSpPr txBox="1"/>
          <p:nvPr/>
        </p:nvSpPr>
        <p:spPr>
          <a:xfrm>
            <a:off x="4299966" y="4137203"/>
            <a:ext cx="130302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dirty="0">
                <a:solidFill>
                  <a:srgbClr val="C49A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175" dirty="0"/>
          </a:p>
        </p:txBody>
      </p:sp>
      <p:sp>
        <p:nvSpPr>
          <p:cNvPr id="9" name="Text 7"/>
          <p:cNvSpPr txBox="1"/>
          <p:nvPr/>
        </p:nvSpPr>
        <p:spPr>
          <a:xfrm>
            <a:off x="4526920" y="4137203"/>
            <a:ext cx="1617025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dirty="0">
                <a:solidFill>
                  <a:srgbClr val="FFF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Aaron Pozas Oyarce</a:t>
            </a:r>
            <a:endParaRPr lang="en-US" sz="1175" dirty="0"/>
          </a:p>
        </p:txBody>
      </p:sp>
      <p:sp>
        <p:nvSpPr>
          <p:cNvPr id="10" name="Text 8"/>
          <p:cNvSpPr txBox="1"/>
          <p:nvPr/>
        </p:nvSpPr>
        <p:spPr>
          <a:xfrm>
            <a:off x="764987" y="2903494"/>
            <a:ext cx="4261470" cy="624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77"/>
              </a:lnSpc>
              <a:buNone/>
            </a:pPr>
            <a:r>
              <a:rPr lang="en-US" sz="1685" dirty="0">
                <a:solidFill>
                  <a:srgbClr val="8084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Ruteo físico y flota con aviso compartido</a:t>
            </a:r>
            <a:endParaRPr lang="en-US" sz="1685" dirty="0"/>
          </a:p>
          <a:p>
            <a:pPr algn="l" indent="0" marL="0">
              <a:lnSpc>
                <a:spcPts val="2277"/>
              </a:lnSpc>
              <a:buNone/>
            </a:pPr>
            <a:r>
              <a:rPr lang="en-US" sz="1685" dirty="0">
                <a:solidFill>
                  <a:srgbClr val="8084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bajo fallas simuladas</a:t>
            </a:r>
            <a:endParaRPr lang="en-US" sz="1685" dirty="0"/>
          </a:p>
        </p:txBody>
      </p:sp>
      <p:sp>
        <p:nvSpPr>
          <p:cNvPr id="11" name="Text 9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F9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35</a:t>
            </a:r>
            <a:endParaRPr lang="en-US" sz="88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70804" y="391363"/>
            <a:ext cx="6777807" cy="587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02"/>
              </a:lnSpc>
              <a:buNone/>
            </a:pPr>
            <a:r>
              <a:rPr lang="en-US" sz="3085" b="1" spc="-105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Ruteo de paquetes y ruteo físico</a:t>
            </a:r>
            <a:endParaRPr lang="en-US" sz="3085" dirty="0"/>
          </a:p>
        </p:txBody>
      </p:sp>
      <p:sp>
        <p:nvSpPr>
          <p:cNvPr id="3" name="Text 1"/>
          <p:cNvSpPr txBox="1"/>
          <p:nvPr/>
        </p:nvSpPr>
        <p:spPr>
          <a:xfrm>
            <a:off x="4240347" y="2713391"/>
            <a:ext cx="652607" cy="3289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75"/>
              </a:lnSpc>
              <a:buNone/>
            </a:pPr>
            <a:r>
              <a:rPr lang="en-US" sz="803" b="1" spc="63" kern="0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CAMBIA</a:t>
            </a:r>
            <a:endParaRPr lang="en-US" sz="803" dirty="0"/>
          </a:p>
          <a:p>
            <a:pPr algn="ctr" indent="0" marL="0">
              <a:lnSpc>
                <a:spcPts val="1175"/>
              </a:lnSpc>
              <a:buNone/>
            </a:pPr>
            <a:r>
              <a:rPr lang="en-US" sz="803" b="1" spc="66" kern="0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GRAFO</a:t>
            </a:r>
            <a:endParaRPr lang="en-US" sz="803" dirty="0"/>
          </a:p>
        </p:txBody>
      </p:sp>
      <p:sp>
        <p:nvSpPr>
          <p:cNvPr id="4" name="Text 2"/>
          <p:cNvSpPr txBox="1"/>
          <p:nvPr/>
        </p:nvSpPr>
        <p:spPr>
          <a:xfrm>
            <a:off x="932871" y="3382366"/>
            <a:ext cx="647487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b="1" spc="91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TAREA 1</a:t>
            </a:r>
            <a:endParaRPr lang="en-US" sz="881" dirty="0"/>
          </a:p>
        </p:txBody>
      </p:sp>
      <p:sp>
        <p:nvSpPr>
          <p:cNvPr id="5" name="Text 3"/>
          <p:cNvSpPr txBox="1"/>
          <p:nvPr/>
        </p:nvSpPr>
        <p:spPr>
          <a:xfrm>
            <a:off x="932871" y="3568812"/>
            <a:ext cx="1589227" cy="433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33"/>
              </a:lnSpc>
              <a:buNone/>
            </a:pPr>
            <a:r>
              <a:rPr lang="en-US" sz="227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Paquetes</a:t>
            </a:r>
            <a:endParaRPr lang="en-US" sz="2272" dirty="0"/>
          </a:p>
        </p:txBody>
      </p:sp>
      <p:sp>
        <p:nvSpPr>
          <p:cNvPr id="6" name="Text 4"/>
          <p:cNvSpPr txBox="1"/>
          <p:nvPr/>
        </p:nvSpPr>
        <p:spPr>
          <a:xfrm>
            <a:off x="932871" y="3965753"/>
            <a:ext cx="2133844" cy="5161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36"/>
              </a:lnSpc>
              <a:buNone/>
            </a:pPr>
            <a:r>
              <a:rPr lang="en-US" sz="1322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Aristas: enlaces de radio</a:t>
            </a:r>
            <a:endParaRPr lang="en-US" sz="1322" dirty="0"/>
          </a:p>
          <a:p>
            <a:pPr algn="l" indent="0" marL="0">
              <a:lnSpc>
                <a:spcPts val="1836"/>
              </a:lnSpc>
              <a:buNone/>
            </a:pPr>
            <a:r>
              <a:rPr lang="en-US" sz="1322" spc="-22" kern="0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UAV.</a:t>
            </a:r>
            <a:endParaRPr lang="en-US" sz="1322" dirty="0"/>
          </a:p>
        </p:txBody>
      </p:sp>
      <p:sp>
        <p:nvSpPr>
          <p:cNvPr id="7" name="Text 5"/>
          <p:cNvSpPr txBox="1"/>
          <p:nvPr/>
        </p:nvSpPr>
        <p:spPr>
          <a:xfrm>
            <a:off x="5421112" y="4222791"/>
            <a:ext cx="135606" cy="113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13"/>
              </a:lnSpc>
              <a:buNone/>
            </a:pPr>
            <a:r>
              <a:rPr lang="en-US" sz="597" b="1" dirty="0">
                <a:solidFill>
                  <a:srgbClr val="545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597" dirty="0"/>
          </a:p>
        </p:txBody>
      </p:sp>
      <p:sp>
        <p:nvSpPr>
          <p:cNvPr id="8" name="Text 6"/>
          <p:cNvSpPr txBox="1"/>
          <p:nvPr/>
        </p:nvSpPr>
        <p:spPr>
          <a:xfrm>
            <a:off x="6310000" y="2203613"/>
            <a:ext cx="177942" cy="113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13"/>
              </a:lnSpc>
              <a:buNone/>
            </a:pPr>
            <a:r>
              <a:rPr lang="en-US" sz="597" b="1" dirty="0">
                <a:solidFill>
                  <a:srgbClr val="2026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597" dirty="0"/>
          </a:p>
        </p:txBody>
      </p:sp>
      <p:sp>
        <p:nvSpPr>
          <p:cNvPr id="9" name="Text 7"/>
          <p:cNvSpPr txBox="1"/>
          <p:nvPr/>
        </p:nvSpPr>
        <p:spPr>
          <a:xfrm>
            <a:off x="7202454" y="3552170"/>
            <a:ext cx="177942" cy="113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13"/>
              </a:lnSpc>
              <a:buNone/>
            </a:pPr>
            <a:r>
              <a:rPr lang="en-US" sz="597" b="1" dirty="0">
                <a:solidFill>
                  <a:srgbClr val="2026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597" dirty="0"/>
          </a:p>
        </p:txBody>
      </p:sp>
      <p:sp>
        <p:nvSpPr>
          <p:cNvPr id="10" name="Text 8"/>
          <p:cNvSpPr txBox="1"/>
          <p:nvPr/>
        </p:nvSpPr>
        <p:spPr>
          <a:xfrm>
            <a:off x="7744511" y="2014972"/>
            <a:ext cx="177942" cy="113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13"/>
              </a:lnSpc>
              <a:buNone/>
            </a:pPr>
            <a:r>
              <a:rPr lang="en-US" sz="597" b="1" dirty="0">
                <a:solidFill>
                  <a:srgbClr val="2026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597" dirty="0"/>
          </a:p>
        </p:txBody>
      </p:sp>
      <p:sp>
        <p:nvSpPr>
          <p:cNvPr id="11" name="Text 9"/>
          <p:cNvSpPr txBox="1"/>
          <p:nvPr/>
        </p:nvSpPr>
        <p:spPr>
          <a:xfrm>
            <a:off x="8013802" y="1685331"/>
            <a:ext cx="135606" cy="113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13"/>
              </a:lnSpc>
              <a:buNone/>
            </a:pPr>
            <a:r>
              <a:rPr lang="en-US" sz="597" b="1" dirty="0">
                <a:solidFill>
                  <a:srgbClr val="57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597" dirty="0"/>
          </a:p>
        </p:txBody>
      </p:sp>
      <p:sp>
        <p:nvSpPr>
          <p:cNvPr id="12" name="Text 10"/>
          <p:cNvSpPr txBox="1"/>
          <p:nvPr/>
        </p:nvSpPr>
        <p:spPr>
          <a:xfrm>
            <a:off x="5326929" y="3251972"/>
            <a:ext cx="647487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b="1" spc="91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TAREA 2</a:t>
            </a:r>
            <a:endParaRPr lang="en-US" sz="881" dirty="0"/>
          </a:p>
        </p:txBody>
      </p:sp>
      <p:sp>
        <p:nvSpPr>
          <p:cNvPr id="13" name="Text 11"/>
          <p:cNvSpPr txBox="1"/>
          <p:nvPr/>
        </p:nvSpPr>
        <p:spPr>
          <a:xfrm>
            <a:off x="5326929" y="3438327"/>
            <a:ext cx="2508108" cy="433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33"/>
              </a:lnSpc>
              <a:buNone/>
            </a:pPr>
            <a:r>
              <a:rPr lang="en-US" sz="227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Tramos físicos</a:t>
            </a:r>
            <a:endParaRPr lang="en-US" sz="2272" dirty="0"/>
          </a:p>
        </p:txBody>
      </p:sp>
      <p:sp>
        <p:nvSpPr>
          <p:cNvPr id="14" name="Text 12"/>
          <p:cNvSpPr txBox="1"/>
          <p:nvPr/>
        </p:nvSpPr>
        <p:spPr>
          <a:xfrm>
            <a:off x="5326929" y="3835268"/>
            <a:ext cx="2039844" cy="5161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36"/>
              </a:lnSpc>
              <a:buNone/>
            </a:pPr>
            <a:r>
              <a:rPr lang="en-US" sz="1322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Aristas: segmentos que</a:t>
            </a:r>
            <a:endParaRPr lang="en-US" sz="1322" dirty="0"/>
          </a:p>
          <a:p>
            <a:pPr algn="l" indent="0" marL="0">
              <a:lnSpc>
                <a:spcPts val="1836"/>
              </a:lnSpc>
              <a:buNone/>
            </a:pPr>
            <a:r>
              <a:rPr lang="en-US" sz="1322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recorre una misión.</a:t>
            </a:r>
            <a:endParaRPr lang="en-US" sz="1322" dirty="0"/>
          </a:p>
        </p:txBody>
      </p:sp>
      <p:sp>
        <p:nvSpPr>
          <p:cNvPr id="15" name="Text 13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35</a:t>
            </a:r>
            <a:endParaRPr lang="en-US" sz="88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3064" y="465887"/>
            <a:ext cx="1784177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40" kern="0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CONTEXTO · UCRANIA</a:t>
            </a:r>
            <a:endParaRPr lang="en-US" sz="960" dirty="0"/>
          </a:p>
        </p:txBody>
      </p:sp>
      <p:sp>
        <p:nvSpPr>
          <p:cNvPr id="3" name="Text 1"/>
          <p:cNvSpPr txBox="1"/>
          <p:nvPr/>
        </p:nvSpPr>
        <p:spPr>
          <a:xfrm>
            <a:off x="635417" y="732434"/>
            <a:ext cx="5732556" cy="8516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38"/>
              </a:lnSpc>
              <a:buNone/>
            </a:pPr>
            <a:r>
              <a:rPr lang="en-US" sz="2791" b="1" spc="-94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Ucrania: servicios afectados y</a:t>
            </a:r>
            <a:endParaRPr lang="en-US" sz="2791" dirty="0"/>
          </a:p>
          <a:p>
            <a:pPr algn="l" indent="0" marL="0">
              <a:lnSpc>
                <a:spcPts val="2938"/>
              </a:lnSpc>
              <a:buNone/>
            </a:pPr>
            <a:r>
              <a:rPr lang="en-US" sz="2791" b="1" spc="-91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desplazamiento.</a:t>
            </a:r>
            <a:endParaRPr lang="en-US" sz="2791" dirty="0"/>
          </a:p>
        </p:txBody>
      </p:sp>
      <p:sp>
        <p:nvSpPr>
          <p:cNvPr id="4" name="Text 2"/>
          <p:cNvSpPr txBox="1"/>
          <p:nvPr/>
        </p:nvSpPr>
        <p:spPr>
          <a:xfrm>
            <a:off x="848929" y="2394722"/>
            <a:ext cx="1581638" cy="8805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3"/>
              </a:lnSpc>
              <a:buNone/>
            </a:pPr>
            <a:r>
              <a:rPr lang="en-US" sz="4623" b="1" spc="-146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10,8 </a:t>
            </a:r>
            <a:endParaRPr lang="en-US" sz="4623" dirty="0"/>
          </a:p>
        </p:txBody>
      </p:sp>
      <p:sp>
        <p:nvSpPr>
          <p:cNvPr id="5" name="Text 3"/>
          <p:cNvSpPr txBox="1"/>
          <p:nvPr/>
        </p:nvSpPr>
        <p:spPr>
          <a:xfrm>
            <a:off x="2170877" y="2795412"/>
            <a:ext cx="196870" cy="279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3"/>
              </a:lnSpc>
              <a:buNone/>
            </a:pPr>
            <a:r>
              <a:rPr lang="en-US" sz="1469" b="1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endParaRPr lang="en-US" sz="1469" dirty="0"/>
          </a:p>
        </p:txBody>
      </p:sp>
      <p:sp>
        <p:nvSpPr>
          <p:cNvPr id="6" name="Text 4"/>
          <p:cNvSpPr txBox="1"/>
          <p:nvPr/>
        </p:nvSpPr>
        <p:spPr>
          <a:xfrm>
            <a:off x="848929" y="3130814"/>
            <a:ext cx="1747236" cy="601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estimadas en</a:t>
            </a:r>
            <a:endParaRPr lang="en-US" sz="1097" dirty="0"/>
          </a:p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necesidad de asistencia</a:t>
            </a:r>
            <a:endParaRPr lang="en-US" sz="1097" dirty="0"/>
          </a:p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humanitaria</a:t>
            </a:r>
            <a:endParaRPr lang="en-US" sz="1097" dirty="0"/>
          </a:p>
        </p:txBody>
      </p:sp>
      <p:sp>
        <p:nvSpPr>
          <p:cNvPr id="7" name="Text 5"/>
          <p:cNvSpPr txBox="1"/>
          <p:nvPr/>
        </p:nvSpPr>
        <p:spPr>
          <a:xfrm>
            <a:off x="2958633" y="2394722"/>
            <a:ext cx="1154704" cy="8805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3"/>
              </a:lnSpc>
              <a:buNone/>
            </a:pPr>
            <a:r>
              <a:rPr lang="en-US" sz="4623" b="1" spc="-137" kern="0" dirty="0">
                <a:solidFill>
                  <a:srgbClr val="AB43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3,7 </a:t>
            </a:r>
            <a:endParaRPr lang="en-US" sz="4623" dirty="0"/>
          </a:p>
        </p:txBody>
      </p:sp>
      <p:sp>
        <p:nvSpPr>
          <p:cNvPr id="8" name="Text 6"/>
          <p:cNvSpPr txBox="1"/>
          <p:nvPr/>
        </p:nvSpPr>
        <p:spPr>
          <a:xfrm>
            <a:off x="3899550" y="2795412"/>
            <a:ext cx="196870" cy="279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3"/>
              </a:lnSpc>
              <a:buNone/>
            </a:pPr>
            <a:r>
              <a:rPr lang="en-US" sz="1469" b="1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endParaRPr lang="en-US" sz="1469" dirty="0"/>
          </a:p>
        </p:txBody>
      </p:sp>
      <p:sp>
        <p:nvSpPr>
          <p:cNvPr id="9" name="Text 7"/>
          <p:cNvSpPr txBox="1"/>
          <p:nvPr/>
        </p:nvSpPr>
        <p:spPr>
          <a:xfrm>
            <a:off x="2958633" y="3130814"/>
            <a:ext cx="1903781" cy="601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estimadas como</a:t>
            </a:r>
            <a:endParaRPr lang="en-US" sz="1097" dirty="0"/>
          </a:p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desplazadas dentro del</a:t>
            </a:r>
            <a:endParaRPr lang="en-US" sz="1097" dirty="0"/>
          </a:p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país</a:t>
            </a:r>
            <a:endParaRPr lang="en-US" sz="1097" dirty="0"/>
          </a:p>
        </p:txBody>
      </p:sp>
      <p:sp>
        <p:nvSpPr>
          <p:cNvPr id="10" name="Text 8"/>
          <p:cNvSpPr txBox="1"/>
          <p:nvPr/>
        </p:nvSpPr>
        <p:spPr>
          <a:xfrm>
            <a:off x="5077755" y="2131924"/>
            <a:ext cx="3745748" cy="779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391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UNHCR reporta ataques repetidos a</a:t>
            </a:r>
            <a:endParaRPr lang="en-US" sz="1391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391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viviendas, energía y servicios</a:t>
            </a:r>
            <a:endParaRPr lang="en-US" sz="1391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391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esenciales.</a:t>
            </a:r>
            <a:endParaRPr lang="en-US" sz="1391" dirty="0"/>
          </a:p>
        </p:txBody>
      </p:sp>
      <p:sp>
        <p:nvSpPr>
          <p:cNvPr id="11" name="Text 9"/>
          <p:cNvSpPr txBox="1"/>
          <p:nvPr/>
        </p:nvSpPr>
        <p:spPr>
          <a:xfrm>
            <a:off x="5077755" y="3324667"/>
            <a:ext cx="737098" cy="2115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35"/>
              </a:lnSpc>
              <a:buNone/>
            </a:pPr>
            <a:r>
              <a:rPr lang="en-US" sz="666" b="1" spc="56" kern="0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CONTEXTO</a:t>
            </a:r>
            <a:endParaRPr lang="en-US" sz="666" dirty="0"/>
          </a:p>
          <a:p>
            <a:pPr algn="l" indent="0" marL="0">
              <a:lnSpc>
                <a:spcPts val="735"/>
              </a:lnSpc>
              <a:buNone/>
            </a:pPr>
            <a:r>
              <a:rPr lang="en-US" sz="666" b="1" spc="57" kern="0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DOCUMENTADO</a:t>
            </a:r>
            <a:endParaRPr lang="en-US" sz="666" dirty="0"/>
          </a:p>
        </p:txBody>
      </p:sp>
      <p:sp>
        <p:nvSpPr>
          <p:cNvPr id="12" name="Text 10"/>
          <p:cNvSpPr txBox="1"/>
          <p:nvPr/>
        </p:nvSpPr>
        <p:spPr>
          <a:xfrm>
            <a:off x="5077755" y="3583716"/>
            <a:ext cx="1102858" cy="334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5"/>
              </a:lnSpc>
              <a:buNone/>
            </a:pPr>
            <a:r>
              <a:rPr lang="en-US" sz="960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Servicios</a:t>
            </a:r>
            <a:endParaRPr lang="en-US" sz="960" dirty="0"/>
          </a:p>
          <a:p>
            <a:pPr algn="l" indent="0" marL="0">
              <a:lnSpc>
                <a:spcPts val="1175"/>
              </a:lnSpc>
              <a:buNone/>
            </a:pPr>
            <a:r>
              <a:rPr lang="en-US" sz="960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interrumpidos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5947989" y="3456981"/>
            <a:ext cx="325435" cy="335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6"/>
              </a:lnSpc>
              <a:buNone/>
            </a:pPr>
            <a:r>
              <a:rPr lang="en-US" sz="1763" dirty="0">
                <a:solidFill>
                  <a:srgbClr val="2D6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63" dirty="0"/>
          </a:p>
        </p:txBody>
      </p:sp>
      <p:sp>
        <p:nvSpPr>
          <p:cNvPr id="14" name="Text 12"/>
          <p:cNvSpPr txBox="1"/>
          <p:nvPr/>
        </p:nvSpPr>
        <p:spPr>
          <a:xfrm>
            <a:off x="6199906" y="3289188"/>
            <a:ext cx="1283726" cy="1258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93"/>
              </a:lnSpc>
              <a:buNone/>
            </a:pPr>
            <a:r>
              <a:rPr lang="en-US" sz="666" b="1" spc="59" kern="0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PREGUNTA DEL ESTUDIO</a:t>
            </a:r>
            <a:endParaRPr lang="en-US" sz="666" dirty="0"/>
          </a:p>
        </p:txBody>
      </p:sp>
      <p:sp>
        <p:nvSpPr>
          <p:cNvPr id="15" name="Text 13"/>
          <p:cNvSpPr txBox="1"/>
          <p:nvPr/>
        </p:nvSpPr>
        <p:spPr>
          <a:xfrm>
            <a:off x="6199906" y="3462558"/>
            <a:ext cx="1274034" cy="4836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5"/>
              </a:lnSpc>
              <a:buNone/>
            </a:pPr>
            <a:r>
              <a:rPr lang="en-US" sz="960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¿Qué hacer si un</a:t>
            </a:r>
            <a:endParaRPr lang="en-US" sz="960" dirty="0"/>
          </a:p>
          <a:p>
            <a:pPr algn="l" indent="0" marL="0">
              <a:lnSpc>
                <a:spcPts val="1175"/>
              </a:lnSpc>
              <a:buNone/>
            </a:pPr>
            <a:r>
              <a:rPr lang="en-US" sz="960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tramo deja de</a:t>
            </a:r>
            <a:endParaRPr lang="en-US" sz="960" dirty="0"/>
          </a:p>
          <a:p>
            <a:pPr algn="l" indent="0" marL="0">
              <a:lnSpc>
                <a:spcPts val="1175"/>
              </a:lnSpc>
              <a:buNone/>
            </a:pPr>
            <a:r>
              <a:rPr lang="en-US" sz="960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estar disponible?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7432518" y="3456981"/>
            <a:ext cx="325435" cy="335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6"/>
              </a:lnSpc>
              <a:buNone/>
            </a:pPr>
            <a:r>
              <a:rPr lang="en-US" sz="1763" dirty="0">
                <a:solidFill>
                  <a:srgbClr val="2D6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63" dirty="0"/>
          </a:p>
        </p:txBody>
      </p:sp>
      <p:sp>
        <p:nvSpPr>
          <p:cNvPr id="17" name="Text 15"/>
          <p:cNvSpPr txBox="1"/>
          <p:nvPr/>
        </p:nvSpPr>
        <p:spPr>
          <a:xfrm>
            <a:off x="7684435" y="3289188"/>
            <a:ext cx="433334" cy="1258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93"/>
              </a:lnSpc>
              <a:buNone/>
            </a:pPr>
            <a:r>
              <a:rPr lang="en-US" sz="666" b="1" spc="54" kern="0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MODELO</a:t>
            </a:r>
            <a:endParaRPr lang="en-US" sz="666" dirty="0"/>
          </a:p>
        </p:txBody>
      </p:sp>
      <p:sp>
        <p:nvSpPr>
          <p:cNvPr id="18" name="Text 16"/>
          <p:cNvSpPr txBox="1"/>
          <p:nvPr/>
        </p:nvSpPr>
        <p:spPr>
          <a:xfrm>
            <a:off x="7684435" y="3462558"/>
            <a:ext cx="742493" cy="4836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5"/>
              </a:lnSpc>
              <a:buNone/>
            </a:pPr>
            <a:r>
              <a:rPr lang="en-US" sz="960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Grafo y</a:t>
            </a:r>
            <a:endParaRPr lang="en-US" sz="960" dirty="0"/>
          </a:p>
          <a:p>
            <a:pPr algn="l" indent="0" marL="0">
              <a:lnSpc>
                <a:spcPts val="1175"/>
              </a:lnSpc>
              <a:buNone/>
            </a:pPr>
            <a:r>
              <a:rPr lang="en-US" sz="960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fallas</a:t>
            </a:r>
            <a:endParaRPr lang="en-US" sz="960" dirty="0"/>
          </a:p>
          <a:p>
            <a:pPr algn="l" indent="0" marL="0">
              <a:lnSpc>
                <a:spcPts val="1175"/>
              </a:lnSpc>
              <a:buNone/>
            </a:pPr>
            <a:r>
              <a:rPr lang="en-US" sz="960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sintéticas</a:t>
            </a:r>
            <a:endParaRPr lang="en-US" sz="960" dirty="0"/>
          </a:p>
        </p:txBody>
      </p:sp>
      <p:sp>
        <p:nvSpPr>
          <p:cNvPr id="19" name="Text 17"/>
          <p:cNvSpPr txBox="1"/>
          <p:nvPr/>
        </p:nvSpPr>
        <p:spPr>
          <a:xfrm>
            <a:off x="653064" y="4547128"/>
            <a:ext cx="3838103" cy="1398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1"/>
              </a:lnSpc>
              <a:buNone/>
            </a:pPr>
            <a:r>
              <a:rPr lang="en-US" sz="735" spc="45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Fuente: UNHCR, 24 feb. 2026 · HNRP 2026. Véase referencias.</a:t>
            </a:r>
            <a:endParaRPr lang="en-US" sz="735" dirty="0"/>
          </a:p>
        </p:txBody>
      </p:sp>
      <p:sp>
        <p:nvSpPr>
          <p:cNvPr id="20" name="Text 18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35</a:t>
            </a:r>
            <a:endParaRPr lang="en-US" sz="88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177723" y="3985870"/>
            <a:ext cx="144018" cy="1285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1"/>
              </a:lnSpc>
              <a:buNone/>
            </a:pPr>
            <a:r>
              <a:rPr lang="en-US" sz="676" b="1" dirty="0">
                <a:solidFill>
                  <a:srgbClr val="6C6F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676" dirty="0"/>
          </a:p>
        </p:txBody>
      </p:sp>
      <p:sp>
        <p:nvSpPr>
          <p:cNvPr id="3" name="Text 1"/>
          <p:cNvSpPr txBox="1"/>
          <p:nvPr/>
        </p:nvSpPr>
        <p:spPr>
          <a:xfrm>
            <a:off x="4188409" y="1687800"/>
            <a:ext cx="192207" cy="1285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1"/>
              </a:lnSpc>
              <a:buNone/>
            </a:pPr>
            <a:r>
              <a:rPr lang="en-US" sz="676" b="1" dirty="0">
                <a:solidFill>
                  <a:srgbClr val="3C4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676" dirty="0"/>
          </a:p>
        </p:txBody>
      </p:sp>
      <p:sp>
        <p:nvSpPr>
          <p:cNvPr id="4" name="Text 2"/>
          <p:cNvSpPr txBox="1"/>
          <p:nvPr/>
        </p:nvSpPr>
        <p:spPr>
          <a:xfrm>
            <a:off x="5203119" y="3222711"/>
            <a:ext cx="192207" cy="1285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1"/>
              </a:lnSpc>
              <a:buNone/>
            </a:pPr>
            <a:r>
              <a:rPr lang="en-US" sz="676" b="1" dirty="0">
                <a:solidFill>
                  <a:srgbClr val="3C4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676" dirty="0"/>
          </a:p>
        </p:txBody>
      </p:sp>
      <p:sp>
        <p:nvSpPr>
          <p:cNvPr id="5" name="Text 3"/>
          <p:cNvSpPr txBox="1"/>
          <p:nvPr/>
        </p:nvSpPr>
        <p:spPr>
          <a:xfrm>
            <a:off x="5819242" y="1473281"/>
            <a:ext cx="192207" cy="1285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1"/>
              </a:lnSpc>
              <a:buNone/>
            </a:pPr>
            <a:r>
              <a:rPr lang="en-US" sz="676" b="1" dirty="0">
                <a:solidFill>
                  <a:srgbClr val="3C40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676" dirty="0"/>
          </a:p>
        </p:txBody>
      </p:sp>
      <p:sp>
        <p:nvSpPr>
          <p:cNvPr id="6" name="Text 4"/>
          <p:cNvSpPr txBox="1"/>
          <p:nvPr/>
        </p:nvSpPr>
        <p:spPr>
          <a:xfrm>
            <a:off x="6125566" y="1098103"/>
            <a:ext cx="144018" cy="1285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1"/>
              </a:lnSpc>
              <a:buNone/>
            </a:pPr>
            <a:r>
              <a:rPr lang="en-US" sz="676" b="1" dirty="0">
                <a:solidFill>
                  <a:srgbClr val="5759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676" dirty="0"/>
          </a:p>
        </p:txBody>
      </p:sp>
      <p:sp>
        <p:nvSpPr>
          <p:cNvPr id="7" name="Text 5"/>
          <p:cNvSpPr txBox="1"/>
          <p:nvPr/>
        </p:nvSpPr>
        <p:spPr>
          <a:xfrm>
            <a:off x="671718" y="4547128"/>
            <a:ext cx="2546330" cy="195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4"/>
              </a:lnSpc>
              <a:buNone/>
            </a:pPr>
            <a:r>
              <a:rPr lang="en-US" sz="1028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visitan tres puntos de observación.</a:t>
            </a:r>
            <a:endParaRPr lang="en-US" sz="1028" dirty="0"/>
          </a:p>
        </p:txBody>
      </p:sp>
      <p:sp>
        <p:nvSpPr>
          <p:cNvPr id="8" name="Text 6"/>
          <p:cNvSpPr txBox="1"/>
          <p:nvPr/>
        </p:nvSpPr>
        <p:spPr>
          <a:xfrm>
            <a:off x="653064" y="465887"/>
            <a:ext cx="1113008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36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MISIÓN BASE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633496" y="698876"/>
            <a:ext cx="503469" cy="587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02"/>
              </a:lnSpc>
              <a:buNone/>
            </a:pPr>
            <a:r>
              <a:rPr lang="en-US" sz="3085" b="1" spc="-54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</a:t>
            </a:r>
            <a:endParaRPr lang="en-US" sz="3085" dirty="0"/>
          </a:p>
        </p:txBody>
      </p:sp>
      <p:sp>
        <p:nvSpPr>
          <p:cNvPr id="10" name="Text 8"/>
          <p:cNvSpPr txBox="1"/>
          <p:nvPr/>
        </p:nvSpPr>
        <p:spPr>
          <a:xfrm>
            <a:off x="1002640" y="698876"/>
            <a:ext cx="513436" cy="587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02"/>
              </a:lnSpc>
              <a:buNone/>
            </a:pPr>
            <a:r>
              <a:rPr lang="en-US" sz="3085" b="1" dirty="0">
                <a:solidFill>
                  <a:srgbClr val="2027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3085" dirty="0"/>
          </a:p>
        </p:txBody>
      </p:sp>
      <p:sp>
        <p:nvSpPr>
          <p:cNvPr id="11" name="Text 9"/>
          <p:cNvSpPr txBox="1"/>
          <p:nvPr/>
        </p:nvSpPr>
        <p:spPr>
          <a:xfrm>
            <a:off x="1380744" y="698876"/>
            <a:ext cx="774040" cy="587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02"/>
              </a:lnSpc>
              <a:buNone/>
            </a:pPr>
            <a:r>
              <a:rPr lang="en-US" sz="3085" b="1" spc="-81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P1 </a:t>
            </a:r>
            <a:endParaRPr lang="en-US" sz="3085" dirty="0"/>
          </a:p>
        </p:txBody>
      </p:sp>
      <p:sp>
        <p:nvSpPr>
          <p:cNvPr id="12" name="Text 10"/>
          <p:cNvSpPr txBox="1"/>
          <p:nvPr/>
        </p:nvSpPr>
        <p:spPr>
          <a:xfrm>
            <a:off x="1991563" y="698876"/>
            <a:ext cx="513436" cy="587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02"/>
              </a:lnSpc>
              <a:buNone/>
            </a:pPr>
            <a:r>
              <a:rPr lang="en-US" sz="3085" b="1" dirty="0">
                <a:solidFill>
                  <a:srgbClr val="2027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3085" dirty="0"/>
          </a:p>
        </p:txBody>
      </p:sp>
      <p:sp>
        <p:nvSpPr>
          <p:cNvPr id="13" name="Text 11"/>
          <p:cNvSpPr txBox="1"/>
          <p:nvPr/>
        </p:nvSpPr>
        <p:spPr>
          <a:xfrm>
            <a:off x="2369668" y="698876"/>
            <a:ext cx="834024" cy="587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02"/>
              </a:lnSpc>
              <a:buNone/>
            </a:pPr>
            <a:r>
              <a:rPr lang="en-US" sz="3085" b="1" spc="-81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P2 </a:t>
            </a:r>
            <a:endParaRPr lang="en-US" sz="3085" dirty="0"/>
          </a:p>
        </p:txBody>
      </p:sp>
      <p:sp>
        <p:nvSpPr>
          <p:cNvPr id="14" name="Text 12"/>
          <p:cNvSpPr txBox="1"/>
          <p:nvPr/>
        </p:nvSpPr>
        <p:spPr>
          <a:xfrm>
            <a:off x="3033979" y="698876"/>
            <a:ext cx="513436" cy="587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02"/>
              </a:lnSpc>
              <a:buNone/>
            </a:pPr>
            <a:r>
              <a:rPr lang="en-US" sz="3085" b="1" dirty="0">
                <a:solidFill>
                  <a:srgbClr val="2027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3085" dirty="0"/>
          </a:p>
        </p:txBody>
      </p:sp>
      <p:sp>
        <p:nvSpPr>
          <p:cNvPr id="15" name="Text 13"/>
          <p:cNvSpPr txBox="1"/>
          <p:nvPr/>
        </p:nvSpPr>
        <p:spPr>
          <a:xfrm>
            <a:off x="3412084" y="698876"/>
            <a:ext cx="833201" cy="587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02"/>
              </a:lnSpc>
              <a:buNone/>
            </a:pPr>
            <a:r>
              <a:rPr lang="en-US" sz="3085" b="1" spc="-81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P3 </a:t>
            </a:r>
            <a:endParaRPr lang="en-US" sz="3085" dirty="0"/>
          </a:p>
        </p:txBody>
      </p:sp>
      <p:sp>
        <p:nvSpPr>
          <p:cNvPr id="16" name="Text 14"/>
          <p:cNvSpPr txBox="1"/>
          <p:nvPr/>
        </p:nvSpPr>
        <p:spPr>
          <a:xfrm>
            <a:off x="4075572" y="698876"/>
            <a:ext cx="513436" cy="587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02"/>
              </a:lnSpc>
              <a:buNone/>
            </a:pPr>
            <a:r>
              <a:rPr lang="en-US" sz="3085" b="1" dirty="0">
                <a:solidFill>
                  <a:srgbClr val="2027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3085" dirty="0"/>
          </a:p>
        </p:txBody>
      </p:sp>
      <p:sp>
        <p:nvSpPr>
          <p:cNvPr id="17" name="Text 15"/>
          <p:cNvSpPr txBox="1"/>
          <p:nvPr/>
        </p:nvSpPr>
        <p:spPr>
          <a:xfrm>
            <a:off x="4453677" y="698876"/>
            <a:ext cx="502920" cy="587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02"/>
              </a:lnSpc>
              <a:buNone/>
            </a:pPr>
            <a:r>
              <a:rPr lang="en-US" sz="3085" b="1" spc="-54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</a:t>
            </a:r>
            <a:endParaRPr lang="en-US" sz="3085" dirty="0"/>
          </a:p>
        </p:txBody>
      </p:sp>
      <p:sp>
        <p:nvSpPr>
          <p:cNvPr id="18" name="Text 16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35</a:t>
            </a:r>
            <a:endParaRPr lang="en-US" sz="88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26604" y="4353093"/>
            <a:ext cx="156088" cy="1507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1"/>
              </a:lnSpc>
              <a:buNone/>
            </a:pPr>
            <a:r>
              <a:rPr lang="en-US" sz="793" b="1" dirty="0">
                <a:solidFill>
                  <a:srgbClr val="6063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793" dirty="0"/>
          </a:p>
        </p:txBody>
      </p:sp>
      <p:sp>
        <p:nvSpPr>
          <p:cNvPr id="3" name="Text 1"/>
          <p:cNvSpPr txBox="1"/>
          <p:nvPr/>
        </p:nvSpPr>
        <p:spPr>
          <a:xfrm>
            <a:off x="6113404" y="1657259"/>
            <a:ext cx="212507" cy="1507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1"/>
              </a:lnSpc>
              <a:buNone/>
            </a:pPr>
            <a:r>
              <a:rPr lang="en-US" sz="793" b="1" dirty="0">
                <a:solidFill>
                  <a:srgbClr val="2026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793" dirty="0"/>
          </a:p>
        </p:txBody>
      </p:sp>
      <p:sp>
        <p:nvSpPr>
          <p:cNvPr id="4" name="Text 2"/>
          <p:cNvSpPr txBox="1"/>
          <p:nvPr/>
        </p:nvSpPr>
        <p:spPr>
          <a:xfrm>
            <a:off x="7304959" y="3457895"/>
            <a:ext cx="212507" cy="1507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1"/>
              </a:lnSpc>
              <a:buNone/>
            </a:pPr>
            <a:r>
              <a:rPr lang="en-US" sz="793" b="1" dirty="0">
                <a:solidFill>
                  <a:srgbClr val="2026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793" dirty="0"/>
          </a:p>
        </p:txBody>
      </p:sp>
      <p:sp>
        <p:nvSpPr>
          <p:cNvPr id="5" name="Text 3"/>
          <p:cNvSpPr txBox="1"/>
          <p:nvPr/>
        </p:nvSpPr>
        <p:spPr>
          <a:xfrm>
            <a:off x="8028523" y="1405707"/>
            <a:ext cx="212507" cy="1507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1"/>
              </a:lnSpc>
              <a:buNone/>
            </a:pPr>
            <a:r>
              <a:rPr lang="en-US" sz="793" b="1" dirty="0">
                <a:solidFill>
                  <a:srgbClr val="2026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793" dirty="0"/>
          </a:p>
        </p:txBody>
      </p:sp>
      <p:sp>
        <p:nvSpPr>
          <p:cNvPr id="6" name="Text 4"/>
          <p:cNvSpPr txBox="1"/>
          <p:nvPr/>
        </p:nvSpPr>
        <p:spPr>
          <a:xfrm>
            <a:off x="8388248" y="965606"/>
            <a:ext cx="156088" cy="1507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1"/>
              </a:lnSpc>
              <a:buNone/>
            </a:pPr>
            <a:r>
              <a:rPr lang="en-US" sz="793" b="1" dirty="0">
                <a:solidFill>
                  <a:srgbClr val="5B5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793" dirty="0"/>
          </a:p>
        </p:txBody>
      </p:sp>
      <p:sp>
        <p:nvSpPr>
          <p:cNvPr id="7" name="Text 5"/>
          <p:cNvSpPr txBox="1"/>
          <p:nvPr/>
        </p:nvSpPr>
        <p:spPr>
          <a:xfrm>
            <a:off x="690372" y="568391"/>
            <a:ext cx="1400678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38" kern="0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GRAFO SIMULADO</a:t>
            </a:r>
            <a:endParaRPr lang="en-US" sz="960" dirty="0"/>
          </a:p>
        </p:txBody>
      </p:sp>
      <p:sp>
        <p:nvSpPr>
          <p:cNvPr id="8" name="Text 6"/>
          <p:cNvSpPr txBox="1"/>
          <p:nvPr/>
        </p:nvSpPr>
        <p:spPr>
          <a:xfrm>
            <a:off x="667603" y="836767"/>
            <a:ext cx="3694725" cy="1106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4" b="1" spc="-120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Malla sintética</a:t>
            </a:r>
            <a:endParaRPr lang="en-US" sz="3604" dirty="0"/>
          </a:p>
          <a:p>
            <a:pPr algn="l" indent="0" marL="0">
              <a:lnSpc>
                <a:spcPts val="3820"/>
              </a:lnSpc>
              <a:buNone/>
            </a:pPr>
            <a:r>
              <a:rPr lang="en-US" sz="3604" b="1" spc="-119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navegación</a:t>
            </a:r>
            <a:endParaRPr lang="en-US" sz="3604" dirty="0"/>
          </a:p>
        </p:txBody>
      </p:sp>
      <p:sp>
        <p:nvSpPr>
          <p:cNvPr id="9" name="Text 7"/>
          <p:cNvSpPr txBox="1"/>
          <p:nvPr/>
        </p:nvSpPr>
        <p:spPr>
          <a:xfrm>
            <a:off x="699699" y="2786085"/>
            <a:ext cx="1156990" cy="810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113"/>
              </a:lnSpc>
              <a:buNone/>
            </a:pPr>
            <a:r>
              <a:rPr lang="en-US" sz="4261" b="1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196</a:t>
            </a:r>
            <a:endParaRPr lang="en-US" sz="4261" dirty="0"/>
          </a:p>
        </p:txBody>
      </p:sp>
      <p:sp>
        <p:nvSpPr>
          <p:cNvPr id="10" name="Text 8"/>
          <p:cNvSpPr txBox="1"/>
          <p:nvPr/>
        </p:nvSpPr>
        <p:spPr>
          <a:xfrm>
            <a:off x="1666037" y="3177449"/>
            <a:ext cx="644835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spc="80" kern="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nodos</a:t>
            </a:r>
            <a:endParaRPr lang="en-US" sz="1175" dirty="0"/>
          </a:p>
        </p:txBody>
      </p:sp>
      <p:sp>
        <p:nvSpPr>
          <p:cNvPr id="11" name="Text 9"/>
          <p:cNvSpPr txBox="1"/>
          <p:nvPr/>
        </p:nvSpPr>
        <p:spPr>
          <a:xfrm>
            <a:off x="2175175" y="2786085"/>
            <a:ext cx="1497970" cy="810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113"/>
              </a:lnSpc>
              <a:buNone/>
            </a:pPr>
            <a:r>
              <a:rPr lang="en-US" sz="4261" b="1" spc="299" kern="0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618</a:t>
            </a:r>
            <a:endParaRPr lang="en-US" sz="4261" dirty="0"/>
          </a:p>
        </p:txBody>
      </p:sp>
      <p:sp>
        <p:nvSpPr>
          <p:cNvPr id="12" name="Text 10"/>
          <p:cNvSpPr txBox="1"/>
          <p:nvPr/>
        </p:nvSpPr>
        <p:spPr>
          <a:xfrm>
            <a:off x="3446008" y="3177449"/>
            <a:ext cx="681960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spc="60" kern="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aristas</a:t>
            </a:r>
            <a:endParaRPr lang="en-US" sz="1175" dirty="0"/>
          </a:p>
        </p:txBody>
      </p:sp>
      <p:sp>
        <p:nvSpPr>
          <p:cNvPr id="13" name="Text 11"/>
          <p:cNvSpPr txBox="1"/>
          <p:nvPr/>
        </p:nvSpPr>
        <p:spPr>
          <a:xfrm>
            <a:off x="699699" y="3682472"/>
            <a:ext cx="3215030" cy="436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3"/>
              </a:lnSpc>
              <a:buNone/>
            </a:pPr>
            <a:r>
              <a:rPr lang="en-US" sz="1175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2,5D · elevación y edificios como entradas</a:t>
            </a:r>
            <a:endParaRPr lang="en-US" sz="1175" dirty="0"/>
          </a:p>
          <a:p>
            <a:pPr algn="l" indent="0" marL="0">
              <a:lnSpc>
                <a:spcPts val="1543"/>
              </a:lnSpc>
              <a:buNone/>
            </a:pPr>
            <a:r>
              <a:rPr lang="en-US" sz="1175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parciales</a:t>
            </a:r>
            <a:endParaRPr lang="en-US" sz="1175" dirty="0"/>
          </a:p>
        </p:txBody>
      </p:sp>
      <p:sp>
        <p:nvSpPr>
          <p:cNvPr id="14" name="Text 12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35</a:t>
            </a:r>
            <a:endParaRPr lang="en-US" sz="88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85775" y="745419"/>
            <a:ext cx="1976018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41" kern="0" dirty="0">
                <a:solidFill>
                  <a:srgbClr val="ADB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VÉRTICES Y SEGMENTOS</a:t>
            </a:r>
            <a:endParaRPr lang="en-US" sz="960" dirty="0"/>
          </a:p>
        </p:txBody>
      </p:sp>
      <p:sp>
        <p:nvSpPr>
          <p:cNvPr id="3" name="Text 1"/>
          <p:cNvSpPr txBox="1"/>
          <p:nvPr/>
        </p:nvSpPr>
        <p:spPr>
          <a:xfrm>
            <a:off x="5769498" y="997062"/>
            <a:ext cx="3197017" cy="11600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91"/>
              </a:lnSpc>
              <a:buNone/>
            </a:pPr>
            <a:r>
              <a:rPr lang="en-US" sz="2566" b="1" spc="-82" kern="0" dirty="0">
                <a:solidFill>
                  <a:srgbClr val="F9F7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grafo convierte</a:t>
            </a:r>
            <a:endParaRPr lang="en-US" sz="2566" dirty="0"/>
          </a:p>
          <a:p>
            <a:pPr algn="l" indent="0" marL="0">
              <a:lnSpc>
                <a:spcPts val="2791"/>
              </a:lnSpc>
              <a:buNone/>
            </a:pPr>
            <a:r>
              <a:rPr lang="en-US" sz="2566" b="1" spc="-81" kern="0" dirty="0">
                <a:solidFill>
                  <a:srgbClr val="F9F7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zona en una</a:t>
            </a:r>
            <a:endParaRPr lang="en-US" sz="2566" dirty="0"/>
          </a:p>
          <a:p>
            <a:pPr algn="l" indent="0" marL="0">
              <a:lnSpc>
                <a:spcPts val="2791"/>
              </a:lnSpc>
              <a:buNone/>
            </a:pPr>
            <a:r>
              <a:rPr lang="en-US" sz="2566" b="1" spc="-81" kern="0" dirty="0">
                <a:solidFill>
                  <a:srgbClr val="F9F7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 navegable.</a:t>
            </a:r>
            <a:endParaRPr lang="en-US" sz="2566" dirty="0"/>
          </a:p>
        </p:txBody>
      </p:sp>
      <p:sp>
        <p:nvSpPr>
          <p:cNvPr id="4" name="Text 2"/>
          <p:cNvSpPr txBox="1"/>
          <p:nvPr/>
        </p:nvSpPr>
        <p:spPr>
          <a:xfrm>
            <a:off x="5785775" y="2329525"/>
            <a:ext cx="596372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b="1" dirty="0">
                <a:solidFill>
                  <a:srgbClr val="D4AC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Nodo</a:t>
            </a:r>
            <a:endParaRPr lang="en-US" sz="1322" dirty="0"/>
          </a:p>
        </p:txBody>
      </p:sp>
      <p:sp>
        <p:nvSpPr>
          <p:cNvPr id="5" name="Text 3"/>
          <p:cNvSpPr txBox="1"/>
          <p:nvPr/>
        </p:nvSpPr>
        <p:spPr>
          <a:xfrm>
            <a:off x="6830659" y="2320199"/>
            <a:ext cx="1843339" cy="41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ECE9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 de navegación con</a:t>
            </a:r>
            <a:endParaRPr lang="en-US" sz="1097" dirty="0"/>
          </a:p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ECE9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coordenadas WGS84.</a:t>
            </a:r>
            <a:endParaRPr lang="en-US" sz="1097" dirty="0"/>
          </a:p>
        </p:txBody>
      </p:sp>
      <p:sp>
        <p:nvSpPr>
          <p:cNvPr id="6" name="Text 4"/>
          <p:cNvSpPr txBox="1"/>
          <p:nvPr/>
        </p:nvSpPr>
        <p:spPr>
          <a:xfrm>
            <a:off x="5785775" y="2916479"/>
            <a:ext cx="664769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b="1" dirty="0">
                <a:solidFill>
                  <a:srgbClr val="D4AC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Arista</a:t>
            </a:r>
            <a:endParaRPr lang="en-US" sz="1322" dirty="0"/>
          </a:p>
        </p:txBody>
      </p:sp>
      <p:sp>
        <p:nvSpPr>
          <p:cNvPr id="7" name="Text 5"/>
          <p:cNvSpPr txBox="1"/>
          <p:nvPr/>
        </p:nvSpPr>
        <p:spPr>
          <a:xfrm>
            <a:off x="6830659" y="2907152"/>
            <a:ext cx="1985071" cy="601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ECE9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Tramo no dirigido entre dos</a:t>
            </a:r>
            <a:endParaRPr lang="en-US" sz="1097" dirty="0"/>
          </a:p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ECE9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nodos; registra longitud y</a:t>
            </a:r>
            <a:endParaRPr lang="en-US" sz="1097" dirty="0"/>
          </a:p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ECE9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atributos.</a:t>
            </a:r>
            <a:endParaRPr lang="en-US" sz="1097" dirty="0"/>
          </a:p>
        </p:txBody>
      </p:sp>
      <p:sp>
        <p:nvSpPr>
          <p:cNvPr id="8" name="Text 6"/>
          <p:cNvSpPr txBox="1"/>
          <p:nvPr/>
        </p:nvSpPr>
        <p:spPr>
          <a:xfrm>
            <a:off x="5785775" y="3699205"/>
            <a:ext cx="746059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b="1" dirty="0">
                <a:solidFill>
                  <a:srgbClr val="D4AC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Misión</a:t>
            </a:r>
            <a:endParaRPr lang="en-US" sz="1322" dirty="0"/>
          </a:p>
        </p:txBody>
      </p:sp>
      <p:sp>
        <p:nvSpPr>
          <p:cNvPr id="9" name="Text 7"/>
          <p:cNvSpPr txBox="1"/>
          <p:nvPr/>
        </p:nvSpPr>
        <p:spPr>
          <a:xfrm>
            <a:off x="6830659" y="3689878"/>
            <a:ext cx="1799448" cy="41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ECE9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Ordena inicio, tres</a:t>
            </a:r>
            <a:endParaRPr lang="en-US" sz="1097" dirty="0"/>
          </a:p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ECE9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observaciones y destino.</a:t>
            </a:r>
            <a:endParaRPr lang="en-US" sz="1097" dirty="0"/>
          </a:p>
        </p:txBody>
      </p:sp>
      <p:sp>
        <p:nvSpPr>
          <p:cNvPr id="10" name="Text 8"/>
          <p:cNvSpPr txBox="1"/>
          <p:nvPr/>
        </p:nvSpPr>
        <p:spPr>
          <a:xfrm>
            <a:off x="2851922" y="1535918"/>
            <a:ext cx="269474" cy="213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117" b="1" dirty="0">
                <a:solidFill>
                  <a:srgbClr val="2026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117" dirty="0"/>
          </a:p>
        </p:txBody>
      </p:sp>
      <p:sp>
        <p:nvSpPr>
          <p:cNvPr id="11" name="Text 9"/>
          <p:cNvSpPr txBox="1"/>
          <p:nvPr/>
        </p:nvSpPr>
        <p:spPr>
          <a:xfrm>
            <a:off x="4533687" y="4079961"/>
            <a:ext cx="269474" cy="213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117" b="1" dirty="0">
                <a:solidFill>
                  <a:srgbClr val="2026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1117" dirty="0"/>
          </a:p>
        </p:txBody>
      </p:sp>
      <p:sp>
        <p:nvSpPr>
          <p:cNvPr id="12" name="Text 10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F9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35</a:t>
            </a:r>
            <a:endParaRPr lang="en-US" sz="88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3064" y="503194"/>
            <a:ext cx="1208837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37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 ETL</a:t>
            </a:r>
            <a:endParaRPr lang="en-US" sz="960" dirty="0"/>
          </a:p>
        </p:txBody>
      </p:sp>
      <p:sp>
        <p:nvSpPr>
          <p:cNvPr id="3" name="Text 1"/>
          <p:cNvSpPr txBox="1"/>
          <p:nvPr/>
        </p:nvSpPr>
        <p:spPr>
          <a:xfrm>
            <a:off x="632673" y="717438"/>
            <a:ext cx="8538759" cy="615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79"/>
              </a:lnSpc>
              <a:buNone/>
            </a:pPr>
            <a:r>
              <a:rPr lang="en-US" sz="3232" b="1" spc="-110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información atraviesa cuatro capas</a:t>
            </a:r>
            <a:endParaRPr lang="en-US" sz="3232" dirty="0"/>
          </a:p>
        </p:txBody>
      </p:sp>
      <p:sp>
        <p:nvSpPr>
          <p:cNvPr id="4" name="Text 2"/>
          <p:cNvSpPr txBox="1"/>
          <p:nvPr/>
        </p:nvSpPr>
        <p:spPr>
          <a:xfrm>
            <a:off x="1759854" y="2366742"/>
            <a:ext cx="212598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b="1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81" dirty="0"/>
          </a:p>
        </p:txBody>
      </p:sp>
      <p:sp>
        <p:nvSpPr>
          <p:cNvPr id="5" name="Text 3"/>
          <p:cNvSpPr txBox="1"/>
          <p:nvPr/>
        </p:nvSpPr>
        <p:spPr>
          <a:xfrm>
            <a:off x="1287018" y="2562423"/>
            <a:ext cx="1271748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68"/>
              </a:lnSpc>
              <a:buNone/>
            </a:pPr>
            <a:r>
              <a:rPr lang="en-US" sz="2057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Fuentes</a:t>
            </a:r>
            <a:endParaRPr lang="en-US" sz="2057" dirty="0"/>
          </a:p>
        </p:txBody>
      </p:sp>
      <p:sp>
        <p:nvSpPr>
          <p:cNvPr id="6" name="Text 4"/>
          <p:cNvSpPr txBox="1"/>
          <p:nvPr/>
        </p:nvSpPr>
        <p:spPr>
          <a:xfrm>
            <a:off x="1448044" y="2972440"/>
            <a:ext cx="911017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metadata</a:t>
            </a:r>
            <a:endParaRPr lang="en-US" sz="1175" dirty="0"/>
          </a:p>
        </p:txBody>
      </p:sp>
      <p:sp>
        <p:nvSpPr>
          <p:cNvPr id="7" name="Text 5"/>
          <p:cNvSpPr txBox="1"/>
          <p:nvPr/>
        </p:nvSpPr>
        <p:spPr>
          <a:xfrm>
            <a:off x="1414851" y="3214665"/>
            <a:ext cx="985266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amenazas</a:t>
            </a:r>
            <a:endParaRPr lang="en-US" sz="1175" dirty="0"/>
          </a:p>
        </p:txBody>
      </p:sp>
      <p:sp>
        <p:nvSpPr>
          <p:cNvPr id="8" name="Text 6"/>
          <p:cNvSpPr txBox="1"/>
          <p:nvPr/>
        </p:nvSpPr>
        <p:spPr>
          <a:xfrm>
            <a:off x="3593043" y="2366742"/>
            <a:ext cx="212598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b="1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81" dirty="0"/>
          </a:p>
        </p:txBody>
      </p:sp>
      <p:sp>
        <p:nvSpPr>
          <p:cNvPr id="9" name="Text 7"/>
          <p:cNvSpPr txBox="1"/>
          <p:nvPr/>
        </p:nvSpPr>
        <p:spPr>
          <a:xfrm>
            <a:off x="3275381" y="2562423"/>
            <a:ext cx="923910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68"/>
              </a:lnSpc>
              <a:buNone/>
            </a:pPr>
            <a:r>
              <a:rPr lang="en-US" sz="2057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JSON</a:t>
            </a:r>
            <a:endParaRPr lang="en-US" sz="2057" dirty="0"/>
          </a:p>
        </p:txBody>
      </p:sp>
      <p:sp>
        <p:nvSpPr>
          <p:cNvPr id="10" name="Text 8"/>
          <p:cNvSpPr txBox="1"/>
          <p:nvPr/>
        </p:nvSpPr>
        <p:spPr>
          <a:xfrm>
            <a:off x="3312414" y="2972440"/>
            <a:ext cx="841157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archivos +</a:t>
            </a:r>
            <a:endParaRPr lang="en-US" sz="1175" dirty="0"/>
          </a:p>
        </p:txBody>
      </p:sp>
      <p:sp>
        <p:nvSpPr>
          <p:cNvPr id="11" name="Text 9"/>
          <p:cNvSpPr txBox="1"/>
          <p:nvPr/>
        </p:nvSpPr>
        <p:spPr>
          <a:xfrm>
            <a:off x="3094604" y="3214665"/>
            <a:ext cx="1328989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propia</a:t>
            </a:r>
            <a:endParaRPr lang="en-US" sz="1175" dirty="0"/>
          </a:p>
        </p:txBody>
      </p:sp>
      <p:sp>
        <p:nvSpPr>
          <p:cNvPr id="12" name="Text 10"/>
          <p:cNvSpPr txBox="1"/>
          <p:nvPr/>
        </p:nvSpPr>
        <p:spPr>
          <a:xfrm>
            <a:off x="5426141" y="2366742"/>
            <a:ext cx="212598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b="1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81" dirty="0"/>
          </a:p>
        </p:txBody>
      </p:sp>
      <p:sp>
        <p:nvSpPr>
          <p:cNvPr id="13" name="Text 11"/>
          <p:cNvSpPr txBox="1"/>
          <p:nvPr/>
        </p:nvSpPr>
        <p:spPr>
          <a:xfrm>
            <a:off x="4945898" y="2562423"/>
            <a:ext cx="1288481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68"/>
              </a:lnSpc>
              <a:buNone/>
            </a:pPr>
            <a:r>
              <a:rPr lang="en-US" sz="2057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PostGIS</a:t>
            </a:r>
            <a:endParaRPr lang="en-US" sz="2057" dirty="0"/>
          </a:p>
        </p:txBody>
      </p:sp>
      <p:sp>
        <p:nvSpPr>
          <p:cNvPr id="14" name="Text 12"/>
          <p:cNvSpPr txBox="1"/>
          <p:nvPr/>
        </p:nvSpPr>
        <p:spPr>
          <a:xfrm>
            <a:off x="5050140" y="2972440"/>
            <a:ext cx="1054943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cargadores +</a:t>
            </a:r>
            <a:endParaRPr lang="en-US" sz="1175" dirty="0"/>
          </a:p>
        </p:txBody>
      </p:sp>
      <p:sp>
        <p:nvSpPr>
          <p:cNvPr id="15" name="Text 13"/>
          <p:cNvSpPr txBox="1"/>
          <p:nvPr/>
        </p:nvSpPr>
        <p:spPr>
          <a:xfrm>
            <a:off x="5118628" y="3214665"/>
            <a:ext cx="901690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pesos SQL</a:t>
            </a:r>
            <a:endParaRPr lang="en-US" sz="1175" dirty="0"/>
          </a:p>
        </p:txBody>
      </p:sp>
      <p:sp>
        <p:nvSpPr>
          <p:cNvPr id="16" name="Text 14"/>
          <p:cNvSpPr txBox="1"/>
          <p:nvPr/>
        </p:nvSpPr>
        <p:spPr>
          <a:xfrm>
            <a:off x="7259330" y="2366742"/>
            <a:ext cx="212598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b="1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81" dirty="0"/>
          </a:p>
        </p:txBody>
      </p:sp>
      <p:sp>
        <p:nvSpPr>
          <p:cNvPr id="17" name="Text 15"/>
          <p:cNvSpPr txBox="1"/>
          <p:nvPr/>
        </p:nvSpPr>
        <p:spPr>
          <a:xfrm>
            <a:off x="7014911" y="2562423"/>
            <a:ext cx="760415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68"/>
              </a:lnSpc>
              <a:buNone/>
            </a:pPr>
            <a:r>
              <a:rPr lang="en-US" sz="2057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</a:t>
            </a:r>
            <a:endParaRPr lang="en-US" sz="2057" dirty="0"/>
          </a:p>
        </p:txBody>
      </p:sp>
      <p:sp>
        <p:nvSpPr>
          <p:cNvPr id="18" name="Text 16"/>
          <p:cNvSpPr txBox="1"/>
          <p:nvPr/>
        </p:nvSpPr>
        <p:spPr>
          <a:xfrm>
            <a:off x="7032559" y="2972440"/>
            <a:ext cx="720639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Leaflet +</a:t>
            </a:r>
            <a:endParaRPr lang="en-US" sz="1175" dirty="0"/>
          </a:p>
        </p:txBody>
      </p:sp>
      <p:sp>
        <p:nvSpPr>
          <p:cNvPr id="19" name="Text 17"/>
          <p:cNvSpPr txBox="1"/>
          <p:nvPr/>
        </p:nvSpPr>
        <p:spPr>
          <a:xfrm>
            <a:off x="6910212" y="3214665"/>
            <a:ext cx="994410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preferencias</a:t>
            </a:r>
            <a:endParaRPr lang="en-US" sz="1175" dirty="0"/>
          </a:p>
        </p:txBody>
      </p:sp>
      <p:sp>
        <p:nvSpPr>
          <p:cNvPr id="20" name="Text 18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35</a:t>
            </a:r>
            <a:endParaRPr lang="en-US" sz="881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3064" y="447233"/>
            <a:ext cx="2743109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42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3.1 · EXTRACCIÓN DE METADATA</a:t>
            </a:r>
            <a:endParaRPr lang="en-US" sz="960" dirty="0"/>
          </a:p>
        </p:txBody>
      </p:sp>
      <p:sp>
        <p:nvSpPr>
          <p:cNvPr id="3" name="Text 1"/>
          <p:cNvSpPr txBox="1"/>
          <p:nvPr/>
        </p:nvSpPr>
        <p:spPr>
          <a:xfrm>
            <a:off x="634959" y="642915"/>
            <a:ext cx="7071787" cy="545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38"/>
              </a:lnSpc>
              <a:buNone/>
            </a:pPr>
            <a:r>
              <a:rPr lang="en-US" sz="2860" b="1" spc="-95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Metadata: fuentes, scripts y campos</a:t>
            </a:r>
            <a:endParaRPr lang="en-US" sz="2860" dirty="0"/>
          </a:p>
        </p:txBody>
      </p:sp>
      <p:sp>
        <p:nvSpPr>
          <p:cNvPr id="4" name="Text 2"/>
          <p:cNvSpPr txBox="1"/>
          <p:nvPr/>
        </p:nvSpPr>
        <p:spPr>
          <a:xfrm>
            <a:off x="653064" y="1593342"/>
            <a:ext cx="270022" cy="2376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9"/>
              </a:lnSpc>
              <a:buNone/>
            </a:pPr>
            <a:r>
              <a:rPr lang="en-US" sz="1254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54" dirty="0"/>
          </a:p>
        </p:txBody>
      </p:sp>
      <p:sp>
        <p:nvSpPr>
          <p:cNvPr id="5" name="Text 3"/>
          <p:cNvSpPr txBox="1"/>
          <p:nvPr/>
        </p:nvSpPr>
        <p:spPr>
          <a:xfrm>
            <a:off x="1110173" y="1453622"/>
            <a:ext cx="1772290" cy="279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3"/>
              </a:lnSpc>
              <a:buNone/>
            </a:pPr>
            <a:r>
              <a:rPr lang="en-US" sz="1469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OpenStreetMap</a:t>
            </a:r>
            <a:endParaRPr lang="en-US" sz="1469" dirty="0"/>
          </a:p>
        </p:txBody>
      </p:sp>
      <p:sp>
        <p:nvSpPr>
          <p:cNvPr id="6" name="Text 4"/>
          <p:cNvSpPr txBox="1"/>
          <p:nvPr/>
        </p:nvSpPr>
        <p:spPr>
          <a:xfrm>
            <a:off x="1110173" y="1733154"/>
            <a:ext cx="1267267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Overpass · edificios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2850642" y="1445758"/>
            <a:ext cx="1663476" cy="22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6"/>
              </a:lnSpc>
              <a:buNone/>
            </a:pPr>
            <a:r>
              <a:rPr lang="en-US" sz="1166" spc="57" kern="0" dirty="0">
                <a:solidFill>
                  <a:srgbClr val="ABBF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osm_edificios.py</a:t>
            </a:r>
            <a:endParaRPr lang="en-US" sz="1166" dirty="0"/>
          </a:p>
        </p:txBody>
      </p:sp>
      <p:sp>
        <p:nvSpPr>
          <p:cNvPr id="8" name="Text 6"/>
          <p:cNvSpPr txBox="1"/>
          <p:nvPr/>
        </p:nvSpPr>
        <p:spPr>
          <a:xfrm>
            <a:off x="4483943" y="1397660"/>
            <a:ext cx="325435" cy="335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6"/>
              </a:lnSpc>
              <a:buNone/>
            </a:pPr>
            <a:r>
              <a:rPr lang="en-US" sz="1763" dirty="0">
                <a:solidFill>
                  <a:srgbClr val="AB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63" dirty="0"/>
          </a:p>
        </p:txBody>
      </p:sp>
      <p:sp>
        <p:nvSpPr>
          <p:cNvPr id="9" name="Text 7"/>
          <p:cNvSpPr txBox="1"/>
          <p:nvPr/>
        </p:nvSpPr>
        <p:spPr>
          <a:xfrm>
            <a:off x="4889754" y="1306038"/>
            <a:ext cx="1464869" cy="4729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66" spc="57" kern="0" dirty="0">
                <a:solidFill>
                  <a:srgbClr val="ABBF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osm_edificios.</a:t>
            </a:r>
            <a:endParaRPr lang="en-US" sz="1166" dirty="0"/>
          </a:p>
          <a:p>
            <a:pPr algn="l" indent="0" marL="0">
              <a:lnSpc>
                <a:spcPts val="1690"/>
              </a:lnSpc>
              <a:buNone/>
            </a:pPr>
            <a:r>
              <a:rPr lang="en-US" sz="1166" spc="57" kern="0" dirty="0">
                <a:solidFill>
                  <a:srgbClr val="ABBF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endParaRPr lang="en-US" sz="1166" dirty="0"/>
          </a:p>
        </p:txBody>
      </p:sp>
      <p:sp>
        <p:nvSpPr>
          <p:cNvPr id="10" name="Text 8"/>
          <p:cNvSpPr txBox="1"/>
          <p:nvPr/>
        </p:nvSpPr>
        <p:spPr>
          <a:xfrm>
            <a:off x="2794681" y="1835658"/>
            <a:ext cx="2143079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altura_estimada_m · origen_altura</a:t>
            </a:r>
            <a:endParaRPr lang="en-US" sz="960" dirty="0"/>
          </a:p>
        </p:txBody>
      </p:sp>
      <p:sp>
        <p:nvSpPr>
          <p:cNvPr id="11" name="Text 9"/>
          <p:cNvSpPr txBox="1"/>
          <p:nvPr/>
        </p:nvSpPr>
        <p:spPr>
          <a:xfrm>
            <a:off x="653064" y="2636947"/>
            <a:ext cx="270022" cy="2376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9"/>
              </a:lnSpc>
              <a:buNone/>
            </a:pPr>
            <a:r>
              <a:rPr lang="en-US" sz="1254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54" dirty="0"/>
          </a:p>
        </p:txBody>
      </p:sp>
      <p:sp>
        <p:nvSpPr>
          <p:cNvPr id="12" name="Text 10"/>
          <p:cNvSpPr txBox="1"/>
          <p:nvPr/>
        </p:nvSpPr>
        <p:spPr>
          <a:xfrm>
            <a:off x="1110173" y="2413376"/>
            <a:ext cx="1300460" cy="4658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16"/>
              </a:lnSpc>
              <a:buNone/>
            </a:pPr>
            <a:r>
              <a:rPr lang="en-US" sz="1469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Copernicus</a:t>
            </a:r>
            <a:endParaRPr lang="en-US" sz="1469" dirty="0"/>
          </a:p>
          <a:p>
            <a:pPr algn="l" indent="0" marL="0">
              <a:lnSpc>
                <a:spcPts val="1616"/>
              </a:lnSpc>
              <a:buNone/>
            </a:pPr>
            <a:r>
              <a:rPr lang="en-US" sz="1469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GLO-90</a:t>
            </a:r>
            <a:endParaRPr lang="en-US" sz="1469" dirty="0"/>
          </a:p>
        </p:txBody>
      </p:sp>
      <p:sp>
        <p:nvSpPr>
          <p:cNvPr id="13" name="Text 11"/>
          <p:cNvSpPr txBox="1"/>
          <p:nvPr/>
        </p:nvSpPr>
        <p:spPr>
          <a:xfrm>
            <a:off x="1110173" y="2879263"/>
            <a:ext cx="1426007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Open-Meteo Elevation</a:t>
            </a:r>
            <a:endParaRPr lang="en-US" sz="960" dirty="0"/>
          </a:p>
        </p:txBody>
      </p:sp>
      <p:sp>
        <p:nvSpPr>
          <p:cNvPr id="14" name="Text 12"/>
          <p:cNvSpPr txBox="1"/>
          <p:nvPr/>
        </p:nvSpPr>
        <p:spPr>
          <a:xfrm>
            <a:off x="2850642" y="2489363"/>
            <a:ext cx="1266261" cy="22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6"/>
              </a:lnSpc>
              <a:buNone/>
            </a:pPr>
            <a:r>
              <a:rPr lang="en-US" sz="1166" spc="57" kern="0" dirty="0">
                <a:solidFill>
                  <a:srgbClr val="ABBF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elevacion.py</a:t>
            </a:r>
            <a:endParaRPr lang="en-US" sz="1166" dirty="0"/>
          </a:p>
        </p:txBody>
      </p:sp>
      <p:sp>
        <p:nvSpPr>
          <p:cNvPr id="15" name="Text 13"/>
          <p:cNvSpPr txBox="1"/>
          <p:nvPr/>
        </p:nvSpPr>
        <p:spPr>
          <a:xfrm>
            <a:off x="4483943" y="2441265"/>
            <a:ext cx="325435" cy="335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6"/>
              </a:lnSpc>
              <a:buNone/>
            </a:pPr>
            <a:r>
              <a:rPr lang="en-US" sz="1763" dirty="0">
                <a:solidFill>
                  <a:srgbClr val="AB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63" dirty="0"/>
          </a:p>
        </p:txBody>
      </p:sp>
      <p:sp>
        <p:nvSpPr>
          <p:cNvPr id="16" name="Text 14"/>
          <p:cNvSpPr txBox="1"/>
          <p:nvPr/>
        </p:nvSpPr>
        <p:spPr>
          <a:xfrm>
            <a:off x="4889754" y="2489363"/>
            <a:ext cx="1464869" cy="22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6"/>
              </a:lnSpc>
              <a:buNone/>
            </a:pPr>
            <a:r>
              <a:rPr lang="en-US" sz="1166" spc="57" kern="0" dirty="0">
                <a:solidFill>
                  <a:srgbClr val="ABBF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elevacion.json</a:t>
            </a:r>
            <a:endParaRPr lang="en-US" sz="1166" dirty="0"/>
          </a:p>
        </p:txBody>
      </p:sp>
      <p:sp>
        <p:nvSpPr>
          <p:cNvPr id="17" name="Text 15"/>
          <p:cNvSpPr txBox="1"/>
          <p:nvPr/>
        </p:nvSpPr>
        <p:spPr>
          <a:xfrm>
            <a:off x="2794681" y="2879263"/>
            <a:ext cx="1637233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· ref_id · elevacion_m</a:t>
            </a:r>
            <a:endParaRPr lang="en-US" sz="960" dirty="0"/>
          </a:p>
        </p:txBody>
      </p:sp>
      <p:sp>
        <p:nvSpPr>
          <p:cNvPr id="18" name="Text 16"/>
          <p:cNvSpPr txBox="1"/>
          <p:nvPr/>
        </p:nvSpPr>
        <p:spPr>
          <a:xfrm>
            <a:off x="653064" y="3680551"/>
            <a:ext cx="270022" cy="2376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9"/>
              </a:lnSpc>
              <a:buNone/>
            </a:pPr>
            <a:r>
              <a:rPr lang="en-US" sz="1254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54" dirty="0"/>
          </a:p>
        </p:txBody>
      </p:sp>
      <p:sp>
        <p:nvSpPr>
          <p:cNvPr id="19" name="Text 17"/>
          <p:cNvSpPr txBox="1"/>
          <p:nvPr/>
        </p:nvSpPr>
        <p:spPr>
          <a:xfrm>
            <a:off x="1110173" y="3410346"/>
            <a:ext cx="675467" cy="279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3"/>
              </a:lnSpc>
              <a:buNone/>
            </a:pPr>
            <a:r>
              <a:rPr lang="en-US" sz="1469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ERA5</a:t>
            </a:r>
            <a:endParaRPr lang="en-US" sz="1469" dirty="0"/>
          </a:p>
        </p:txBody>
      </p:sp>
      <p:sp>
        <p:nvSpPr>
          <p:cNvPr id="20" name="Text 18"/>
          <p:cNvSpPr txBox="1"/>
          <p:nvPr/>
        </p:nvSpPr>
        <p:spPr>
          <a:xfrm>
            <a:off x="1110173" y="3689878"/>
            <a:ext cx="1425732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Open-Meteo Historical</a:t>
            </a:r>
            <a:endParaRPr lang="en-US" sz="960" dirty="0"/>
          </a:p>
        </p:txBody>
      </p:sp>
      <p:sp>
        <p:nvSpPr>
          <p:cNvPr id="21" name="Text 19"/>
          <p:cNvSpPr txBox="1"/>
          <p:nvPr/>
        </p:nvSpPr>
        <p:spPr>
          <a:xfrm>
            <a:off x="1110173" y="3941521"/>
            <a:ext cx="585490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</a:t>
            </a:r>
            <a:endParaRPr lang="en-US" sz="960" dirty="0"/>
          </a:p>
        </p:txBody>
      </p:sp>
      <p:sp>
        <p:nvSpPr>
          <p:cNvPr id="22" name="Text 20"/>
          <p:cNvSpPr txBox="1"/>
          <p:nvPr/>
        </p:nvSpPr>
        <p:spPr>
          <a:xfrm>
            <a:off x="2850642" y="3532967"/>
            <a:ext cx="968350" cy="22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6"/>
              </a:lnSpc>
              <a:buNone/>
            </a:pPr>
            <a:r>
              <a:rPr lang="en-US" sz="1166" spc="57" kern="0" dirty="0">
                <a:solidFill>
                  <a:srgbClr val="ABBF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viento.py</a:t>
            </a:r>
            <a:endParaRPr lang="en-US" sz="1166" dirty="0"/>
          </a:p>
        </p:txBody>
      </p:sp>
      <p:sp>
        <p:nvSpPr>
          <p:cNvPr id="23" name="Text 21"/>
          <p:cNvSpPr txBox="1"/>
          <p:nvPr/>
        </p:nvSpPr>
        <p:spPr>
          <a:xfrm>
            <a:off x="4483943" y="3484870"/>
            <a:ext cx="325435" cy="335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6"/>
              </a:lnSpc>
              <a:buNone/>
            </a:pPr>
            <a:r>
              <a:rPr lang="en-US" sz="1763" dirty="0">
                <a:solidFill>
                  <a:srgbClr val="AB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63" dirty="0"/>
          </a:p>
        </p:txBody>
      </p:sp>
      <p:sp>
        <p:nvSpPr>
          <p:cNvPr id="24" name="Text 22"/>
          <p:cNvSpPr txBox="1"/>
          <p:nvPr/>
        </p:nvSpPr>
        <p:spPr>
          <a:xfrm>
            <a:off x="4889754" y="3532967"/>
            <a:ext cx="1166957" cy="22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6"/>
              </a:lnSpc>
              <a:buNone/>
            </a:pPr>
            <a:r>
              <a:rPr lang="en-US" sz="1166" spc="57" kern="0" dirty="0">
                <a:solidFill>
                  <a:srgbClr val="ABBF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viento.json</a:t>
            </a:r>
            <a:endParaRPr lang="en-US" sz="1166" dirty="0"/>
          </a:p>
        </p:txBody>
      </p:sp>
      <p:sp>
        <p:nvSpPr>
          <p:cNvPr id="25" name="Text 23"/>
          <p:cNvSpPr txBox="1"/>
          <p:nvPr/>
        </p:nvSpPr>
        <p:spPr>
          <a:xfrm>
            <a:off x="2794681" y="3922867"/>
            <a:ext cx="2618659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ts_utc · velocidad_m_s · direccion_grados</a:t>
            </a:r>
            <a:endParaRPr lang="en-US" sz="960" dirty="0"/>
          </a:p>
        </p:txBody>
      </p:sp>
      <p:sp>
        <p:nvSpPr>
          <p:cNvPr id="26" name="Text 24"/>
          <p:cNvSpPr txBox="1"/>
          <p:nvPr/>
        </p:nvSpPr>
        <p:spPr>
          <a:xfrm>
            <a:off x="653064" y="4453951"/>
            <a:ext cx="5649346" cy="2096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2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extractor tiene un documento ESTRUCTURA_*.md con su formato propio.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35</a:t>
            </a:r>
            <a:endParaRPr lang="en-US" sz="881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8353" y="428671"/>
            <a:ext cx="2743109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42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4.1 · EXTRACCIÓN DE AMENAZAS</a:t>
            </a:r>
            <a:endParaRPr lang="en-US" sz="960" dirty="0"/>
          </a:p>
        </p:txBody>
      </p:sp>
      <p:sp>
        <p:nvSpPr>
          <p:cNvPr id="3" name="Text 1"/>
          <p:cNvSpPr txBox="1"/>
          <p:nvPr/>
        </p:nvSpPr>
        <p:spPr>
          <a:xfrm>
            <a:off x="700705" y="652242"/>
            <a:ext cx="8428573" cy="5310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50"/>
              </a:lnSpc>
              <a:buNone/>
            </a:pPr>
            <a:r>
              <a:rPr lang="en-US" sz="2791" b="1" spc="-95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Amenazas: fuente, extracción y salida JSON</a:t>
            </a:r>
            <a:endParaRPr lang="en-US" sz="2791" dirty="0"/>
          </a:p>
        </p:txBody>
      </p:sp>
      <p:sp>
        <p:nvSpPr>
          <p:cNvPr id="4" name="Text 2"/>
          <p:cNvSpPr txBox="1"/>
          <p:nvPr/>
        </p:nvSpPr>
        <p:spPr>
          <a:xfrm>
            <a:off x="1408725" y="1295156"/>
            <a:ext cx="247071" cy="2096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2"/>
              </a:lnSpc>
              <a:buNone/>
            </a:pPr>
            <a:r>
              <a:rPr lang="en-US" sz="1097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97" dirty="0"/>
          </a:p>
        </p:txBody>
      </p:sp>
      <p:sp>
        <p:nvSpPr>
          <p:cNvPr id="5" name="Text 3"/>
          <p:cNvSpPr txBox="1"/>
          <p:nvPr/>
        </p:nvSpPr>
        <p:spPr>
          <a:xfrm>
            <a:off x="1861170" y="1257940"/>
            <a:ext cx="1214598" cy="3493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4"/>
              </a:lnSpc>
              <a:buNone/>
            </a:pPr>
            <a:r>
              <a:rPr lang="en-US" sz="1841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GPSJam</a:t>
            </a:r>
            <a:endParaRPr lang="en-US" sz="1841" dirty="0"/>
          </a:p>
        </p:txBody>
      </p:sp>
      <p:sp>
        <p:nvSpPr>
          <p:cNvPr id="6" name="Text 4"/>
          <p:cNvSpPr txBox="1"/>
          <p:nvPr/>
        </p:nvSpPr>
        <p:spPr>
          <a:xfrm>
            <a:off x="1861170" y="1584015"/>
            <a:ext cx="1792864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gpsjam.py → gpsjam.json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1861170" y="1835658"/>
            <a:ext cx="2668219" cy="195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4"/>
              </a:lnSpc>
              <a:buNone/>
            </a:pPr>
            <a:r>
              <a:rPr lang="en-US" sz="1028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celdas H3 · dias_rojos / dias_con_datos</a:t>
            </a:r>
            <a:endParaRPr lang="en-US" sz="1028" dirty="0"/>
          </a:p>
        </p:txBody>
      </p:sp>
      <p:sp>
        <p:nvSpPr>
          <p:cNvPr id="8" name="Text 6"/>
          <p:cNvSpPr txBox="1"/>
          <p:nvPr/>
        </p:nvSpPr>
        <p:spPr>
          <a:xfrm>
            <a:off x="1408725" y="2487900"/>
            <a:ext cx="247071" cy="2096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2"/>
              </a:lnSpc>
              <a:buNone/>
            </a:pPr>
            <a:r>
              <a:rPr lang="en-US" sz="1097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97" dirty="0"/>
          </a:p>
        </p:txBody>
      </p:sp>
      <p:sp>
        <p:nvSpPr>
          <p:cNvPr id="9" name="Text 7"/>
          <p:cNvSpPr txBox="1"/>
          <p:nvPr/>
        </p:nvSpPr>
        <p:spPr>
          <a:xfrm>
            <a:off x="1861170" y="2450592"/>
            <a:ext cx="2106869" cy="3493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4"/>
              </a:lnSpc>
              <a:buNone/>
            </a:pPr>
            <a:r>
              <a:rPr lang="en-US" sz="1841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Focos térmicos</a:t>
            </a:r>
            <a:endParaRPr lang="en-US" sz="1841" dirty="0"/>
          </a:p>
        </p:txBody>
      </p:sp>
      <p:sp>
        <p:nvSpPr>
          <p:cNvPr id="10" name="Text 8"/>
          <p:cNvSpPr txBox="1"/>
          <p:nvPr/>
        </p:nvSpPr>
        <p:spPr>
          <a:xfrm>
            <a:off x="1861170" y="2754356"/>
            <a:ext cx="3287085" cy="371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2"/>
              </a:lnSpc>
              <a:buNone/>
            </a:pPr>
            <a:r>
              <a:rPr lang="en-US" sz="96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Economist war-fire model · NASA FIRMS</a:t>
            </a:r>
            <a:endParaRPr lang="en-US" sz="960" dirty="0"/>
          </a:p>
          <a:p>
            <a:pPr algn="l" indent="0" marL="0">
              <a:lnSpc>
                <a:spcPts val="1322"/>
              </a:lnSpc>
              <a:buNone/>
            </a:pPr>
            <a:r>
              <a:rPr lang="en-US" sz="96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incendios_guerra.py → incendios_guerra.json</a:t>
            </a:r>
            <a:endParaRPr lang="en-US" sz="960" dirty="0"/>
          </a:p>
        </p:txBody>
      </p:sp>
      <p:sp>
        <p:nvSpPr>
          <p:cNvPr id="11" name="Text 9"/>
          <p:cNvSpPr txBox="1"/>
          <p:nvPr/>
        </p:nvSpPr>
        <p:spPr>
          <a:xfrm>
            <a:off x="1861170" y="3196011"/>
            <a:ext cx="2123420" cy="195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4"/>
              </a:lnSpc>
              <a:buNone/>
            </a:pPr>
            <a:r>
              <a:rPr lang="en-US" sz="1028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· periodo · guerra · lat/lon</a:t>
            </a:r>
            <a:endParaRPr lang="en-US" sz="1028" dirty="0"/>
          </a:p>
        </p:txBody>
      </p:sp>
      <p:sp>
        <p:nvSpPr>
          <p:cNvPr id="12" name="Text 10"/>
          <p:cNvSpPr txBox="1"/>
          <p:nvPr/>
        </p:nvSpPr>
        <p:spPr>
          <a:xfrm>
            <a:off x="1408725" y="3680551"/>
            <a:ext cx="247071" cy="2096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2"/>
              </a:lnSpc>
              <a:buNone/>
            </a:pPr>
            <a:r>
              <a:rPr lang="en-US" sz="1097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97" dirty="0"/>
          </a:p>
        </p:txBody>
      </p:sp>
      <p:sp>
        <p:nvSpPr>
          <p:cNvPr id="13" name="Text 11"/>
          <p:cNvSpPr txBox="1"/>
          <p:nvPr/>
        </p:nvSpPr>
        <p:spPr>
          <a:xfrm>
            <a:off x="1861170" y="3643335"/>
            <a:ext cx="1563258" cy="3493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4"/>
              </a:lnSpc>
              <a:buNone/>
            </a:pPr>
            <a:r>
              <a:rPr lang="en-US" sz="1841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UCDP GED</a:t>
            </a:r>
            <a:endParaRPr lang="en-US" sz="1841" dirty="0"/>
          </a:p>
        </p:txBody>
      </p:sp>
      <p:sp>
        <p:nvSpPr>
          <p:cNvPr id="14" name="Text 12"/>
          <p:cNvSpPr txBox="1"/>
          <p:nvPr/>
        </p:nvSpPr>
        <p:spPr>
          <a:xfrm>
            <a:off x="1861170" y="3969410"/>
            <a:ext cx="2689342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ucdp_eventos.py → ucdp_eventos.json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1861170" y="4221053"/>
            <a:ext cx="2716591" cy="195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4"/>
              </a:lnSpc>
              <a:buNone/>
            </a:pPr>
            <a:r>
              <a:rPr lang="en-US" sz="1028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· precision_lugar · muertes_estimadas</a:t>
            </a:r>
            <a:endParaRPr lang="en-US" sz="1028" dirty="0"/>
          </a:p>
        </p:txBody>
      </p:sp>
      <p:sp>
        <p:nvSpPr>
          <p:cNvPr id="16" name="Text 14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35</a:t>
            </a:r>
            <a:endParaRPr lang="en-US" sz="88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35558" y="195682"/>
            <a:ext cx="184617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dirty="0">
                <a:solidFill>
                  <a:srgbClr val="F1EA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22" dirty="0"/>
          </a:p>
        </p:txBody>
      </p:sp>
      <p:sp>
        <p:nvSpPr>
          <p:cNvPr id="3" name="Text 1"/>
          <p:cNvSpPr txBox="1"/>
          <p:nvPr/>
        </p:nvSpPr>
        <p:spPr>
          <a:xfrm>
            <a:off x="1232337" y="447233"/>
            <a:ext cx="3490631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spc="48" kern="0" dirty="0">
                <a:solidFill>
                  <a:srgbClr val="F1EA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"tipo": "grafo_navegacion_uav",</a:t>
            </a:r>
            <a:endParaRPr lang="en-US" sz="1322" dirty="0"/>
          </a:p>
        </p:txBody>
      </p:sp>
      <p:sp>
        <p:nvSpPr>
          <p:cNvPr id="4" name="Text 2"/>
          <p:cNvSpPr txBox="1"/>
          <p:nvPr/>
        </p:nvSpPr>
        <p:spPr>
          <a:xfrm>
            <a:off x="1232337" y="657819"/>
            <a:ext cx="2168225" cy="5534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3"/>
              </a:lnSpc>
              <a:buNone/>
            </a:pPr>
            <a:r>
              <a:rPr lang="en-US" sz="1322" spc="48" kern="0" dirty="0">
                <a:solidFill>
                  <a:srgbClr val="F1EA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"crs": "EPSG:4326",</a:t>
            </a:r>
            <a:endParaRPr lang="en-US" sz="1322" dirty="0"/>
          </a:p>
          <a:p>
            <a:pPr algn="l" indent="0" marL="0">
              <a:lnSpc>
                <a:spcPts val="1983"/>
              </a:lnSpc>
              <a:buNone/>
            </a:pPr>
            <a:r>
              <a:rPr lang="en-US" sz="1322" spc="48" kern="0" dirty="0">
                <a:solidFill>
                  <a:srgbClr val="F1EA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"nodos": [{</a:t>
            </a:r>
            <a:endParaRPr lang="en-US" sz="1322" dirty="0"/>
          </a:p>
        </p:txBody>
      </p:sp>
      <p:sp>
        <p:nvSpPr>
          <p:cNvPr id="5" name="Text 3"/>
          <p:cNvSpPr txBox="1"/>
          <p:nvPr/>
        </p:nvSpPr>
        <p:spPr>
          <a:xfrm>
            <a:off x="1429116" y="1170341"/>
            <a:ext cx="1837670" cy="805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3"/>
              </a:lnSpc>
              <a:buNone/>
            </a:pPr>
            <a:r>
              <a:rPr lang="en-US" sz="1322" spc="48" kern="0" dirty="0">
                <a:solidFill>
                  <a:srgbClr val="F1EA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"id": "integer",</a:t>
            </a:r>
            <a:endParaRPr lang="en-US" sz="1322" dirty="0"/>
          </a:p>
          <a:p>
            <a:pPr algn="l" indent="0" marL="0">
              <a:lnSpc>
                <a:spcPts val="1983"/>
              </a:lnSpc>
              <a:buNone/>
            </a:pPr>
            <a:r>
              <a:rPr lang="en-US" sz="1322" spc="48" kern="0" dirty="0">
                <a:solidFill>
                  <a:srgbClr val="F1EA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"lat": "number",</a:t>
            </a:r>
            <a:endParaRPr lang="en-US" sz="1322" dirty="0"/>
          </a:p>
          <a:p>
            <a:pPr algn="l" indent="0" marL="0">
              <a:lnSpc>
                <a:spcPts val="1983"/>
              </a:lnSpc>
              <a:buNone/>
            </a:pPr>
            <a:r>
              <a:rPr lang="en-US" sz="1322" spc="48" kern="0" dirty="0">
                <a:solidFill>
                  <a:srgbClr val="F1EA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"lon": "number",</a:t>
            </a:r>
            <a:endParaRPr lang="en-US" sz="1322" dirty="0"/>
          </a:p>
        </p:txBody>
      </p:sp>
      <p:sp>
        <p:nvSpPr>
          <p:cNvPr id="6" name="Text 4"/>
          <p:cNvSpPr txBox="1"/>
          <p:nvPr/>
        </p:nvSpPr>
        <p:spPr>
          <a:xfrm>
            <a:off x="1429116" y="1984705"/>
            <a:ext cx="3490631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spc="48" kern="0" dirty="0">
                <a:solidFill>
                  <a:srgbClr val="F1EA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"tipo": "inicio | observacion |</a:t>
            </a:r>
            <a:endParaRPr lang="en-US" sz="1322" dirty="0"/>
          </a:p>
        </p:txBody>
      </p:sp>
      <p:sp>
        <p:nvSpPr>
          <p:cNvPr id="7" name="Text 5"/>
          <p:cNvSpPr txBox="1"/>
          <p:nvPr/>
        </p:nvSpPr>
        <p:spPr>
          <a:xfrm>
            <a:off x="1035558" y="2236348"/>
            <a:ext cx="956097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spc="48" kern="0" dirty="0">
                <a:solidFill>
                  <a:srgbClr val="F1EA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destino"</a:t>
            </a:r>
            <a:endParaRPr lang="en-US" sz="1322" dirty="0"/>
          </a:p>
        </p:txBody>
      </p:sp>
      <p:sp>
        <p:nvSpPr>
          <p:cNvPr id="8" name="Text 6"/>
          <p:cNvSpPr txBox="1"/>
          <p:nvPr/>
        </p:nvSpPr>
        <p:spPr>
          <a:xfrm>
            <a:off x="1232337" y="2487900"/>
            <a:ext cx="405079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spc="47" kern="0" dirty="0">
                <a:solidFill>
                  <a:srgbClr val="F1EA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}],</a:t>
            </a:r>
            <a:endParaRPr lang="en-US" sz="1322" dirty="0"/>
          </a:p>
        </p:txBody>
      </p:sp>
      <p:sp>
        <p:nvSpPr>
          <p:cNvPr id="9" name="Text 7"/>
          <p:cNvSpPr txBox="1"/>
          <p:nvPr/>
        </p:nvSpPr>
        <p:spPr>
          <a:xfrm>
            <a:off x="1232337" y="2748778"/>
            <a:ext cx="1507023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spc="48" kern="0" dirty="0">
                <a:solidFill>
                  <a:srgbClr val="F1EA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"aristas": [{</a:t>
            </a:r>
            <a:endParaRPr lang="en-US" sz="1322" dirty="0"/>
          </a:p>
        </p:txBody>
      </p:sp>
      <p:sp>
        <p:nvSpPr>
          <p:cNvPr id="10" name="Text 8"/>
          <p:cNvSpPr txBox="1"/>
          <p:nvPr/>
        </p:nvSpPr>
        <p:spPr>
          <a:xfrm>
            <a:off x="1429116" y="2950037"/>
            <a:ext cx="2278410" cy="5534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3"/>
              </a:lnSpc>
              <a:buNone/>
            </a:pPr>
            <a:r>
              <a:rPr lang="en-US" sz="1322" spc="48" kern="0" dirty="0">
                <a:solidFill>
                  <a:srgbClr val="F1EA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"source": "integer",</a:t>
            </a:r>
            <a:endParaRPr lang="en-US" sz="1322" dirty="0"/>
          </a:p>
          <a:p>
            <a:pPr algn="l" indent="0" marL="0">
              <a:lnSpc>
                <a:spcPts val="1983"/>
              </a:lnSpc>
              <a:buNone/>
            </a:pPr>
            <a:r>
              <a:rPr lang="en-US" sz="1322" spc="48" kern="0" dirty="0">
                <a:solidFill>
                  <a:srgbClr val="F1EA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"target": "integer",</a:t>
            </a:r>
            <a:endParaRPr lang="en-US" sz="1322" dirty="0"/>
          </a:p>
        </p:txBody>
      </p:sp>
      <p:sp>
        <p:nvSpPr>
          <p:cNvPr id="11" name="Text 9"/>
          <p:cNvSpPr txBox="1"/>
          <p:nvPr/>
        </p:nvSpPr>
        <p:spPr>
          <a:xfrm>
            <a:off x="1429116" y="3462558"/>
            <a:ext cx="2829428" cy="5534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3"/>
              </a:lnSpc>
              <a:buNone/>
            </a:pPr>
            <a:r>
              <a:rPr lang="en-US" sz="1322" spc="48" kern="0" dirty="0">
                <a:solidFill>
                  <a:srgbClr val="F1EA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"largo_km": "number",</a:t>
            </a:r>
            <a:endParaRPr lang="en-US" sz="1322" dirty="0"/>
          </a:p>
          <a:p>
            <a:pPr algn="l" indent="0" marL="0">
              <a:lnSpc>
                <a:spcPts val="1983"/>
              </a:lnSpc>
              <a:buNone/>
            </a:pPr>
            <a:r>
              <a:rPr lang="en-US" sz="1322" spc="48" kern="0" dirty="0">
                <a:solidFill>
                  <a:srgbClr val="F1EA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"geometria": "LineString"</a:t>
            </a:r>
            <a:endParaRPr lang="en-US" sz="1322" dirty="0"/>
          </a:p>
        </p:txBody>
      </p:sp>
      <p:sp>
        <p:nvSpPr>
          <p:cNvPr id="12" name="Text 10"/>
          <p:cNvSpPr txBox="1"/>
          <p:nvPr/>
        </p:nvSpPr>
        <p:spPr>
          <a:xfrm>
            <a:off x="1232337" y="3974988"/>
            <a:ext cx="3821278" cy="5534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3"/>
              </a:lnSpc>
              <a:buNone/>
            </a:pPr>
            <a:r>
              <a:rPr lang="en-US" sz="1322" spc="47" kern="0" dirty="0">
                <a:solidFill>
                  <a:srgbClr val="F1EA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}],</a:t>
            </a:r>
            <a:endParaRPr lang="en-US" sz="1322" dirty="0"/>
          </a:p>
          <a:p>
            <a:pPr algn="l" indent="0" marL="0">
              <a:lnSpc>
                <a:spcPts val="1983"/>
              </a:lnSpc>
              <a:buNone/>
            </a:pPr>
            <a:r>
              <a:rPr lang="en-US" sz="1322" spc="48" kern="0" dirty="0">
                <a:solidFill>
                  <a:srgbClr val="F1EA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"metadatos": { "secuencia_mision":</a:t>
            </a:r>
            <a:endParaRPr lang="en-US" sz="1322" dirty="0"/>
          </a:p>
        </p:txBody>
      </p:sp>
      <p:sp>
        <p:nvSpPr>
          <p:cNvPr id="13" name="Text 11"/>
          <p:cNvSpPr txBox="1"/>
          <p:nvPr/>
        </p:nvSpPr>
        <p:spPr>
          <a:xfrm>
            <a:off x="1035558" y="4528475"/>
            <a:ext cx="1066282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spc="48" kern="0" dirty="0">
                <a:solidFill>
                  <a:srgbClr val="F1EA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"array" }</a:t>
            </a:r>
            <a:endParaRPr lang="en-US" sz="1322" dirty="0"/>
          </a:p>
        </p:txBody>
      </p:sp>
      <p:sp>
        <p:nvSpPr>
          <p:cNvPr id="14" name="Text 12"/>
          <p:cNvSpPr txBox="1"/>
          <p:nvPr/>
        </p:nvSpPr>
        <p:spPr>
          <a:xfrm>
            <a:off x="1035558" y="4789444"/>
            <a:ext cx="184617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dirty="0">
                <a:solidFill>
                  <a:srgbClr val="F1EA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22" dirty="0"/>
          </a:p>
        </p:txBody>
      </p:sp>
      <p:sp>
        <p:nvSpPr>
          <p:cNvPr id="15" name="Text 13"/>
          <p:cNvSpPr txBox="1"/>
          <p:nvPr/>
        </p:nvSpPr>
        <p:spPr>
          <a:xfrm>
            <a:off x="5684459" y="764073"/>
            <a:ext cx="2071848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41" kern="0" dirty="0">
                <a:solidFill>
                  <a:srgbClr val="D0A8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 FORMATO POR FUENTE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5671109" y="1032449"/>
            <a:ext cx="3136849" cy="677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2135" b="1" spc="-73" kern="0" dirty="0">
                <a:solidFill>
                  <a:srgbClr val="F9F7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esquema por tipo</a:t>
            </a:r>
            <a:endParaRPr lang="en-US" sz="2135" dirty="0"/>
          </a:p>
          <a:p>
            <a:pPr algn="l" indent="0" marL="0">
              <a:lnSpc>
                <a:spcPts val="2351"/>
              </a:lnSpc>
              <a:buNone/>
            </a:pPr>
            <a:r>
              <a:rPr lang="en-US" sz="2135" b="1" spc="-68" kern="0" dirty="0">
                <a:solidFill>
                  <a:srgbClr val="F9F7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dato.</a:t>
            </a:r>
            <a:endParaRPr lang="en-US" sz="2135" dirty="0"/>
          </a:p>
        </p:txBody>
      </p:sp>
      <p:sp>
        <p:nvSpPr>
          <p:cNvPr id="17" name="Text 15"/>
          <p:cNvSpPr txBox="1"/>
          <p:nvPr/>
        </p:nvSpPr>
        <p:spPr>
          <a:xfrm>
            <a:off x="5865053" y="1910182"/>
            <a:ext cx="799186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b="1" dirty="0">
                <a:solidFill>
                  <a:srgbClr val="F7F1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</a:t>
            </a:r>
            <a:endParaRPr lang="en-US" sz="1175" dirty="0"/>
          </a:p>
        </p:txBody>
      </p:sp>
      <p:sp>
        <p:nvSpPr>
          <p:cNvPr id="18" name="Text 16"/>
          <p:cNvSpPr txBox="1"/>
          <p:nvPr/>
        </p:nvSpPr>
        <p:spPr>
          <a:xfrm>
            <a:off x="5865053" y="2245584"/>
            <a:ext cx="1729679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dirty="0">
                <a:solidFill>
                  <a:srgbClr val="C5CD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OSM · elevación · viento</a:t>
            </a:r>
            <a:endParaRPr lang="en-US" sz="881" dirty="0"/>
          </a:p>
        </p:txBody>
      </p:sp>
      <p:sp>
        <p:nvSpPr>
          <p:cNvPr id="19" name="Text 17"/>
          <p:cNvSpPr txBox="1"/>
          <p:nvPr/>
        </p:nvSpPr>
        <p:spPr>
          <a:xfrm>
            <a:off x="5865053" y="2636947"/>
            <a:ext cx="901507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b="1" dirty="0">
                <a:solidFill>
                  <a:srgbClr val="F7F1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Amenazas</a:t>
            </a:r>
            <a:endParaRPr lang="en-US" sz="1175" dirty="0"/>
          </a:p>
        </p:txBody>
      </p:sp>
      <p:sp>
        <p:nvSpPr>
          <p:cNvPr id="20" name="Text 18"/>
          <p:cNvSpPr txBox="1"/>
          <p:nvPr/>
        </p:nvSpPr>
        <p:spPr>
          <a:xfrm>
            <a:off x="5865053" y="2972440"/>
            <a:ext cx="1798625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dirty="0">
                <a:solidFill>
                  <a:srgbClr val="C5CD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GPSJam · incendios · UCDP</a:t>
            </a:r>
            <a:endParaRPr lang="en-US" sz="881" dirty="0"/>
          </a:p>
        </p:txBody>
      </p:sp>
      <p:sp>
        <p:nvSpPr>
          <p:cNvPr id="21" name="Text 19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F9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35</a:t>
            </a:r>
            <a:endParaRPr lang="en-US" sz="88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0372" y="503194"/>
            <a:ext cx="2743109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42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3.2 + 4.2 · CARGA EN POSTGIS</a:t>
            </a:r>
            <a:endParaRPr lang="en-US" sz="960" dirty="0"/>
          </a:p>
        </p:txBody>
      </p:sp>
      <p:sp>
        <p:nvSpPr>
          <p:cNvPr id="3" name="Text 1"/>
          <p:cNvSpPr txBox="1"/>
          <p:nvPr/>
        </p:nvSpPr>
        <p:spPr>
          <a:xfrm>
            <a:off x="669341" y="717438"/>
            <a:ext cx="3411078" cy="6289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7"/>
              </a:lnSpc>
              <a:buNone/>
            </a:pPr>
            <a:r>
              <a:rPr lang="en-US" sz="3310" b="1" spc="-110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Carga de datos</a:t>
            </a:r>
            <a:endParaRPr lang="en-US" sz="3310" dirty="0"/>
          </a:p>
        </p:txBody>
      </p:sp>
      <p:sp>
        <p:nvSpPr>
          <p:cNvPr id="4" name="Text 2"/>
          <p:cNvSpPr txBox="1"/>
          <p:nvPr/>
        </p:nvSpPr>
        <p:spPr>
          <a:xfrm>
            <a:off x="690372" y="1490838"/>
            <a:ext cx="1351666" cy="363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92"/>
              </a:lnSpc>
              <a:buNone/>
            </a:pPr>
            <a:r>
              <a:rPr lang="en-US" sz="1910" b="1" spc="-33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Metadata</a:t>
            </a:r>
            <a:endParaRPr lang="en-US" sz="1910" dirty="0"/>
          </a:p>
        </p:txBody>
      </p:sp>
      <p:sp>
        <p:nvSpPr>
          <p:cNvPr id="5" name="Text 3"/>
          <p:cNvSpPr txBox="1"/>
          <p:nvPr/>
        </p:nvSpPr>
        <p:spPr>
          <a:xfrm>
            <a:off x="746333" y="2185050"/>
            <a:ext cx="2021190" cy="1887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89" spc="51" kern="0" dirty="0">
                <a:solidFill>
                  <a:srgbClr val="B7BB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cargar_osm_edificios.py</a:t>
            </a:r>
            <a:endParaRPr lang="en-US" sz="989" dirty="0"/>
          </a:p>
        </p:txBody>
      </p:sp>
      <p:sp>
        <p:nvSpPr>
          <p:cNvPr id="6" name="Text 4"/>
          <p:cNvSpPr txBox="1"/>
          <p:nvPr/>
        </p:nvSpPr>
        <p:spPr>
          <a:xfrm>
            <a:off x="3193359" y="2143171"/>
            <a:ext cx="283647" cy="279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3"/>
              </a:lnSpc>
              <a:buNone/>
            </a:pPr>
            <a:r>
              <a:rPr lang="en-US" sz="1469" dirty="0">
                <a:solidFill>
                  <a:srgbClr val="AB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69" dirty="0"/>
          </a:p>
        </p:txBody>
      </p:sp>
      <p:sp>
        <p:nvSpPr>
          <p:cNvPr id="7" name="Text 5"/>
          <p:cNvSpPr txBox="1"/>
          <p:nvPr/>
        </p:nvSpPr>
        <p:spPr>
          <a:xfrm>
            <a:off x="690372" y="2497226"/>
            <a:ext cx="1514155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meta_edificios</a:t>
            </a:r>
            <a:endParaRPr lang="en-US" sz="1322" dirty="0"/>
          </a:p>
        </p:txBody>
      </p:sp>
      <p:sp>
        <p:nvSpPr>
          <p:cNvPr id="8" name="Text 6"/>
          <p:cNvSpPr txBox="1"/>
          <p:nvPr/>
        </p:nvSpPr>
        <p:spPr>
          <a:xfrm>
            <a:off x="746333" y="2995757"/>
            <a:ext cx="1682679" cy="1887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89" spc="51" kern="0" dirty="0">
                <a:solidFill>
                  <a:srgbClr val="B7BB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cargar_elevacion.py</a:t>
            </a:r>
            <a:endParaRPr lang="en-US" sz="989" dirty="0"/>
          </a:p>
        </p:txBody>
      </p:sp>
      <p:sp>
        <p:nvSpPr>
          <p:cNvPr id="9" name="Text 7"/>
          <p:cNvSpPr txBox="1"/>
          <p:nvPr/>
        </p:nvSpPr>
        <p:spPr>
          <a:xfrm>
            <a:off x="3193359" y="2953786"/>
            <a:ext cx="283647" cy="279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3"/>
              </a:lnSpc>
              <a:buNone/>
            </a:pPr>
            <a:r>
              <a:rPr lang="en-US" sz="1469" dirty="0">
                <a:solidFill>
                  <a:srgbClr val="AB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69" dirty="0"/>
          </a:p>
        </p:txBody>
      </p:sp>
      <p:sp>
        <p:nvSpPr>
          <p:cNvPr id="10" name="Text 8"/>
          <p:cNvSpPr txBox="1"/>
          <p:nvPr/>
        </p:nvSpPr>
        <p:spPr>
          <a:xfrm>
            <a:off x="690372" y="3307842"/>
            <a:ext cx="1606692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meta_elevacion</a:t>
            </a:r>
            <a:endParaRPr lang="en-US" sz="1322" dirty="0"/>
          </a:p>
        </p:txBody>
      </p:sp>
      <p:sp>
        <p:nvSpPr>
          <p:cNvPr id="11" name="Text 9"/>
          <p:cNvSpPr txBox="1"/>
          <p:nvPr/>
        </p:nvSpPr>
        <p:spPr>
          <a:xfrm>
            <a:off x="746333" y="3806373"/>
            <a:ext cx="1428750" cy="1887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89" spc="51" kern="0" dirty="0">
                <a:solidFill>
                  <a:srgbClr val="B7BB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cargar_viento.py</a:t>
            </a:r>
            <a:endParaRPr lang="en-US" sz="989" dirty="0"/>
          </a:p>
        </p:txBody>
      </p:sp>
      <p:sp>
        <p:nvSpPr>
          <p:cNvPr id="12" name="Text 10"/>
          <p:cNvSpPr txBox="1"/>
          <p:nvPr/>
        </p:nvSpPr>
        <p:spPr>
          <a:xfrm>
            <a:off x="3193359" y="3764402"/>
            <a:ext cx="283647" cy="279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3"/>
              </a:lnSpc>
              <a:buNone/>
            </a:pPr>
            <a:r>
              <a:rPr lang="en-US" sz="1469" dirty="0">
                <a:solidFill>
                  <a:srgbClr val="AB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69" dirty="0"/>
          </a:p>
        </p:txBody>
      </p:sp>
      <p:sp>
        <p:nvSpPr>
          <p:cNvPr id="13" name="Text 11"/>
          <p:cNvSpPr txBox="1"/>
          <p:nvPr/>
        </p:nvSpPr>
        <p:spPr>
          <a:xfrm>
            <a:off x="690372" y="4118549"/>
            <a:ext cx="1297076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meta_viento</a:t>
            </a:r>
            <a:endParaRPr lang="en-US" sz="1322" dirty="0"/>
          </a:p>
        </p:txBody>
      </p:sp>
      <p:sp>
        <p:nvSpPr>
          <p:cNvPr id="14" name="Text 12"/>
          <p:cNvSpPr txBox="1"/>
          <p:nvPr/>
        </p:nvSpPr>
        <p:spPr>
          <a:xfrm>
            <a:off x="5762457" y="1490838"/>
            <a:ext cx="1467063" cy="363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92"/>
              </a:lnSpc>
              <a:buNone/>
            </a:pPr>
            <a:r>
              <a:rPr lang="en-US" sz="1910" b="1" spc="-33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Amenazas</a:t>
            </a:r>
            <a:endParaRPr lang="en-US" sz="1910" dirty="0"/>
          </a:p>
        </p:txBody>
      </p:sp>
      <p:sp>
        <p:nvSpPr>
          <p:cNvPr id="15" name="Text 13"/>
          <p:cNvSpPr txBox="1"/>
          <p:nvPr/>
        </p:nvSpPr>
        <p:spPr>
          <a:xfrm>
            <a:off x="5818419" y="2185050"/>
            <a:ext cx="1428750" cy="1887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89" spc="51" kern="0" dirty="0">
                <a:solidFill>
                  <a:srgbClr val="B7BB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cargar_gpsjam.py</a:t>
            </a:r>
            <a:endParaRPr lang="en-US" sz="989" dirty="0"/>
          </a:p>
        </p:txBody>
      </p:sp>
      <p:sp>
        <p:nvSpPr>
          <p:cNvPr id="16" name="Text 14"/>
          <p:cNvSpPr txBox="1"/>
          <p:nvPr/>
        </p:nvSpPr>
        <p:spPr>
          <a:xfrm>
            <a:off x="8265444" y="2143171"/>
            <a:ext cx="283647" cy="279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3"/>
              </a:lnSpc>
              <a:buNone/>
            </a:pPr>
            <a:r>
              <a:rPr lang="en-US" sz="1469" dirty="0">
                <a:solidFill>
                  <a:srgbClr val="AB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69" dirty="0"/>
          </a:p>
        </p:txBody>
      </p:sp>
      <p:sp>
        <p:nvSpPr>
          <p:cNvPr id="17" name="Text 15"/>
          <p:cNvSpPr txBox="1"/>
          <p:nvPr/>
        </p:nvSpPr>
        <p:spPr>
          <a:xfrm>
            <a:off x="5762457" y="2497226"/>
            <a:ext cx="2043410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amz_gpsjam_celdas</a:t>
            </a:r>
            <a:endParaRPr lang="en-US" sz="1322" dirty="0"/>
          </a:p>
        </p:txBody>
      </p:sp>
      <p:sp>
        <p:nvSpPr>
          <p:cNvPr id="18" name="Text 16"/>
          <p:cNvSpPr txBox="1"/>
          <p:nvPr/>
        </p:nvSpPr>
        <p:spPr>
          <a:xfrm>
            <a:off x="5818419" y="2995757"/>
            <a:ext cx="2275119" cy="1887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89" spc="51" kern="0" dirty="0">
                <a:solidFill>
                  <a:srgbClr val="B7BB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cargar_incendios_guerra.py</a:t>
            </a:r>
            <a:endParaRPr lang="en-US" sz="989" dirty="0"/>
          </a:p>
        </p:txBody>
      </p:sp>
      <p:sp>
        <p:nvSpPr>
          <p:cNvPr id="19" name="Text 17"/>
          <p:cNvSpPr txBox="1"/>
          <p:nvPr/>
        </p:nvSpPr>
        <p:spPr>
          <a:xfrm>
            <a:off x="8265444" y="2953786"/>
            <a:ext cx="283647" cy="279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3"/>
              </a:lnSpc>
              <a:buNone/>
            </a:pPr>
            <a:r>
              <a:rPr lang="en-US" sz="1469" dirty="0">
                <a:solidFill>
                  <a:srgbClr val="AB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69" dirty="0"/>
          </a:p>
        </p:txBody>
      </p:sp>
      <p:sp>
        <p:nvSpPr>
          <p:cNvPr id="20" name="Text 18"/>
          <p:cNvSpPr txBox="1"/>
          <p:nvPr/>
        </p:nvSpPr>
        <p:spPr>
          <a:xfrm>
            <a:off x="5762457" y="3307842"/>
            <a:ext cx="1549725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amz_incendios</a:t>
            </a:r>
            <a:endParaRPr lang="en-US" sz="1322" dirty="0"/>
          </a:p>
        </p:txBody>
      </p:sp>
      <p:sp>
        <p:nvSpPr>
          <p:cNvPr id="21" name="Text 19"/>
          <p:cNvSpPr txBox="1"/>
          <p:nvPr/>
        </p:nvSpPr>
        <p:spPr>
          <a:xfrm>
            <a:off x="5818419" y="3806373"/>
            <a:ext cx="1936608" cy="1887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89" spc="51" kern="0" dirty="0">
                <a:solidFill>
                  <a:srgbClr val="B7BB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cargar_ucdp_eventos.py</a:t>
            </a:r>
            <a:endParaRPr lang="en-US" sz="989" dirty="0"/>
          </a:p>
        </p:txBody>
      </p:sp>
      <p:sp>
        <p:nvSpPr>
          <p:cNvPr id="22" name="Text 20"/>
          <p:cNvSpPr txBox="1"/>
          <p:nvPr/>
        </p:nvSpPr>
        <p:spPr>
          <a:xfrm>
            <a:off x="8265444" y="3764402"/>
            <a:ext cx="283647" cy="279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3"/>
              </a:lnSpc>
              <a:buNone/>
            </a:pPr>
            <a:r>
              <a:rPr lang="en-US" sz="1469" dirty="0">
                <a:solidFill>
                  <a:srgbClr val="AB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69" dirty="0"/>
          </a:p>
        </p:txBody>
      </p:sp>
      <p:sp>
        <p:nvSpPr>
          <p:cNvPr id="23" name="Text 21"/>
          <p:cNvSpPr txBox="1"/>
          <p:nvPr/>
        </p:nvSpPr>
        <p:spPr>
          <a:xfrm>
            <a:off x="5762457" y="4118549"/>
            <a:ext cx="1351117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amz_eventos</a:t>
            </a:r>
            <a:endParaRPr lang="en-US" sz="1322" dirty="0"/>
          </a:p>
        </p:txBody>
      </p:sp>
      <p:sp>
        <p:nvSpPr>
          <p:cNvPr id="24" name="Text 22"/>
          <p:cNvSpPr txBox="1"/>
          <p:nvPr/>
        </p:nvSpPr>
        <p:spPr>
          <a:xfrm>
            <a:off x="4144152" y="1826331"/>
            <a:ext cx="1031077" cy="335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6"/>
              </a:lnSpc>
              <a:buNone/>
            </a:pPr>
            <a:r>
              <a:rPr lang="en-US" sz="1763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fuentes</a:t>
            </a:r>
            <a:endParaRPr lang="en-US" sz="1763" dirty="0"/>
          </a:p>
        </p:txBody>
      </p:sp>
      <p:sp>
        <p:nvSpPr>
          <p:cNvPr id="25" name="Text 23"/>
          <p:cNvSpPr txBox="1"/>
          <p:nvPr/>
        </p:nvSpPr>
        <p:spPr>
          <a:xfrm>
            <a:off x="3909426" y="2152406"/>
            <a:ext cx="1556492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archivo · URL · licencia ·</a:t>
            </a:r>
            <a:endParaRPr lang="en-US" sz="960" dirty="0"/>
          </a:p>
        </p:txBody>
      </p:sp>
      <p:sp>
        <p:nvSpPr>
          <p:cNvPr id="26" name="Text 24"/>
          <p:cNvSpPr txBox="1"/>
          <p:nvPr/>
        </p:nvSpPr>
        <p:spPr>
          <a:xfrm>
            <a:off x="4264396" y="2338761"/>
            <a:ext cx="761512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parámetros</a:t>
            </a:r>
            <a:endParaRPr lang="en-US" sz="960" dirty="0"/>
          </a:p>
        </p:txBody>
      </p:sp>
      <p:sp>
        <p:nvSpPr>
          <p:cNvPr id="27" name="Text 25"/>
          <p:cNvSpPr txBox="1"/>
          <p:nvPr/>
        </p:nvSpPr>
        <p:spPr>
          <a:xfrm>
            <a:off x="3824935" y="2935133"/>
            <a:ext cx="419435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</a:t>
            </a:r>
            <a:endParaRPr lang="en-US" sz="881" dirty="0"/>
          </a:p>
        </p:txBody>
      </p:sp>
      <p:sp>
        <p:nvSpPr>
          <p:cNvPr id="28" name="Text 26"/>
          <p:cNvSpPr txBox="1"/>
          <p:nvPr/>
        </p:nvSpPr>
        <p:spPr>
          <a:xfrm>
            <a:off x="4198102" y="2879263"/>
            <a:ext cx="178034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322" dirty="0"/>
          </a:p>
        </p:txBody>
      </p:sp>
      <p:sp>
        <p:nvSpPr>
          <p:cNvPr id="29" name="Text 27"/>
          <p:cNvSpPr txBox="1"/>
          <p:nvPr/>
        </p:nvSpPr>
        <p:spPr>
          <a:xfrm>
            <a:off x="4355836" y="2935133"/>
            <a:ext cx="902147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cargadores </a:t>
            </a:r>
            <a:endParaRPr lang="en-US" sz="881" dirty="0"/>
          </a:p>
        </p:txBody>
      </p:sp>
      <p:sp>
        <p:nvSpPr>
          <p:cNvPr id="30" name="Text 28"/>
          <p:cNvSpPr txBox="1"/>
          <p:nvPr/>
        </p:nvSpPr>
        <p:spPr>
          <a:xfrm>
            <a:off x="5159685" y="2879263"/>
            <a:ext cx="178034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322" dirty="0"/>
          </a:p>
        </p:txBody>
      </p:sp>
      <p:sp>
        <p:nvSpPr>
          <p:cNvPr id="31" name="Text 29"/>
          <p:cNvSpPr txBox="1"/>
          <p:nvPr/>
        </p:nvSpPr>
        <p:spPr>
          <a:xfrm>
            <a:off x="4386377" y="3084271"/>
            <a:ext cx="488381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tablas</a:t>
            </a:r>
            <a:endParaRPr lang="en-US" sz="881" dirty="0"/>
          </a:p>
        </p:txBody>
      </p:sp>
      <p:sp>
        <p:nvSpPr>
          <p:cNvPr id="32" name="Text 30"/>
          <p:cNvSpPr txBox="1"/>
          <p:nvPr/>
        </p:nvSpPr>
        <p:spPr>
          <a:xfrm>
            <a:off x="4108308" y="3550158"/>
            <a:ext cx="1111362" cy="293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1"/>
              </a:lnSpc>
              <a:buNone/>
            </a:pPr>
            <a:r>
              <a:rPr lang="en-US" sz="1548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pesos.sql</a:t>
            </a:r>
            <a:endParaRPr lang="en-US" sz="1548" dirty="0"/>
          </a:p>
        </p:txBody>
      </p:sp>
      <p:sp>
        <p:nvSpPr>
          <p:cNvPr id="33" name="Text 31"/>
          <p:cNvSpPr txBox="1"/>
          <p:nvPr/>
        </p:nvSpPr>
        <p:spPr>
          <a:xfrm>
            <a:off x="3819540" y="3857671"/>
            <a:ext cx="1757843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deriva restricciones y riesgo</a:t>
            </a:r>
            <a:endParaRPr lang="en-US" sz="960" dirty="0"/>
          </a:p>
        </p:txBody>
      </p:sp>
      <p:sp>
        <p:nvSpPr>
          <p:cNvPr id="34" name="Text 32"/>
          <p:cNvSpPr txBox="1"/>
          <p:nvPr/>
        </p:nvSpPr>
        <p:spPr>
          <a:xfrm>
            <a:off x="4207154" y="4025372"/>
            <a:ext cx="889894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los tramos</a:t>
            </a:r>
            <a:endParaRPr lang="en-US" sz="960" dirty="0"/>
          </a:p>
        </p:txBody>
      </p:sp>
      <p:sp>
        <p:nvSpPr>
          <p:cNvPr id="35" name="Text 33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35</a:t>
            </a:r>
            <a:endParaRPr lang="en-US" sz="88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71718" y="521848"/>
            <a:ext cx="2551267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42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EJECUCIÓN · DOCKER COMPOSE</a:t>
            </a:r>
            <a:endParaRPr lang="en-US" sz="960" dirty="0"/>
          </a:p>
        </p:txBody>
      </p:sp>
      <p:sp>
        <p:nvSpPr>
          <p:cNvPr id="3" name="Text 1"/>
          <p:cNvSpPr txBox="1"/>
          <p:nvPr/>
        </p:nvSpPr>
        <p:spPr>
          <a:xfrm>
            <a:off x="651693" y="736092"/>
            <a:ext cx="4888657" cy="601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90"/>
              </a:lnSpc>
              <a:buNone/>
            </a:pPr>
            <a:r>
              <a:rPr lang="en-US" sz="3154" b="1" spc="-102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Todo en contenedores</a:t>
            </a:r>
            <a:endParaRPr lang="en-US" sz="3154" dirty="0"/>
          </a:p>
        </p:txBody>
      </p:sp>
      <p:sp>
        <p:nvSpPr>
          <p:cNvPr id="4" name="Text 2"/>
          <p:cNvSpPr txBox="1"/>
          <p:nvPr/>
        </p:nvSpPr>
        <p:spPr>
          <a:xfrm>
            <a:off x="839602" y="2450592"/>
            <a:ext cx="427391" cy="153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3" spc="54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TASKS</a:t>
            </a:r>
            <a:endParaRPr lang="en-US" sz="803" dirty="0"/>
          </a:p>
        </p:txBody>
      </p:sp>
      <p:sp>
        <p:nvSpPr>
          <p:cNvPr id="5" name="Text 3"/>
          <p:cNvSpPr txBox="1"/>
          <p:nvPr/>
        </p:nvSpPr>
        <p:spPr>
          <a:xfrm>
            <a:off x="839602" y="2646274"/>
            <a:ext cx="813816" cy="517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62"/>
              </a:lnSpc>
              <a:buNone/>
            </a:pPr>
            <a:r>
              <a:rPr lang="en-US" sz="2723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</a:t>
            </a:r>
            <a:endParaRPr lang="en-US" sz="2723" dirty="0"/>
          </a:p>
        </p:txBody>
      </p:sp>
      <p:sp>
        <p:nvSpPr>
          <p:cNvPr id="6" name="Text 4"/>
          <p:cNvSpPr txBox="1"/>
          <p:nvPr/>
        </p:nvSpPr>
        <p:spPr>
          <a:xfrm>
            <a:off x="839602" y="3121487"/>
            <a:ext cx="1494587" cy="451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16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ETL · pesos ·</a:t>
            </a:r>
            <a:endParaRPr lang="en-US" sz="1097" dirty="0"/>
          </a:p>
          <a:p>
            <a:pPr algn="l" indent="0" marL="0">
              <a:lnSpc>
                <a:spcPts val="1616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consultas pgRouting</a:t>
            </a:r>
            <a:endParaRPr lang="en-US" sz="1097" dirty="0"/>
          </a:p>
        </p:txBody>
      </p:sp>
      <p:sp>
        <p:nvSpPr>
          <p:cNvPr id="7" name="Text 5"/>
          <p:cNvSpPr txBox="1"/>
          <p:nvPr/>
        </p:nvSpPr>
        <p:spPr>
          <a:xfrm>
            <a:off x="5363779" y="2096536"/>
            <a:ext cx="227594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b="1" spc="53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</a:t>
            </a:r>
            <a:endParaRPr lang="en-US" sz="881" dirty="0"/>
          </a:p>
        </p:txBody>
      </p:sp>
      <p:sp>
        <p:nvSpPr>
          <p:cNvPr id="8" name="Text 6"/>
          <p:cNvSpPr txBox="1"/>
          <p:nvPr/>
        </p:nvSpPr>
        <p:spPr>
          <a:xfrm>
            <a:off x="4613971" y="2292218"/>
            <a:ext cx="1922526" cy="335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6"/>
              </a:lnSpc>
              <a:buNone/>
            </a:pPr>
            <a:r>
              <a:rPr lang="en-US" sz="1763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 17</a:t>
            </a:r>
            <a:endParaRPr lang="en-US" sz="1763" dirty="0"/>
          </a:p>
        </p:txBody>
      </p:sp>
      <p:sp>
        <p:nvSpPr>
          <p:cNvPr id="9" name="Text 7"/>
          <p:cNvSpPr txBox="1"/>
          <p:nvPr/>
        </p:nvSpPr>
        <p:spPr>
          <a:xfrm>
            <a:off x="4946081" y="2616464"/>
            <a:ext cx="985357" cy="3931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96"/>
              </a:lnSpc>
              <a:buNone/>
            </a:pPr>
            <a:r>
              <a:rPr lang="en-US" sz="1028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PostGIS 3.5</a:t>
            </a:r>
            <a:endParaRPr lang="en-US" sz="1028" dirty="0"/>
          </a:p>
          <a:p>
            <a:pPr algn="ctr" indent="0" marL="0">
              <a:lnSpc>
                <a:spcPts val="1396"/>
              </a:lnSpc>
              <a:buNone/>
            </a:pPr>
            <a:r>
              <a:rPr lang="en-US" sz="1028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pgRouting 3.8</a:t>
            </a:r>
            <a:endParaRPr lang="en-US" sz="1028" dirty="0"/>
          </a:p>
        </p:txBody>
      </p:sp>
      <p:sp>
        <p:nvSpPr>
          <p:cNvPr id="10" name="Text 8"/>
          <p:cNvSpPr txBox="1"/>
          <p:nvPr/>
        </p:nvSpPr>
        <p:spPr>
          <a:xfrm>
            <a:off x="4419204" y="3588929"/>
            <a:ext cx="2358603" cy="22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6"/>
              </a:lnSpc>
              <a:buNone/>
            </a:pPr>
            <a:r>
              <a:rPr lang="en-US" sz="1166" spc="57" kern="0" dirty="0">
                <a:solidFill>
                  <a:srgbClr val="ABBF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pgrouting/pgrouting:17-</a:t>
            </a:r>
            <a:endParaRPr lang="en-US" sz="1166" dirty="0"/>
          </a:p>
        </p:txBody>
      </p:sp>
      <p:sp>
        <p:nvSpPr>
          <p:cNvPr id="11" name="Text 9"/>
          <p:cNvSpPr txBox="1"/>
          <p:nvPr/>
        </p:nvSpPr>
        <p:spPr>
          <a:xfrm>
            <a:off x="5039716" y="3812499"/>
            <a:ext cx="968350" cy="22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6"/>
              </a:lnSpc>
              <a:buNone/>
            </a:pPr>
            <a:r>
              <a:rPr lang="en-US" sz="1166" spc="57" kern="0" dirty="0">
                <a:solidFill>
                  <a:srgbClr val="ABBF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3.5-3.8.0</a:t>
            </a:r>
            <a:endParaRPr lang="en-US" sz="1166" dirty="0"/>
          </a:p>
        </p:txBody>
      </p:sp>
      <p:sp>
        <p:nvSpPr>
          <p:cNvPr id="12" name="Text 10"/>
          <p:cNvSpPr txBox="1"/>
          <p:nvPr/>
        </p:nvSpPr>
        <p:spPr>
          <a:xfrm>
            <a:off x="4643232" y="4165092"/>
            <a:ext cx="1856506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volumen persistente: db_data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6968825" y="2422703"/>
            <a:ext cx="934060" cy="153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3" spc="6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SERVICIO WEB</a:t>
            </a:r>
            <a:endParaRPr lang="en-US" sz="803" dirty="0"/>
          </a:p>
        </p:txBody>
      </p:sp>
      <p:sp>
        <p:nvSpPr>
          <p:cNvPr id="14" name="Text 12"/>
          <p:cNvSpPr txBox="1"/>
          <p:nvPr/>
        </p:nvSpPr>
        <p:spPr>
          <a:xfrm>
            <a:off x="6968825" y="2618384"/>
            <a:ext cx="879104" cy="517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62"/>
              </a:lnSpc>
              <a:buNone/>
            </a:pPr>
            <a:r>
              <a:rPr lang="en-US" sz="2723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</a:t>
            </a:r>
            <a:endParaRPr lang="en-US" sz="2723" dirty="0"/>
          </a:p>
        </p:txBody>
      </p:sp>
      <p:sp>
        <p:nvSpPr>
          <p:cNvPr id="15" name="Text 13"/>
          <p:cNvSpPr txBox="1"/>
          <p:nvPr/>
        </p:nvSpPr>
        <p:spPr>
          <a:xfrm>
            <a:off x="6968825" y="3130814"/>
            <a:ext cx="1281257" cy="2096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2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Leaflet</a:t>
            </a:r>
            <a:endParaRPr lang="en-US" sz="1097" dirty="0"/>
          </a:p>
        </p:txBody>
      </p:sp>
      <p:sp>
        <p:nvSpPr>
          <p:cNvPr id="16" name="Text 14"/>
          <p:cNvSpPr txBox="1"/>
          <p:nvPr/>
        </p:nvSpPr>
        <p:spPr>
          <a:xfrm>
            <a:off x="6968825" y="3456981"/>
            <a:ext cx="1040039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localhost:8000</a:t>
            </a:r>
            <a:endParaRPr lang="en-US" sz="881" dirty="0"/>
          </a:p>
        </p:txBody>
      </p:sp>
      <p:sp>
        <p:nvSpPr>
          <p:cNvPr id="17" name="Text 15"/>
          <p:cNvSpPr txBox="1"/>
          <p:nvPr/>
        </p:nvSpPr>
        <p:spPr>
          <a:xfrm>
            <a:off x="2945191" y="2115190"/>
            <a:ext cx="833201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 interna</a:t>
            </a:r>
            <a:endParaRPr lang="en-US" sz="881" dirty="0"/>
          </a:p>
        </p:txBody>
      </p:sp>
      <p:sp>
        <p:nvSpPr>
          <p:cNvPr id="18" name="Text 16"/>
          <p:cNvSpPr txBox="1"/>
          <p:nvPr/>
        </p:nvSpPr>
        <p:spPr>
          <a:xfrm>
            <a:off x="3160624" y="2478573"/>
            <a:ext cx="35049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b="1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5432</a:t>
            </a:r>
            <a:endParaRPr lang="en-US" sz="881" dirty="0"/>
          </a:p>
        </p:txBody>
      </p:sp>
      <p:sp>
        <p:nvSpPr>
          <p:cNvPr id="19" name="Text 17"/>
          <p:cNvSpPr txBox="1"/>
          <p:nvPr/>
        </p:nvSpPr>
        <p:spPr>
          <a:xfrm>
            <a:off x="3160624" y="3680551"/>
            <a:ext cx="35049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b="1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5432</a:t>
            </a:r>
            <a:endParaRPr lang="en-US" sz="881" dirty="0"/>
          </a:p>
        </p:txBody>
      </p:sp>
      <p:sp>
        <p:nvSpPr>
          <p:cNvPr id="20" name="Text 18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35</a:t>
            </a:r>
            <a:endParaRPr lang="en-US" sz="881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303874" y="290688"/>
            <a:ext cx="2471806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2272" b="1" spc="-69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modelo,</a:t>
            </a:r>
            <a:endParaRPr lang="en-US" sz="2272" dirty="0"/>
          </a:p>
          <a:p>
            <a:pPr algn="l" indent="0" marL="0">
              <a:lnSpc>
                <a:spcPts val="2351"/>
              </a:lnSpc>
              <a:buNone/>
            </a:pPr>
            <a:r>
              <a:rPr lang="en-US" sz="2272" b="1" spc="-71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cinco dominios</a:t>
            </a:r>
            <a:endParaRPr lang="en-US" sz="2272" dirty="0"/>
          </a:p>
          <a:p>
            <a:pPr algn="l" indent="0" marL="0">
              <a:lnSpc>
                <a:spcPts val="2351"/>
              </a:lnSpc>
              <a:buNone/>
            </a:pPr>
            <a:r>
              <a:rPr lang="en-US" sz="2272" b="1" spc="-68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datos.</a:t>
            </a:r>
            <a:endParaRPr lang="en-US" sz="2272" dirty="0"/>
          </a:p>
        </p:txBody>
      </p:sp>
      <p:sp>
        <p:nvSpPr>
          <p:cNvPr id="3" name="Text 1"/>
          <p:cNvSpPr txBox="1"/>
          <p:nvPr/>
        </p:nvSpPr>
        <p:spPr>
          <a:xfrm>
            <a:off x="6498915" y="1416314"/>
            <a:ext cx="212689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81" dirty="0"/>
          </a:p>
        </p:txBody>
      </p:sp>
      <p:sp>
        <p:nvSpPr>
          <p:cNvPr id="4" name="Text 2"/>
          <p:cNvSpPr txBox="1"/>
          <p:nvPr/>
        </p:nvSpPr>
        <p:spPr>
          <a:xfrm>
            <a:off x="6806702" y="1416314"/>
            <a:ext cx="1587673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Infraestructura</a:t>
            </a:r>
            <a:endParaRPr lang="en-US" sz="1322" dirty="0"/>
          </a:p>
        </p:txBody>
      </p:sp>
      <p:sp>
        <p:nvSpPr>
          <p:cNvPr id="5" name="Text 3"/>
          <p:cNvSpPr txBox="1"/>
          <p:nvPr/>
        </p:nvSpPr>
        <p:spPr>
          <a:xfrm>
            <a:off x="6806702" y="1723827"/>
            <a:ext cx="1388151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nodos, aristas, misión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6498915" y="2105863"/>
            <a:ext cx="212689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81" dirty="0"/>
          </a:p>
        </p:txBody>
      </p:sp>
      <p:sp>
        <p:nvSpPr>
          <p:cNvPr id="7" name="Text 5"/>
          <p:cNvSpPr txBox="1"/>
          <p:nvPr/>
        </p:nvSpPr>
        <p:spPr>
          <a:xfrm>
            <a:off x="6806702" y="2105863"/>
            <a:ext cx="984900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Metadata</a:t>
            </a:r>
            <a:endParaRPr lang="en-US" sz="1322" dirty="0"/>
          </a:p>
        </p:txBody>
      </p:sp>
      <p:sp>
        <p:nvSpPr>
          <p:cNvPr id="8" name="Text 6"/>
          <p:cNvSpPr txBox="1"/>
          <p:nvPr/>
        </p:nvSpPr>
        <p:spPr>
          <a:xfrm>
            <a:off x="6806702" y="2413376"/>
            <a:ext cx="1652412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edificios, elevación, viento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6498915" y="2786085"/>
            <a:ext cx="212689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81" dirty="0"/>
          </a:p>
        </p:txBody>
      </p:sp>
      <p:sp>
        <p:nvSpPr>
          <p:cNvPr id="10" name="Text 8"/>
          <p:cNvSpPr txBox="1"/>
          <p:nvPr/>
        </p:nvSpPr>
        <p:spPr>
          <a:xfrm>
            <a:off x="6806702" y="2786085"/>
            <a:ext cx="1065002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Amenazas</a:t>
            </a:r>
            <a:endParaRPr lang="en-US" sz="1322" dirty="0"/>
          </a:p>
        </p:txBody>
      </p:sp>
      <p:sp>
        <p:nvSpPr>
          <p:cNvPr id="11" name="Text 9"/>
          <p:cNvSpPr txBox="1"/>
          <p:nvPr/>
        </p:nvSpPr>
        <p:spPr>
          <a:xfrm>
            <a:off x="6806702" y="3093598"/>
            <a:ext cx="1818559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GPSJam, incendios, eventos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6498915" y="3475634"/>
            <a:ext cx="212689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81" dirty="0"/>
          </a:p>
        </p:txBody>
      </p:sp>
      <p:sp>
        <p:nvSpPr>
          <p:cNvPr id="13" name="Text 11"/>
          <p:cNvSpPr txBox="1"/>
          <p:nvPr/>
        </p:nvSpPr>
        <p:spPr>
          <a:xfrm>
            <a:off x="6806702" y="3475634"/>
            <a:ext cx="1148121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Resultados</a:t>
            </a:r>
            <a:endParaRPr lang="en-US" sz="1322" dirty="0"/>
          </a:p>
        </p:txBody>
      </p:sp>
      <p:sp>
        <p:nvSpPr>
          <p:cNvPr id="14" name="Text 12"/>
          <p:cNvSpPr txBox="1"/>
          <p:nvPr/>
        </p:nvSpPr>
        <p:spPr>
          <a:xfrm>
            <a:off x="6806702" y="3783056"/>
            <a:ext cx="1312713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rutas y evaluaciones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6498915" y="4165092"/>
            <a:ext cx="212689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81" dirty="0"/>
          </a:p>
        </p:txBody>
      </p:sp>
      <p:sp>
        <p:nvSpPr>
          <p:cNvPr id="16" name="Text 14"/>
          <p:cNvSpPr txBox="1"/>
          <p:nvPr/>
        </p:nvSpPr>
        <p:spPr>
          <a:xfrm>
            <a:off x="6806702" y="4165092"/>
            <a:ext cx="839694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Soporte</a:t>
            </a:r>
            <a:endParaRPr lang="en-US" sz="1322" dirty="0"/>
          </a:p>
        </p:txBody>
      </p:sp>
      <p:sp>
        <p:nvSpPr>
          <p:cNvPr id="17" name="Text 15"/>
          <p:cNvSpPr txBox="1"/>
          <p:nvPr/>
        </p:nvSpPr>
        <p:spPr>
          <a:xfrm>
            <a:off x="6806702" y="4472605"/>
            <a:ext cx="1939442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y parámetros de pesos</a:t>
            </a:r>
            <a:endParaRPr lang="en-US" sz="960" dirty="0"/>
          </a:p>
        </p:txBody>
      </p:sp>
      <p:sp>
        <p:nvSpPr>
          <p:cNvPr id="18" name="Text 16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35</a:t>
            </a:r>
            <a:endParaRPr lang="en-US" sz="881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87468" y="1066008"/>
            <a:ext cx="3484047" cy="723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98"/>
              </a:lnSpc>
              <a:buNone/>
            </a:pPr>
            <a:r>
              <a:rPr lang="en-US" sz="2351" b="1" spc="-79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grafo da soporte al</a:t>
            </a:r>
            <a:endParaRPr lang="en-US" sz="2351" dirty="0"/>
          </a:p>
          <a:p>
            <a:pPr algn="l" indent="0" marL="0">
              <a:lnSpc>
                <a:spcPts val="2498"/>
              </a:lnSpc>
              <a:buNone/>
            </a:pPr>
            <a:r>
              <a:rPr lang="en-US" sz="2351" b="1" spc="-69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ruteo.</a:t>
            </a:r>
            <a:endParaRPr lang="en-US" sz="2351" dirty="0"/>
          </a:p>
        </p:txBody>
      </p:sp>
      <p:sp>
        <p:nvSpPr>
          <p:cNvPr id="3" name="Text 1"/>
          <p:cNvSpPr txBox="1"/>
          <p:nvPr/>
        </p:nvSpPr>
        <p:spPr>
          <a:xfrm>
            <a:off x="4902281" y="1900855"/>
            <a:ext cx="783458" cy="279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3"/>
              </a:lnSpc>
              <a:buNone/>
            </a:pPr>
            <a:r>
              <a:rPr lang="en-US" sz="1469" b="1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nodos </a:t>
            </a:r>
            <a:endParaRPr lang="en-US" sz="1469" dirty="0"/>
          </a:p>
        </p:txBody>
      </p:sp>
      <p:sp>
        <p:nvSpPr>
          <p:cNvPr id="4" name="Text 2"/>
          <p:cNvSpPr txBox="1"/>
          <p:nvPr/>
        </p:nvSpPr>
        <p:spPr>
          <a:xfrm>
            <a:off x="5535046" y="1900855"/>
            <a:ext cx="283647" cy="279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3"/>
              </a:lnSpc>
              <a:buNone/>
            </a:pPr>
            <a:r>
              <a:rPr lang="en-US" sz="1469" b="1" dirty="0">
                <a:solidFill>
                  <a:srgbClr val="2D607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↔</a:t>
            </a:r>
            <a:endParaRPr lang="en-US" sz="1469" dirty="0"/>
          </a:p>
        </p:txBody>
      </p:sp>
      <p:sp>
        <p:nvSpPr>
          <p:cNvPr id="5" name="Text 3"/>
          <p:cNvSpPr txBox="1"/>
          <p:nvPr/>
        </p:nvSpPr>
        <p:spPr>
          <a:xfrm>
            <a:off x="5721584" y="1900855"/>
            <a:ext cx="856793" cy="279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3"/>
              </a:lnSpc>
              <a:buNone/>
            </a:pPr>
            <a:r>
              <a:rPr lang="en-US" sz="1469" b="1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aristas</a:t>
            </a:r>
            <a:endParaRPr lang="en-US" sz="1469" dirty="0"/>
          </a:p>
        </p:txBody>
      </p:sp>
      <p:sp>
        <p:nvSpPr>
          <p:cNvPr id="6" name="Text 4"/>
          <p:cNvSpPr txBox="1"/>
          <p:nvPr/>
        </p:nvSpPr>
        <p:spPr>
          <a:xfrm>
            <a:off x="4958243" y="2192548"/>
            <a:ext cx="514716" cy="163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62" spc="42" kern="0" dirty="0">
                <a:solidFill>
                  <a:srgbClr val="A6A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</a:t>
            </a:r>
            <a:endParaRPr lang="en-US" sz="862" dirty="0"/>
          </a:p>
        </p:txBody>
      </p:sp>
      <p:sp>
        <p:nvSpPr>
          <p:cNvPr id="7" name="Text 5"/>
          <p:cNvSpPr txBox="1"/>
          <p:nvPr/>
        </p:nvSpPr>
        <p:spPr>
          <a:xfrm>
            <a:off x="5407213" y="2180387"/>
            <a:ext cx="218084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 </a:t>
            </a:r>
            <a:endParaRPr lang="en-US" sz="960" dirty="0"/>
          </a:p>
        </p:txBody>
      </p:sp>
      <p:sp>
        <p:nvSpPr>
          <p:cNvPr id="8" name="Text 6"/>
          <p:cNvSpPr txBox="1"/>
          <p:nvPr/>
        </p:nvSpPr>
        <p:spPr>
          <a:xfrm>
            <a:off x="5591373" y="2192548"/>
            <a:ext cx="514716" cy="163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62" spc="42" kern="0" dirty="0">
                <a:solidFill>
                  <a:srgbClr val="A6A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</a:t>
            </a:r>
            <a:endParaRPr lang="en-US" sz="862" dirty="0"/>
          </a:p>
        </p:txBody>
      </p:sp>
      <p:sp>
        <p:nvSpPr>
          <p:cNvPr id="9" name="Text 7"/>
          <p:cNvSpPr txBox="1"/>
          <p:nvPr/>
        </p:nvSpPr>
        <p:spPr>
          <a:xfrm>
            <a:off x="6040252" y="2180387"/>
            <a:ext cx="829544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referencian 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6770400" y="2192548"/>
            <a:ext cx="661386" cy="163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62" spc="42" kern="0" dirty="0">
                <a:solidFill>
                  <a:srgbClr val="A6A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nodos.id</a:t>
            </a:r>
            <a:endParaRPr lang="en-US" sz="862" dirty="0"/>
          </a:p>
        </p:txBody>
      </p:sp>
      <p:sp>
        <p:nvSpPr>
          <p:cNvPr id="11" name="Text 9"/>
          <p:cNvSpPr txBox="1"/>
          <p:nvPr/>
        </p:nvSpPr>
        <p:spPr>
          <a:xfrm>
            <a:off x="7294352" y="2180387"/>
            <a:ext cx="1398209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; sus geometrías son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4958243" y="2350922"/>
            <a:ext cx="441381" cy="163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62" spc="42" kern="0" dirty="0">
                <a:solidFill>
                  <a:srgbClr val="A6A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</a:t>
            </a:r>
            <a:endParaRPr lang="en-US" sz="862" dirty="0"/>
          </a:p>
        </p:txBody>
      </p:sp>
      <p:sp>
        <p:nvSpPr>
          <p:cNvPr id="13" name="Text 11"/>
          <p:cNvSpPr txBox="1"/>
          <p:nvPr/>
        </p:nvSpPr>
        <p:spPr>
          <a:xfrm>
            <a:off x="5341742" y="2338761"/>
            <a:ext cx="218084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 </a:t>
            </a:r>
            <a:endParaRPr lang="en-US" sz="960" dirty="0"/>
          </a:p>
        </p:txBody>
      </p:sp>
      <p:sp>
        <p:nvSpPr>
          <p:cNvPr id="14" name="Text 12"/>
          <p:cNvSpPr txBox="1"/>
          <p:nvPr/>
        </p:nvSpPr>
        <p:spPr>
          <a:xfrm>
            <a:off x="5525902" y="2350922"/>
            <a:ext cx="808147" cy="163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62" spc="42" kern="0" dirty="0">
                <a:solidFill>
                  <a:srgbClr val="A6A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LineString</a:t>
            </a:r>
            <a:endParaRPr lang="en-US" sz="862" dirty="0"/>
          </a:p>
        </p:txBody>
      </p:sp>
      <p:sp>
        <p:nvSpPr>
          <p:cNvPr id="15" name="Text 13"/>
          <p:cNvSpPr txBox="1"/>
          <p:nvPr/>
        </p:nvSpPr>
        <p:spPr>
          <a:xfrm>
            <a:off x="6180795" y="2338761"/>
            <a:ext cx="175108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spc="87" kern="0" dirty="0">
                <a:solidFill>
                  <a:srgbClr val="B7BB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.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4902281" y="2683581"/>
            <a:ext cx="819211" cy="279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3"/>
              </a:lnSpc>
              <a:buNone/>
            </a:pPr>
            <a:r>
              <a:rPr lang="en-US" sz="1469" b="1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misión</a:t>
            </a:r>
            <a:endParaRPr lang="en-US" sz="1469" dirty="0"/>
          </a:p>
        </p:txBody>
      </p:sp>
      <p:sp>
        <p:nvSpPr>
          <p:cNvPr id="17" name="Text 15"/>
          <p:cNvSpPr txBox="1"/>
          <p:nvPr/>
        </p:nvSpPr>
        <p:spPr>
          <a:xfrm>
            <a:off x="4902281" y="2953786"/>
            <a:ext cx="3109692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Ordena los nodos de inicio, observación y destino.</a:t>
            </a:r>
            <a:endParaRPr lang="en-US" sz="960" dirty="0"/>
          </a:p>
        </p:txBody>
      </p:sp>
      <p:sp>
        <p:nvSpPr>
          <p:cNvPr id="18" name="Text 16"/>
          <p:cNvSpPr txBox="1"/>
          <p:nvPr/>
        </p:nvSpPr>
        <p:spPr>
          <a:xfrm>
            <a:off x="4902281" y="3289188"/>
            <a:ext cx="1209568" cy="279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3"/>
              </a:lnSpc>
              <a:buNone/>
            </a:pPr>
            <a:r>
              <a:rPr lang="en-US" sz="1469" b="1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resultados</a:t>
            </a:r>
            <a:endParaRPr lang="en-US" sz="1469" dirty="0"/>
          </a:p>
        </p:txBody>
      </p:sp>
      <p:sp>
        <p:nvSpPr>
          <p:cNvPr id="19" name="Text 17"/>
          <p:cNvSpPr txBox="1"/>
          <p:nvPr/>
        </p:nvSpPr>
        <p:spPr>
          <a:xfrm>
            <a:off x="4902281" y="3537082"/>
            <a:ext cx="3743736" cy="371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2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Rutas guardan secuencias de aristas; evaluaciones registran</a:t>
            </a:r>
            <a:endParaRPr lang="en-US" sz="960" dirty="0"/>
          </a:p>
          <a:p>
            <a:pPr algn="l" indent="0" marL="0">
              <a:lnSpc>
                <a:spcPts val="1322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escenarios, fallas y métricas.</a:t>
            </a:r>
            <a:endParaRPr lang="en-US" sz="960" dirty="0"/>
          </a:p>
        </p:txBody>
      </p:sp>
      <p:sp>
        <p:nvSpPr>
          <p:cNvPr id="20" name="Text 18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35</a:t>
            </a:r>
            <a:endParaRPr lang="en-US" sz="881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10596" y="447233"/>
            <a:ext cx="2167768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41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5.1 · MODELO DE FALLAS</a:t>
            </a:r>
            <a:endParaRPr lang="en-US" sz="960" dirty="0"/>
          </a:p>
        </p:txBody>
      </p:sp>
      <p:sp>
        <p:nvSpPr>
          <p:cNvPr id="3" name="Text 1"/>
          <p:cNvSpPr txBox="1"/>
          <p:nvPr/>
        </p:nvSpPr>
        <p:spPr>
          <a:xfrm>
            <a:off x="5391028" y="730514"/>
            <a:ext cx="3289463" cy="17573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32"/>
              </a:lnSpc>
              <a:buNone/>
            </a:pPr>
            <a:r>
              <a:rPr lang="en-US" sz="3085" b="1" spc="-99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escenario</a:t>
            </a:r>
            <a:endParaRPr lang="en-US" sz="3085" dirty="0"/>
          </a:p>
          <a:p>
            <a:pPr algn="l" indent="0" marL="0">
              <a:lnSpc>
                <a:spcPts val="3232"/>
              </a:lnSpc>
              <a:buNone/>
            </a:pPr>
            <a:r>
              <a:rPr lang="en-US" sz="3085" b="1" spc="-97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bloquea un</a:t>
            </a:r>
            <a:endParaRPr lang="en-US" sz="3085" dirty="0"/>
          </a:p>
          <a:p>
            <a:pPr algn="l" indent="0" marL="0">
              <a:lnSpc>
                <a:spcPts val="3232"/>
              </a:lnSpc>
              <a:buNone/>
            </a:pPr>
            <a:r>
              <a:rPr lang="en-US" sz="3085" b="1" spc="-98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área, no un</a:t>
            </a:r>
            <a:endParaRPr lang="en-US" sz="3085" dirty="0"/>
          </a:p>
          <a:p>
            <a:pPr algn="l" indent="0" marL="0">
              <a:lnSpc>
                <a:spcPts val="3232"/>
              </a:lnSpc>
              <a:buNone/>
            </a:pPr>
            <a:r>
              <a:rPr lang="en-US" sz="3085" b="1" spc="-101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enlace de radio</a:t>
            </a:r>
            <a:endParaRPr lang="en-US" sz="3085" dirty="0"/>
          </a:p>
        </p:txBody>
      </p:sp>
      <p:sp>
        <p:nvSpPr>
          <p:cNvPr id="4" name="Text 2"/>
          <p:cNvSpPr txBox="1"/>
          <p:nvPr/>
        </p:nvSpPr>
        <p:spPr>
          <a:xfrm>
            <a:off x="5410596" y="2478573"/>
            <a:ext cx="812262" cy="279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3"/>
              </a:lnSpc>
              <a:buNone/>
            </a:pPr>
            <a:r>
              <a:rPr lang="en-US" sz="1469" b="1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</a:t>
            </a:r>
            <a:endParaRPr lang="en-US" sz="1469" dirty="0"/>
          </a:p>
        </p:txBody>
      </p:sp>
      <p:sp>
        <p:nvSpPr>
          <p:cNvPr id="5" name="Text 3"/>
          <p:cNvSpPr txBox="1"/>
          <p:nvPr/>
        </p:nvSpPr>
        <p:spPr>
          <a:xfrm>
            <a:off x="6763268" y="2506553"/>
            <a:ext cx="3657600" cy="2247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o al azar</a:t>
            </a:r>
            <a:endParaRPr lang="en-US" sz="1175" dirty="0"/>
          </a:p>
        </p:txBody>
      </p:sp>
      <p:sp>
        <p:nvSpPr>
          <p:cNvPr id="6" name="Text 4"/>
          <p:cNvSpPr txBox="1"/>
          <p:nvPr/>
        </p:nvSpPr>
        <p:spPr>
          <a:xfrm>
            <a:off x="5410596" y="2953786"/>
            <a:ext cx="711129" cy="279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3"/>
              </a:lnSpc>
              <a:buNone/>
            </a:pPr>
            <a:r>
              <a:rPr lang="en-US" sz="1469" b="1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Radio</a:t>
            </a:r>
            <a:endParaRPr lang="en-US" sz="1469" dirty="0"/>
          </a:p>
        </p:txBody>
      </p:sp>
      <p:sp>
        <p:nvSpPr>
          <p:cNvPr id="7" name="Text 5"/>
          <p:cNvSpPr txBox="1"/>
          <p:nvPr/>
        </p:nvSpPr>
        <p:spPr>
          <a:xfrm>
            <a:off x="6763268" y="2981767"/>
            <a:ext cx="1050280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0,25-0,60 km</a:t>
            </a:r>
            <a:endParaRPr lang="en-US" sz="1175" dirty="0"/>
          </a:p>
        </p:txBody>
      </p:sp>
      <p:sp>
        <p:nvSpPr>
          <p:cNvPr id="8" name="Text 6"/>
          <p:cNvSpPr txBox="1"/>
          <p:nvPr/>
        </p:nvSpPr>
        <p:spPr>
          <a:xfrm>
            <a:off x="5410596" y="3429000"/>
            <a:ext cx="1206002" cy="279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3"/>
              </a:lnSpc>
              <a:buNone/>
            </a:pPr>
            <a:r>
              <a:rPr lang="en-US" sz="1469" b="1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Activación</a:t>
            </a:r>
            <a:endParaRPr lang="en-US" sz="1469" dirty="0"/>
          </a:p>
        </p:txBody>
      </p:sp>
      <p:sp>
        <p:nvSpPr>
          <p:cNvPr id="9" name="Text 7"/>
          <p:cNvSpPr txBox="1"/>
          <p:nvPr/>
        </p:nvSpPr>
        <p:spPr>
          <a:xfrm>
            <a:off x="6763268" y="3456981"/>
            <a:ext cx="1524030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durante el recorrido</a:t>
            </a:r>
            <a:endParaRPr lang="en-US" sz="1175" dirty="0"/>
          </a:p>
        </p:txBody>
      </p:sp>
      <p:sp>
        <p:nvSpPr>
          <p:cNvPr id="10" name="Text 8"/>
          <p:cNvSpPr txBox="1"/>
          <p:nvPr/>
        </p:nvSpPr>
        <p:spPr>
          <a:xfrm>
            <a:off x="5410596" y="3971331"/>
            <a:ext cx="3657600" cy="829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3"/>
              </a:lnSpc>
              <a:buNone/>
            </a:pPr>
            <a:r>
              <a:rPr lang="en-US" sz="1175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simulador marca fuera de servicio</a:t>
            </a:r>
            <a:endParaRPr lang="en-US" sz="1175" dirty="0"/>
          </a:p>
          <a:p>
            <a:pPr algn="l" indent="0" marL="0">
              <a:lnSpc>
                <a:spcPts val="1543"/>
              </a:lnSpc>
              <a:buNone/>
            </a:pPr>
            <a:r>
              <a:rPr lang="en-US" sz="1175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aristas que intersectan el disco.</a:t>
            </a:r>
            <a:endParaRPr lang="en-US" sz="1175" dirty="0"/>
          </a:p>
          <a:p>
            <a:pPr algn="l" indent="0" marL="0">
              <a:lnSpc>
                <a:spcPts val="1543"/>
              </a:lnSpc>
              <a:buNone/>
            </a:pPr>
            <a:r>
              <a:rPr lang="en-US" sz="1175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datos reales los focos caen fuera</a:t>
            </a:r>
            <a:endParaRPr lang="en-US" sz="1175" dirty="0"/>
          </a:p>
          <a:p>
            <a:pPr algn="l" indent="0" marL="0">
              <a:lnSpc>
                <a:spcPts val="1543"/>
              </a:lnSpc>
              <a:buNone/>
            </a:pPr>
            <a:r>
              <a:rPr lang="en-US" sz="1175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malla y la falla queda al borde.</a:t>
            </a:r>
            <a:endParaRPr lang="en-US" sz="1175" dirty="0"/>
          </a:p>
        </p:txBody>
      </p:sp>
      <p:sp>
        <p:nvSpPr>
          <p:cNvPr id="11" name="Text 9"/>
          <p:cNvSpPr txBox="1"/>
          <p:nvPr/>
        </p:nvSpPr>
        <p:spPr>
          <a:xfrm>
            <a:off x="1455359" y="3699662"/>
            <a:ext cx="126187" cy="95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02"/>
              </a:lnSpc>
              <a:buNone/>
            </a:pPr>
            <a:r>
              <a:rPr lang="en-US" sz="500" b="1" dirty="0">
                <a:solidFill>
                  <a:srgbClr val="59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500" dirty="0"/>
          </a:p>
        </p:txBody>
      </p:sp>
      <p:sp>
        <p:nvSpPr>
          <p:cNvPr id="12" name="Text 10"/>
          <p:cNvSpPr txBox="1"/>
          <p:nvPr/>
        </p:nvSpPr>
        <p:spPr>
          <a:xfrm>
            <a:off x="2206356" y="1992752"/>
            <a:ext cx="161940" cy="95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02"/>
              </a:lnSpc>
              <a:buNone/>
            </a:pPr>
            <a:r>
              <a:rPr lang="en-US" sz="500" b="1" dirty="0">
                <a:solidFill>
                  <a:srgbClr val="2026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500" dirty="0"/>
          </a:p>
        </p:txBody>
      </p:sp>
      <p:sp>
        <p:nvSpPr>
          <p:cNvPr id="13" name="Text 11"/>
          <p:cNvSpPr txBox="1"/>
          <p:nvPr/>
        </p:nvSpPr>
        <p:spPr>
          <a:xfrm>
            <a:off x="2960461" y="3132734"/>
            <a:ext cx="161940" cy="95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02"/>
              </a:lnSpc>
              <a:buNone/>
            </a:pPr>
            <a:r>
              <a:rPr lang="en-US" sz="500" b="1" dirty="0">
                <a:solidFill>
                  <a:srgbClr val="2026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500" dirty="0"/>
          </a:p>
        </p:txBody>
      </p:sp>
      <p:sp>
        <p:nvSpPr>
          <p:cNvPr id="14" name="Text 12"/>
          <p:cNvSpPr txBox="1"/>
          <p:nvPr/>
        </p:nvSpPr>
        <p:spPr>
          <a:xfrm>
            <a:off x="3418302" y="1833372"/>
            <a:ext cx="161940" cy="95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02"/>
              </a:lnSpc>
              <a:buNone/>
            </a:pPr>
            <a:r>
              <a:rPr lang="en-US" sz="500" b="1" dirty="0">
                <a:solidFill>
                  <a:srgbClr val="2026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500" dirty="0"/>
          </a:p>
        </p:txBody>
      </p:sp>
      <p:sp>
        <p:nvSpPr>
          <p:cNvPr id="15" name="Text 13"/>
          <p:cNvSpPr txBox="1"/>
          <p:nvPr/>
        </p:nvSpPr>
        <p:spPr>
          <a:xfrm>
            <a:off x="3645896" y="1554663"/>
            <a:ext cx="126187" cy="95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02"/>
              </a:lnSpc>
              <a:buNone/>
            </a:pPr>
            <a:r>
              <a:rPr lang="en-US" sz="500" b="1" dirty="0">
                <a:solidFill>
                  <a:srgbClr val="555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500" dirty="0"/>
          </a:p>
        </p:txBody>
      </p:sp>
      <p:sp>
        <p:nvSpPr>
          <p:cNvPr id="16" name="Text 14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35</a:t>
            </a:r>
            <a:endParaRPr lang="en-US" sz="881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71718" y="400690"/>
            <a:ext cx="2934858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43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6.1 · METADATA → RESTRICCIONES</a:t>
            </a:r>
            <a:endParaRPr lang="en-US" sz="960" dirty="0"/>
          </a:p>
        </p:txBody>
      </p:sp>
      <p:sp>
        <p:nvSpPr>
          <p:cNvPr id="3" name="Text 1"/>
          <p:cNvSpPr txBox="1"/>
          <p:nvPr/>
        </p:nvSpPr>
        <p:spPr>
          <a:xfrm>
            <a:off x="653064" y="680222"/>
            <a:ext cx="8155625" cy="8945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5"/>
              </a:lnSpc>
              <a:buNone/>
            </a:pPr>
            <a:r>
              <a:rPr lang="en-US" sz="2938" b="1" spc="-100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datos del entorno pueden excluir un</a:t>
            </a:r>
            <a:endParaRPr lang="en-US" sz="2938" dirty="0"/>
          </a:p>
          <a:p>
            <a:pPr algn="l" indent="0" marL="0">
              <a:lnSpc>
                <a:spcPts val="3085"/>
              </a:lnSpc>
              <a:buNone/>
            </a:pPr>
            <a:r>
              <a:rPr lang="en-US" sz="2938" b="1" spc="-82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tramo</a:t>
            </a:r>
            <a:endParaRPr lang="en-US" sz="2938" dirty="0"/>
          </a:p>
        </p:txBody>
      </p:sp>
      <p:sp>
        <p:nvSpPr>
          <p:cNvPr id="4" name="Text 2"/>
          <p:cNvSpPr txBox="1"/>
          <p:nvPr/>
        </p:nvSpPr>
        <p:spPr>
          <a:xfrm>
            <a:off x="671718" y="3018983"/>
            <a:ext cx="2086935" cy="3493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4"/>
              </a:lnSpc>
              <a:buNone/>
            </a:pPr>
            <a:r>
              <a:rPr lang="en-US" sz="1841" b="1" spc="-37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Altura + relieve</a:t>
            </a:r>
            <a:endParaRPr lang="en-US" sz="1841" dirty="0"/>
          </a:p>
        </p:txBody>
      </p:sp>
      <p:sp>
        <p:nvSpPr>
          <p:cNvPr id="5" name="Text 3"/>
          <p:cNvSpPr txBox="1"/>
          <p:nvPr/>
        </p:nvSpPr>
        <p:spPr>
          <a:xfrm>
            <a:off x="671718" y="3374959"/>
            <a:ext cx="2021373" cy="631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3"/>
              </a:lnSpc>
              <a:buNone/>
            </a:pPr>
            <a:r>
              <a:rPr lang="en-US" sz="1175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excluye si el obstáculo</a:t>
            </a:r>
            <a:endParaRPr lang="en-US" sz="1175" dirty="0"/>
          </a:p>
          <a:p>
            <a:pPr algn="l" indent="0" marL="0">
              <a:lnSpc>
                <a:spcPts val="1543"/>
              </a:lnSpc>
              <a:buNone/>
            </a:pPr>
            <a:r>
              <a:rPr lang="en-US" sz="1175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alcanza </a:t>
            </a:r>
            <a:pPr algn="l" indent="0" marL="0">
              <a:lnSpc>
                <a:spcPts val="1543"/>
              </a:lnSpc>
              <a:buNone/>
            </a:pPr>
            <a:r>
              <a:rPr lang="en-US" sz="1175" b="1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altura de vuelo −</a:t>
            </a:r>
            <a:endParaRPr lang="en-US" sz="1175" dirty="0"/>
          </a:p>
          <a:p>
            <a:pPr algn="l" indent="0" marL="0">
              <a:lnSpc>
                <a:spcPts val="1543"/>
              </a:lnSpc>
              <a:buNone/>
            </a:pPr>
            <a:r>
              <a:rPr lang="en-US" sz="1175" b="1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margen</a:t>
            </a:r>
            <a:pPr algn="l" indent="0" marL="0">
              <a:lnSpc>
                <a:spcPts val="1543"/>
              </a:lnSpc>
              <a:buNone/>
            </a:pPr>
            <a:r>
              <a:rPr lang="en-US" sz="1175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75" dirty="0"/>
          </a:p>
        </p:txBody>
      </p:sp>
      <p:sp>
        <p:nvSpPr>
          <p:cNvPr id="6" name="Text 4"/>
          <p:cNvSpPr txBox="1"/>
          <p:nvPr/>
        </p:nvSpPr>
        <p:spPr>
          <a:xfrm>
            <a:off x="671718" y="4133454"/>
            <a:ext cx="3657600" cy="344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5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OSM + Copernicus · 79 de las 83</a:t>
            </a:r>
            <a:endParaRPr lang="en-US" sz="960" dirty="0"/>
          </a:p>
          <a:p>
            <a:pPr algn="l" indent="0" marL="0">
              <a:lnSpc>
                <a:spcPts val="1175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exclusiones dependen del edificio.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3401934" y="3018983"/>
            <a:ext cx="939455" cy="3493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4"/>
              </a:lnSpc>
              <a:buNone/>
            </a:pPr>
            <a:r>
              <a:rPr lang="en-US" sz="1841" b="1" spc="-33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Viento</a:t>
            </a:r>
            <a:endParaRPr lang="en-US" sz="1841" dirty="0"/>
          </a:p>
        </p:txBody>
      </p:sp>
      <p:sp>
        <p:nvSpPr>
          <p:cNvPr id="8" name="Text 6"/>
          <p:cNvSpPr txBox="1"/>
          <p:nvPr/>
        </p:nvSpPr>
        <p:spPr>
          <a:xfrm>
            <a:off x="3401934" y="3374959"/>
            <a:ext cx="2378629" cy="631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3"/>
              </a:lnSpc>
              <a:buNone/>
            </a:pPr>
            <a:r>
              <a:rPr lang="en-US" sz="1175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la velocidad representativa</a:t>
            </a:r>
            <a:endParaRPr lang="en-US" sz="1175" dirty="0"/>
          </a:p>
          <a:p>
            <a:pPr algn="l" indent="0" marL="0">
              <a:lnSpc>
                <a:spcPts val="1543"/>
              </a:lnSpc>
              <a:buNone/>
            </a:pPr>
            <a:r>
              <a:rPr lang="en-US" sz="1175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 el máximo, la misión no</a:t>
            </a:r>
            <a:endParaRPr lang="en-US" sz="1175" dirty="0"/>
          </a:p>
          <a:p>
            <a:pPr algn="l" indent="0" marL="0">
              <a:lnSpc>
                <a:spcPts val="1543"/>
              </a:lnSpc>
              <a:buNone/>
            </a:pPr>
            <a:r>
              <a:rPr lang="en-US" sz="1175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admisible.</a:t>
            </a:r>
            <a:endParaRPr lang="en-US" sz="1175" dirty="0"/>
          </a:p>
        </p:txBody>
      </p:sp>
      <p:sp>
        <p:nvSpPr>
          <p:cNvPr id="9" name="Text 7"/>
          <p:cNvSpPr txBox="1"/>
          <p:nvPr/>
        </p:nvSpPr>
        <p:spPr>
          <a:xfrm>
            <a:off x="3401934" y="4133454"/>
            <a:ext cx="3657600" cy="344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5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ERA5 · mediana 6,43 m/s a 60 m: con</a:t>
            </a:r>
            <a:endParaRPr lang="en-US" sz="960" dirty="0"/>
          </a:p>
          <a:p>
            <a:pPr algn="l" indent="0" marL="0">
              <a:lnSpc>
                <a:spcPts val="1175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estos datos nunca restringe.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6132241" y="3018983"/>
            <a:ext cx="2247778" cy="3493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4"/>
              </a:lnSpc>
              <a:buNone/>
            </a:pPr>
            <a:r>
              <a:rPr lang="en-US" sz="1841" b="1" spc="-37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Zona restringida</a:t>
            </a:r>
            <a:endParaRPr lang="en-US" sz="1841" dirty="0"/>
          </a:p>
        </p:txBody>
      </p:sp>
      <p:sp>
        <p:nvSpPr>
          <p:cNvPr id="11" name="Text 9"/>
          <p:cNvSpPr txBox="1"/>
          <p:nvPr/>
        </p:nvSpPr>
        <p:spPr>
          <a:xfrm>
            <a:off x="6132241" y="3374959"/>
            <a:ext cx="2407067" cy="631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3"/>
              </a:lnSpc>
              <a:buNone/>
            </a:pPr>
            <a:r>
              <a:rPr lang="en-US" sz="1175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campo existe en el modelo;</a:t>
            </a:r>
            <a:endParaRPr lang="en-US" sz="1175" dirty="0"/>
          </a:p>
          <a:p>
            <a:pPr algn="l" indent="0" marL="0">
              <a:lnSpc>
                <a:spcPts val="1543"/>
              </a:lnSpc>
              <a:buNone/>
            </a:pPr>
            <a:r>
              <a:rPr lang="en-US" sz="1175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versión no carga una capa</a:t>
            </a:r>
            <a:endParaRPr lang="en-US" sz="1175" dirty="0"/>
          </a:p>
          <a:p>
            <a:pPr algn="l" indent="0" marL="0">
              <a:lnSpc>
                <a:spcPts val="1543"/>
              </a:lnSpc>
              <a:buNone/>
            </a:pPr>
            <a:r>
              <a:rPr lang="en-US" sz="1175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espacio aéreo.</a:t>
            </a:r>
            <a:endParaRPr lang="en-US" sz="1175" dirty="0"/>
          </a:p>
        </p:txBody>
      </p:sp>
      <p:sp>
        <p:nvSpPr>
          <p:cNvPr id="12" name="Text 10"/>
          <p:cNvSpPr txBox="1"/>
          <p:nvPr/>
        </p:nvSpPr>
        <p:spPr>
          <a:xfrm>
            <a:off x="6132241" y="4133454"/>
            <a:ext cx="3657600" cy="344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5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fuente la activa: es falsa</a:t>
            </a:r>
            <a:endParaRPr lang="en-US" sz="960" dirty="0"/>
          </a:p>
          <a:p>
            <a:pPr algn="l" indent="0" marL="0">
              <a:lnSpc>
                <a:spcPts val="1175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los 618 tramos.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35</a:t>
            </a:r>
            <a:endParaRPr lang="en-US" sz="881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2968" y="2003359"/>
            <a:ext cx="2743109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42" kern="0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6.2 · PREFERENCIAS INICIALES</a:t>
            </a:r>
            <a:endParaRPr lang="en-US" sz="960" dirty="0"/>
          </a:p>
        </p:txBody>
      </p:sp>
      <p:sp>
        <p:nvSpPr>
          <p:cNvPr id="3" name="Text 1"/>
          <p:cNvSpPr txBox="1"/>
          <p:nvPr/>
        </p:nvSpPr>
        <p:spPr>
          <a:xfrm>
            <a:off x="773034" y="2279142"/>
            <a:ext cx="2617470" cy="958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06"/>
              </a:lnSpc>
              <a:buNone/>
            </a:pPr>
            <a:r>
              <a:rPr lang="en-US" sz="3154" b="1" spc="-98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Valores por</a:t>
            </a:r>
            <a:endParaRPr lang="en-US" sz="3154" dirty="0"/>
          </a:p>
          <a:p>
            <a:pPr algn="l" indent="0" marL="0">
              <a:lnSpc>
                <a:spcPts val="3306"/>
              </a:lnSpc>
              <a:buNone/>
            </a:pPr>
            <a:r>
              <a:rPr lang="en-US" sz="3154" b="1" spc="-92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defecto</a:t>
            </a:r>
            <a:endParaRPr lang="en-US" sz="3154" dirty="0"/>
          </a:p>
        </p:txBody>
      </p:sp>
      <p:sp>
        <p:nvSpPr>
          <p:cNvPr id="4" name="Text 2"/>
          <p:cNvSpPr txBox="1"/>
          <p:nvPr/>
        </p:nvSpPr>
        <p:spPr>
          <a:xfrm>
            <a:off x="3847247" y="1425641"/>
            <a:ext cx="1189726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Altura de vuelo</a:t>
            </a:r>
            <a:endParaRPr lang="en-US" sz="1175" dirty="0"/>
          </a:p>
        </p:txBody>
      </p:sp>
      <p:sp>
        <p:nvSpPr>
          <p:cNvPr id="5" name="Text 3"/>
          <p:cNvSpPr txBox="1"/>
          <p:nvPr/>
        </p:nvSpPr>
        <p:spPr>
          <a:xfrm>
            <a:off x="5315956" y="1351117"/>
            <a:ext cx="731429" cy="335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6"/>
              </a:lnSpc>
              <a:buNone/>
            </a:pPr>
            <a:r>
              <a:rPr lang="en-US" sz="1763" b="1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 m</a:t>
            </a:r>
            <a:endParaRPr lang="en-US" sz="1763" dirty="0"/>
          </a:p>
        </p:txBody>
      </p:sp>
      <p:sp>
        <p:nvSpPr>
          <p:cNvPr id="6" name="Text 4"/>
          <p:cNvSpPr txBox="1"/>
          <p:nvPr/>
        </p:nvSpPr>
        <p:spPr>
          <a:xfrm>
            <a:off x="6294181" y="1425641"/>
            <a:ext cx="1217249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Margen vertical</a:t>
            </a:r>
            <a:endParaRPr lang="en-US" sz="1175" dirty="0"/>
          </a:p>
        </p:txBody>
      </p:sp>
      <p:sp>
        <p:nvSpPr>
          <p:cNvPr id="7" name="Text 5"/>
          <p:cNvSpPr txBox="1"/>
          <p:nvPr/>
        </p:nvSpPr>
        <p:spPr>
          <a:xfrm>
            <a:off x="7798552" y="1351117"/>
            <a:ext cx="691744" cy="335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6"/>
              </a:lnSpc>
              <a:buNone/>
            </a:pPr>
            <a:r>
              <a:rPr lang="en-US" sz="1763" b="1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m</a:t>
            </a:r>
            <a:endParaRPr lang="en-US" sz="1763" dirty="0"/>
          </a:p>
        </p:txBody>
      </p:sp>
      <p:sp>
        <p:nvSpPr>
          <p:cNvPr id="8" name="Text 6"/>
          <p:cNvSpPr txBox="1"/>
          <p:nvPr/>
        </p:nvSpPr>
        <p:spPr>
          <a:xfrm>
            <a:off x="3847247" y="1984705"/>
            <a:ext cx="1177199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Viento máximo</a:t>
            </a:r>
            <a:endParaRPr lang="en-US" sz="1175" dirty="0"/>
          </a:p>
        </p:txBody>
      </p:sp>
      <p:sp>
        <p:nvSpPr>
          <p:cNvPr id="9" name="Text 7"/>
          <p:cNvSpPr txBox="1"/>
          <p:nvPr/>
        </p:nvSpPr>
        <p:spPr>
          <a:xfrm>
            <a:off x="5147798" y="1910182"/>
            <a:ext cx="919978" cy="335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6"/>
              </a:lnSpc>
              <a:buNone/>
            </a:pPr>
            <a:r>
              <a:rPr lang="en-US" sz="1763" b="1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m/s</a:t>
            </a:r>
            <a:endParaRPr lang="en-US" sz="1763" dirty="0"/>
          </a:p>
        </p:txBody>
      </p:sp>
      <p:sp>
        <p:nvSpPr>
          <p:cNvPr id="10" name="Text 8"/>
          <p:cNvSpPr txBox="1"/>
          <p:nvPr/>
        </p:nvSpPr>
        <p:spPr>
          <a:xfrm>
            <a:off x="6294181" y="1939991"/>
            <a:ext cx="799460" cy="4919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3"/>
              </a:lnSpc>
              <a:buNone/>
            </a:pPr>
            <a:r>
              <a:rPr lang="en-US" sz="1175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Velocidad</a:t>
            </a:r>
            <a:endParaRPr lang="en-US" sz="1175" dirty="0"/>
          </a:p>
          <a:p>
            <a:pPr algn="l" indent="0" marL="0">
              <a:lnSpc>
                <a:spcPts val="1763"/>
              </a:lnSpc>
              <a:buNone/>
            </a:pPr>
            <a:r>
              <a:rPr lang="en-US" sz="1175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crucero</a:t>
            </a:r>
            <a:endParaRPr lang="en-US" sz="1175" dirty="0"/>
          </a:p>
        </p:txBody>
      </p:sp>
      <p:sp>
        <p:nvSpPr>
          <p:cNvPr id="11" name="Text 9"/>
          <p:cNvSpPr txBox="1"/>
          <p:nvPr/>
        </p:nvSpPr>
        <p:spPr>
          <a:xfrm>
            <a:off x="7594915" y="1910182"/>
            <a:ext cx="919978" cy="335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6"/>
              </a:lnSpc>
              <a:buNone/>
            </a:pPr>
            <a:r>
              <a:rPr lang="en-US" sz="1763" b="1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m/s</a:t>
            </a:r>
            <a:endParaRPr lang="en-US" sz="1763" dirty="0"/>
          </a:p>
        </p:txBody>
      </p:sp>
      <p:sp>
        <p:nvSpPr>
          <p:cNvPr id="12" name="Text 10"/>
          <p:cNvSpPr txBox="1"/>
          <p:nvPr/>
        </p:nvSpPr>
        <p:spPr>
          <a:xfrm>
            <a:off x="3847247" y="2767432"/>
            <a:ext cx="1369588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Desvío máximo α</a:t>
            </a:r>
            <a:endParaRPr lang="en-US" sz="1175" dirty="0"/>
          </a:p>
        </p:txBody>
      </p:sp>
      <p:sp>
        <p:nvSpPr>
          <p:cNvPr id="13" name="Text 11"/>
          <p:cNvSpPr txBox="1"/>
          <p:nvPr/>
        </p:nvSpPr>
        <p:spPr>
          <a:xfrm>
            <a:off x="5397886" y="2692908"/>
            <a:ext cx="639623" cy="335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6"/>
              </a:lnSpc>
              <a:buNone/>
            </a:pPr>
            <a:r>
              <a:rPr lang="en-US" sz="1763" b="1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0,35</a:t>
            </a:r>
            <a:endParaRPr lang="en-US" sz="1763" dirty="0"/>
          </a:p>
        </p:txBody>
      </p:sp>
      <p:sp>
        <p:nvSpPr>
          <p:cNvPr id="14" name="Text 12"/>
          <p:cNvSpPr txBox="1"/>
          <p:nvPr/>
        </p:nvSpPr>
        <p:spPr>
          <a:xfrm>
            <a:off x="6294181" y="2767432"/>
            <a:ext cx="1573865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Presupuesto extra β</a:t>
            </a:r>
            <a:endParaRPr lang="en-US" sz="1175" dirty="0"/>
          </a:p>
        </p:txBody>
      </p:sp>
      <p:sp>
        <p:nvSpPr>
          <p:cNvPr id="15" name="Text 13"/>
          <p:cNvSpPr txBox="1"/>
          <p:nvPr/>
        </p:nvSpPr>
        <p:spPr>
          <a:xfrm>
            <a:off x="7816931" y="2692908"/>
            <a:ext cx="670987" cy="335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6"/>
              </a:lnSpc>
              <a:buNone/>
            </a:pPr>
            <a:r>
              <a:rPr lang="en-US" sz="1763" b="1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0,60</a:t>
            </a:r>
            <a:endParaRPr lang="en-US" sz="1763" dirty="0"/>
          </a:p>
        </p:txBody>
      </p:sp>
      <p:sp>
        <p:nvSpPr>
          <p:cNvPr id="16" name="Text 14"/>
          <p:cNvSpPr txBox="1"/>
          <p:nvPr/>
        </p:nvSpPr>
        <p:spPr>
          <a:xfrm>
            <a:off x="3847247" y="3326496"/>
            <a:ext cx="1514704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Peso del riesgo wR</a:t>
            </a:r>
            <a:endParaRPr lang="en-US" sz="1175" dirty="0"/>
          </a:p>
        </p:txBody>
      </p:sp>
      <p:sp>
        <p:nvSpPr>
          <p:cNvPr id="17" name="Text 15"/>
          <p:cNvSpPr txBox="1"/>
          <p:nvPr/>
        </p:nvSpPr>
        <p:spPr>
          <a:xfrm>
            <a:off x="5562204" y="3251972"/>
            <a:ext cx="455554" cy="335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6"/>
              </a:lnSpc>
              <a:buNone/>
            </a:pPr>
            <a:r>
              <a:rPr lang="en-US" sz="1763" b="1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1,0</a:t>
            </a:r>
            <a:endParaRPr lang="en-US" sz="1763" dirty="0"/>
          </a:p>
        </p:txBody>
      </p:sp>
      <p:sp>
        <p:nvSpPr>
          <p:cNvPr id="18" name="Text 16"/>
          <p:cNvSpPr txBox="1"/>
          <p:nvPr/>
        </p:nvSpPr>
        <p:spPr>
          <a:xfrm>
            <a:off x="6294181" y="3281782"/>
            <a:ext cx="1245413" cy="4919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3"/>
              </a:lnSpc>
              <a:buNone/>
            </a:pPr>
            <a:r>
              <a:rPr lang="en-US" sz="1175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Respetar zonas</a:t>
            </a:r>
            <a:endParaRPr lang="en-US" sz="1175" dirty="0"/>
          </a:p>
          <a:p>
            <a:pPr algn="l" indent="0" marL="0">
              <a:lnSpc>
                <a:spcPts val="1763"/>
              </a:lnSpc>
              <a:buNone/>
            </a:pPr>
            <a:r>
              <a:rPr lang="en-US" sz="1175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restringidas</a:t>
            </a:r>
            <a:endParaRPr lang="en-US" sz="1175" dirty="0"/>
          </a:p>
        </p:txBody>
      </p:sp>
      <p:sp>
        <p:nvSpPr>
          <p:cNvPr id="19" name="Text 17"/>
          <p:cNvSpPr txBox="1"/>
          <p:nvPr/>
        </p:nvSpPr>
        <p:spPr>
          <a:xfrm>
            <a:off x="8125084" y="3251972"/>
            <a:ext cx="326166" cy="335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6"/>
              </a:lnSpc>
              <a:buNone/>
            </a:pPr>
            <a:r>
              <a:rPr lang="en-US" sz="1763" b="1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</a:t>
            </a:r>
            <a:endParaRPr lang="en-US" sz="1763" dirty="0"/>
          </a:p>
        </p:txBody>
      </p:sp>
      <p:sp>
        <p:nvSpPr>
          <p:cNvPr id="20" name="Text 18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35</a:t>
            </a:r>
            <a:endParaRPr lang="en-US" sz="881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4987" y="559064"/>
            <a:ext cx="2263597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41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7.1 · COSTO DE UN TRAMO</a:t>
            </a:r>
            <a:endParaRPr lang="en-US" sz="960" dirty="0"/>
          </a:p>
        </p:txBody>
      </p:sp>
      <p:sp>
        <p:nvSpPr>
          <p:cNvPr id="3" name="Text 1"/>
          <p:cNvSpPr txBox="1"/>
          <p:nvPr/>
        </p:nvSpPr>
        <p:spPr>
          <a:xfrm>
            <a:off x="764987" y="829269"/>
            <a:ext cx="7480066" cy="293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1"/>
              </a:lnSpc>
              <a:buNone/>
            </a:pPr>
            <a:r>
              <a:rPr lang="en-US" sz="1548" dirty="0">
                <a:solidFill>
                  <a:srgbClr val="4B56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Dijkstra compara kilómetros. La propuesta incorpora condiciones del tramo.</a:t>
            </a:r>
            <a:endParaRPr lang="en-US" sz="1548" dirty="0"/>
          </a:p>
        </p:txBody>
      </p:sp>
      <p:sp>
        <p:nvSpPr>
          <p:cNvPr id="4" name="Text 2"/>
          <p:cNvSpPr txBox="1"/>
          <p:nvPr/>
        </p:nvSpPr>
        <p:spPr>
          <a:xfrm>
            <a:off x="764987" y="1518818"/>
            <a:ext cx="395569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b="1" spc="79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</a:t>
            </a:r>
            <a:endParaRPr lang="en-US" sz="881" dirty="0"/>
          </a:p>
        </p:txBody>
      </p:sp>
      <p:sp>
        <p:nvSpPr>
          <p:cNvPr id="5" name="Text 3"/>
          <p:cNvSpPr txBox="1"/>
          <p:nvPr/>
        </p:nvSpPr>
        <p:spPr>
          <a:xfrm>
            <a:off x="1307501" y="1360444"/>
            <a:ext cx="2361164" cy="4053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6"/>
              </a:lnSpc>
              <a:buNone/>
            </a:pPr>
            <a:r>
              <a:rPr lang="en-US" sz="2135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c(e) = longitud</a:t>
            </a:r>
            <a:endParaRPr lang="en-US" sz="2135" dirty="0"/>
          </a:p>
        </p:txBody>
      </p:sp>
      <p:sp>
        <p:nvSpPr>
          <p:cNvPr id="6" name="Text 4"/>
          <p:cNvSpPr txBox="1"/>
          <p:nvPr/>
        </p:nvSpPr>
        <p:spPr>
          <a:xfrm>
            <a:off x="7577267" y="1509492"/>
            <a:ext cx="971093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pgr_dijkstra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764987" y="2301545"/>
            <a:ext cx="815462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b="1" spc="94" kern="0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PROPUESTA</a:t>
            </a:r>
            <a:endParaRPr lang="en-US" sz="881" dirty="0"/>
          </a:p>
        </p:txBody>
      </p:sp>
      <p:sp>
        <p:nvSpPr>
          <p:cNvPr id="8" name="Text 6"/>
          <p:cNvSpPr txBox="1"/>
          <p:nvPr/>
        </p:nvSpPr>
        <p:spPr>
          <a:xfrm>
            <a:off x="1682405" y="2161733"/>
            <a:ext cx="1074969" cy="545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38"/>
              </a:lnSpc>
              <a:buNone/>
            </a:pPr>
            <a:r>
              <a:rPr lang="en-US" sz="2860" b="1" spc="-55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c(e,u</a:t>
            </a:r>
            <a:endParaRPr lang="en-US" sz="2860" dirty="0"/>
          </a:p>
        </p:txBody>
      </p:sp>
      <p:sp>
        <p:nvSpPr>
          <p:cNvPr id="9" name="Text 7"/>
          <p:cNvSpPr txBox="1"/>
          <p:nvPr/>
        </p:nvSpPr>
        <p:spPr>
          <a:xfrm>
            <a:off x="2566446" y="2161733"/>
            <a:ext cx="482163" cy="545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38"/>
              </a:lnSpc>
              <a:buNone/>
            </a:pPr>
            <a:r>
              <a:rPr lang="en-US" sz="2860" b="1" dirty="0">
                <a:solidFill>
                  <a:srgbClr val="2027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2860" dirty="0"/>
          </a:p>
        </p:txBody>
      </p:sp>
      <p:sp>
        <p:nvSpPr>
          <p:cNvPr id="10" name="Text 8"/>
          <p:cNvSpPr txBox="1"/>
          <p:nvPr/>
        </p:nvSpPr>
        <p:spPr>
          <a:xfrm>
            <a:off x="2921142" y="2161733"/>
            <a:ext cx="1978579" cy="545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38"/>
              </a:lnSpc>
              <a:buNone/>
            </a:pPr>
            <a:r>
              <a:rPr lang="en-US" sz="2860" b="1" spc="-55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v) = </a:t>
            </a:r>
            <a:pPr algn="l" indent="0" marL="0">
              <a:lnSpc>
                <a:spcPts val="3438"/>
              </a:lnSpc>
              <a:buNone/>
            </a:pPr>
            <a:r>
              <a:rPr lang="en-US" sz="2860" b="1" spc="-55" kern="0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largo</a:t>
            </a:r>
            <a:endParaRPr lang="en-US" sz="2860" dirty="0"/>
          </a:p>
        </p:txBody>
      </p:sp>
      <p:sp>
        <p:nvSpPr>
          <p:cNvPr id="11" name="Text 9"/>
          <p:cNvSpPr txBox="1"/>
          <p:nvPr/>
        </p:nvSpPr>
        <p:spPr>
          <a:xfrm>
            <a:off x="4793010" y="2161733"/>
            <a:ext cx="697779" cy="545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38"/>
              </a:lnSpc>
              <a:buNone/>
            </a:pPr>
            <a:r>
              <a:rPr lang="en-US" sz="2860" b="1" spc="-46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 </a:t>
            </a:r>
            <a:pPr algn="l" indent="0" marL="0">
              <a:lnSpc>
                <a:spcPts val="3438"/>
              </a:lnSpc>
              <a:buNone/>
            </a:pPr>
            <a:r>
              <a:rPr lang="en-US" sz="2860" b="1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</a:t>
            </a:r>
            <a:endParaRPr lang="en-US" sz="2860" dirty="0"/>
          </a:p>
        </p:txBody>
      </p:sp>
      <p:sp>
        <p:nvSpPr>
          <p:cNvPr id="12" name="Text 10"/>
          <p:cNvSpPr txBox="1"/>
          <p:nvPr/>
        </p:nvSpPr>
        <p:spPr>
          <a:xfrm>
            <a:off x="5684185" y="2161733"/>
            <a:ext cx="2045147" cy="545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38"/>
              </a:lnSpc>
              <a:buNone/>
            </a:pPr>
            <a:r>
              <a:rPr lang="en-US" sz="2860" b="1" spc="-46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 </a:t>
            </a:r>
            <a:pPr algn="l" indent="0" marL="0">
              <a:lnSpc>
                <a:spcPts val="3438"/>
              </a:lnSpc>
              <a:buNone/>
            </a:pPr>
            <a:r>
              <a:rPr lang="en-US" sz="2860" b="1" spc="37" kern="0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(1 + w ·</a:t>
            </a:r>
            <a:endParaRPr lang="en-US" sz="2860" dirty="0"/>
          </a:p>
        </p:txBody>
      </p:sp>
      <p:sp>
        <p:nvSpPr>
          <p:cNvPr id="13" name="Text 11"/>
          <p:cNvSpPr txBox="1"/>
          <p:nvPr/>
        </p:nvSpPr>
        <p:spPr>
          <a:xfrm>
            <a:off x="1682405" y="2627620"/>
            <a:ext cx="2208459" cy="545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38"/>
              </a:lnSpc>
              <a:buNone/>
            </a:pPr>
            <a:r>
              <a:rPr lang="en-US" sz="2860" b="1" spc="-59" kern="0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riesgo)</a:t>
            </a:r>
            <a:pPr algn="l" indent="0" marL="0">
              <a:lnSpc>
                <a:spcPts val="3438"/>
              </a:lnSpc>
              <a:buNone/>
            </a:pPr>
            <a:r>
              <a:rPr lang="en-US" sz="2860" b="1" spc="-46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 </a:t>
            </a:r>
            <a:pPr algn="l" indent="0" marL="0">
              <a:lnSpc>
                <a:spcPts val="3438"/>
              </a:lnSpc>
              <a:buNone/>
            </a:pPr>
            <a:r>
              <a:rPr lang="en-US" sz="2860" b="1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</a:t>
            </a:r>
            <a:endParaRPr lang="en-US" sz="2860" dirty="0"/>
          </a:p>
        </p:txBody>
      </p:sp>
      <p:sp>
        <p:nvSpPr>
          <p:cNvPr id="14" name="Text 12"/>
          <p:cNvSpPr txBox="1"/>
          <p:nvPr/>
        </p:nvSpPr>
        <p:spPr>
          <a:xfrm>
            <a:off x="1959102" y="3456981"/>
            <a:ext cx="930676" cy="2655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391" b="1" dirty="0">
                <a:solidFill>
                  <a:srgbClr val="AB43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f_viento</a:t>
            </a:r>
            <a:endParaRPr lang="en-US" sz="1391" dirty="0"/>
          </a:p>
        </p:txBody>
      </p:sp>
      <p:sp>
        <p:nvSpPr>
          <p:cNvPr id="15" name="Text 13"/>
          <p:cNvSpPr txBox="1"/>
          <p:nvPr/>
        </p:nvSpPr>
        <p:spPr>
          <a:xfrm>
            <a:off x="1959102" y="3697376"/>
            <a:ext cx="2091233" cy="3931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6"/>
              </a:lnSpc>
              <a:buNone/>
            </a:pPr>
            <a:r>
              <a:rPr lang="en-US" sz="1028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 de frente según el</a:t>
            </a:r>
            <a:endParaRPr lang="en-US" sz="1028" dirty="0"/>
          </a:p>
          <a:p>
            <a:pPr algn="l" indent="0" marL="0">
              <a:lnSpc>
                <a:spcPts val="1396"/>
              </a:lnSpc>
              <a:buNone/>
            </a:pPr>
            <a:r>
              <a:rPr lang="en-US" sz="1028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sentido del tramo</a:t>
            </a:r>
            <a:endParaRPr lang="en-US" sz="1028" dirty="0"/>
          </a:p>
        </p:txBody>
      </p:sp>
      <p:sp>
        <p:nvSpPr>
          <p:cNvPr id="16" name="Text 14"/>
          <p:cNvSpPr txBox="1"/>
          <p:nvPr/>
        </p:nvSpPr>
        <p:spPr>
          <a:xfrm>
            <a:off x="4207429" y="3456981"/>
            <a:ext cx="704362" cy="2655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391" b="1" dirty="0">
                <a:solidFill>
                  <a:srgbClr val="AB43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</a:t>
            </a:r>
            <a:endParaRPr lang="en-US" sz="1391" dirty="0"/>
          </a:p>
        </p:txBody>
      </p:sp>
      <p:sp>
        <p:nvSpPr>
          <p:cNvPr id="17" name="Text 15"/>
          <p:cNvSpPr txBox="1"/>
          <p:nvPr/>
        </p:nvSpPr>
        <p:spPr>
          <a:xfrm>
            <a:off x="4207429" y="3697376"/>
            <a:ext cx="3657600" cy="400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6"/>
              </a:lnSpc>
              <a:buNone/>
            </a:pPr>
            <a:r>
              <a:rPr lang="en-US" sz="1028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+ incendios históricos +</a:t>
            </a:r>
            <a:endParaRPr lang="en-US" sz="1028" dirty="0"/>
          </a:p>
          <a:p>
            <a:pPr algn="l" indent="0" marL="0">
              <a:lnSpc>
                <a:spcPts val="1396"/>
              </a:lnSpc>
              <a:buNone/>
            </a:pPr>
            <a:r>
              <a:rPr lang="en-US" sz="1028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GNSS (0,3333 en todos los tramos)</a:t>
            </a:r>
            <a:endParaRPr lang="en-US" sz="1028" dirty="0"/>
          </a:p>
        </p:txBody>
      </p:sp>
      <p:sp>
        <p:nvSpPr>
          <p:cNvPr id="18" name="Text 16"/>
          <p:cNvSpPr txBox="1"/>
          <p:nvPr/>
        </p:nvSpPr>
        <p:spPr>
          <a:xfrm>
            <a:off x="6455755" y="3456981"/>
            <a:ext cx="831372" cy="2655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391" b="1" dirty="0">
                <a:solidFill>
                  <a:srgbClr val="AB43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p_local</a:t>
            </a:r>
            <a:endParaRPr lang="en-US" sz="1391" dirty="0"/>
          </a:p>
        </p:txBody>
      </p:sp>
      <p:sp>
        <p:nvSpPr>
          <p:cNvPr id="19" name="Text 17"/>
          <p:cNvSpPr txBox="1"/>
          <p:nvPr/>
        </p:nvSpPr>
        <p:spPr>
          <a:xfrm>
            <a:off x="6455755" y="3697376"/>
            <a:ext cx="2131649" cy="3931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6"/>
              </a:lnSpc>
              <a:buNone/>
            </a:pPr>
            <a:r>
              <a:rPr lang="en-US" sz="1028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penaliza aristas cercanas a una</a:t>
            </a:r>
            <a:endParaRPr lang="en-US" sz="1028" dirty="0"/>
          </a:p>
          <a:p>
            <a:pPr algn="l" indent="0" marL="0">
              <a:lnSpc>
                <a:spcPts val="1396"/>
              </a:lnSpc>
              <a:buNone/>
            </a:pPr>
            <a:r>
              <a:rPr lang="en-US" sz="1028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falla ya detectada</a:t>
            </a:r>
            <a:endParaRPr lang="en-US" sz="1028" dirty="0"/>
          </a:p>
        </p:txBody>
      </p:sp>
      <p:sp>
        <p:nvSpPr>
          <p:cNvPr id="20" name="Text 18"/>
          <p:cNvSpPr txBox="1"/>
          <p:nvPr/>
        </p:nvSpPr>
        <p:spPr>
          <a:xfrm>
            <a:off x="3348807" y="1483888"/>
            <a:ext cx="449153" cy="304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17"/>
              </a:lnSpc>
              <a:buNone/>
            </a:pPr>
            <a:r>
              <a:rPr lang="en-US" sz="1596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km</a:t>
            </a:r>
            <a:endParaRPr lang="en-US" sz="1596" dirty="0"/>
          </a:p>
        </p:txBody>
      </p:sp>
      <p:sp>
        <p:nvSpPr>
          <p:cNvPr id="21" name="Text 19"/>
          <p:cNvSpPr txBox="1"/>
          <p:nvPr/>
        </p:nvSpPr>
        <p:spPr>
          <a:xfrm>
            <a:off x="4612051" y="2413376"/>
            <a:ext cx="287304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spc="-36" kern="0" dirty="0">
                <a:solidFill>
                  <a:srgbClr val="2D6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</a:t>
            </a:r>
            <a:endParaRPr lang="en-US" sz="1175" dirty="0"/>
          </a:p>
        </p:txBody>
      </p:sp>
      <p:sp>
        <p:nvSpPr>
          <p:cNvPr id="22" name="Text 20"/>
          <p:cNvSpPr txBox="1"/>
          <p:nvPr/>
        </p:nvSpPr>
        <p:spPr>
          <a:xfrm>
            <a:off x="5340279" y="2413376"/>
            <a:ext cx="469819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spc="-60" kern="0" dirty="0">
                <a:solidFill>
                  <a:srgbClr val="2D6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viento</a:t>
            </a:r>
            <a:endParaRPr lang="en-US" sz="1175" dirty="0"/>
          </a:p>
        </p:txBody>
      </p:sp>
      <p:sp>
        <p:nvSpPr>
          <p:cNvPr id="23" name="Text 21"/>
          <p:cNvSpPr txBox="1"/>
          <p:nvPr/>
        </p:nvSpPr>
        <p:spPr>
          <a:xfrm>
            <a:off x="7184258" y="2413376"/>
            <a:ext cx="195316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dirty="0">
                <a:solidFill>
                  <a:srgbClr val="2D6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175" dirty="0"/>
          </a:p>
        </p:txBody>
      </p:sp>
      <p:sp>
        <p:nvSpPr>
          <p:cNvPr id="24" name="Text 22"/>
          <p:cNvSpPr txBox="1"/>
          <p:nvPr/>
        </p:nvSpPr>
        <p:spPr>
          <a:xfrm>
            <a:off x="3578596" y="2879263"/>
            <a:ext cx="377647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spc="-57" kern="0" dirty="0">
                <a:solidFill>
                  <a:srgbClr val="2D6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</a:t>
            </a:r>
            <a:endParaRPr lang="en-US" sz="1175" dirty="0"/>
          </a:p>
        </p:txBody>
      </p:sp>
      <p:sp>
        <p:nvSpPr>
          <p:cNvPr id="25" name="Text 23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35</a:t>
            </a:r>
            <a:endParaRPr lang="en-US" sz="881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757" y="1518818"/>
            <a:ext cx="3318449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43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7.1 / 7.2 · YEN + SELECCIÓN PROPIA</a:t>
            </a:r>
            <a:endParaRPr lang="en-US" sz="960" dirty="0"/>
          </a:p>
        </p:txBody>
      </p:sp>
      <p:sp>
        <p:nvSpPr>
          <p:cNvPr id="3" name="Text 1"/>
          <p:cNvSpPr txBox="1"/>
          <p:nvPr/>
        </p:nvSpPr>
        <p:spPr>
          <a:xfrm>
            <a:off x="601309" y="1781617"/>
            <a:ext cx="3233410" cy="10371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98"/>
              </a:lnSpc>
              <a:buNone/>
            </a:pPr>
            <a:r>
              <a:rPr lang="en-US" sz="2272" b="1" spc="-69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Yen genera</a:t>
            </a:r>
            <a:endParaRPr lang="en-US" sz="2272" dirty="0"/>
          </a:p>
          <a:p>
            <a:pPr algn="l" indent="0" marL="0">
              <a:lnSpc>
                <a:spcPts val="2498"/>
              </a:lnSpc>
              <a:buNone/>
            </a:pPr>
            <a:r>
              <a:rPr lang="en-US" sz="2272" b="1" spc="-73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candidatas, el grupo</a:t>
            </a:r>
            <a:endParaRPr lang="en-US" sz="2272" dirty="0"/>
          </a:p>
          <a:p>
            <a:pPr algn="l" indent="0" marL="0">
              <a:lnSpc>
                <a:spcPts val="2498"/>
              </a:lnSpc>
              <a:buNone/>
            </a:pPr>
            <a:r>
              <a:rPr lang="en-US" sz="2272" b="1" spc="-73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selecciona el par</a:t>
            </a:r>
            <a:endParaRPr lang="en-US" sz="2272" dirty="0"/>
          </a:p>
        </p:txBody>
      </p:sp>
      <p:sp>
        <p:nvSpPr>
          <p:cNvPr id="4" name="Text 2"/>
          <p:cNvSpPr txBox="1"/>
          <p:nvPr/>
        </p:nvSpPr>
        <p:spPr>
          <a:xfrm>
            <a:off x="755660" y="3291108"/>
            <a:ext cx="2958633" cy="436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3"/>
              </a:lnSpc>
              <a:buNone/>
            </a:pPr>
            <a:r>
              <a:rPr lang="en-US" sz="1175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descartan las candidatas fuera del</a:t>
            </a:r>
            <a:endParaRPr lang="en-US" sz="1175" dirty="0"/>
          </a:p>
          <a:p>
            <a:pPr algn="l" indent="0" marL="0">
              <a:lnSpc>
                <a:spcPts val="1543"/>
              </a:lnSpc>
              <a:buNone/>
            </a:pPr>
            <a:r>
              <a:rPr lang="en-US" sz="1175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desvío máximo α frente a la más corta.</a:t>
            </a:r>
            <a:endParaRPr lang="en-US" sz="1175" dirty="0"/>
          </a:p>
        </p:txBody>
      </p:sp>
      <p:sp>
        <p:nvSpPr>
          <p:cNvPr id="5" name="Text 3"/>
          <p:cNvSpPr txBox="1"/>
          <p:nvPr/>
        </p:nvSpPr>
        <p:spPr>
          <a:xfrm>
            <a:off x="755660" y="3822192"/>
            <a:ext cx="2964302" cy="436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3"/>
              </a:lnSpc>
              <a:buNone/>
            </a:pPr>
            <a:r>
              <a:rPr lang="en-US" sz="1175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pares válidos se ponderan</a:t>
            </a:r>
            <a:endParaRPr lang="en-US" sz="1175" dirty="0"/>
          </a:p>
          <a:p>
            <a:pPr algn="l" indent="0" marL="0">
              <a:lnSpc>
                <a:spcPts val="1543"/>
              </a:lnSpc>
              <a:buNone/>
            </a:pPr>
            <a:r>
              <a:rPr lang="en-US" sz="1175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alargamiento, solape espacial y riesgo.</a:t>
            </a:r>
            <a:endParaRPr lang="en-US" sz="1175" dirty="0"/>
          </a:p>
        </p:txBody>
      </p:sp>
      <p:sp>
        <p:nvSpPr>
          <p:cNvPr id="6" name="Text 4"/>
          <p:cNvSpPr txBox="1"/>
          <p:nvPr/>
        </p:nvSpPr>
        <p:spPr>
          <a:xfrm>
            <a:off x="615757" y="4435297"/>
            <a:ext cx="1979950" cy="195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4"/>
              </a:lnSpc>
              <a:buNone/>
            </a:pPr>
            <a:r>
              <a:rPr lang="en-US" sz="1028" u="sng" dirty="0">
                <a:solidFill>
                  <a:srgbClr val="2D60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Yen, 1971 · caminos loopless</a:t>
            </a:r>
            <a:endParaRPr lang="en-US" sz="1028" dirty="0"/>
          </a:p>
        </p:txBody>
      </p:sp>
      <p:sp>
        <p:nvSpPr>
          <p:cNvPr id="7" name="Text 5"/>
          <p:cNvSpPr txBox="1"/>
          <p:nvPr/>
        </p:nvSpPr>
        <p:spPr>
          <a:xfrm>
            <a:off x="755660" y="2741371"/>
            <a:ext cx="2938516" cy="436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3"/>
              </a:lnSpc>
              <a:buNone/>
            </a:pPr>
            <a:r>
              <a:rPr lang="en-US" sz="1175" dirty="0">
                <a:solidFill>
                  <a:srgbClr val="898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pgr_KSP produce hasta </a:t>
            </a:r>
            <a:pPr algn="l" indent="0" marL="0">
              <a:lnSpc>
                <a:spcPts val="1543"/>
              </a:lnSpc>
              <a:buNone/>
            </a:pPr>
            <a:r>
              <a:rPr lang="en-US" sz="1175" b="1" dirty="0">
                <a:solidFill>
                  <a:srgbClr val="898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= 8</a:t>
            </a:r>
            <a:pPr algn="l" indent="0" marL="0">
              <a:lnSpc>
                <a:spcPts val="1543"/>
              </a:lnSpc>
              <a:buNone/>
            </a:pPr>
            <a:r>
              <a:rPr lang="en-US" sz="1175" dirty="0">
                <a:solidFill>
                  <a:srgbClr val="898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caminos</a:t>
            </a:r>
            <a:endParaRPr lang="en-US" sz="1175" dirty="0"/>
          </a:p>
          <a:p>
            <a:pPr algn="l" indent="0" marL="0">
              <a:lnSpc>
                <a:spcPts val="1543"/>
              </a:lnSpc>
              <a:buNone/>
            </a:pPr>
            <a:r>
              <a:rPr lang="en-US" sz="1175" dirty="0">
                <a:solidFill>
                  <a:srgbClr val="898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simples por tramo.</a:t>
            </a:r>
            <a:endParaRPr lang="en-US" sz="1175" dirty="0"/>
          </a:p>
        </p:txBody>
      </p:sp>
      <p:sp>
        <p:nvSpPr>
          <p:cNvPr id="8" name="Text 6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35</a:t>
            </a:r>
            <a:endParaRPr lang="en-US" sz="881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9509" y="3672139"/>
            <a:ext cx="337505" cy="1264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98"/>
              </a:lnSpc>
              <a:buNone/>
            </a:pPr>
            <a:r>
              <a:rPr lang="en-US" sz="666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origen</a:t>
            </a:r>
            <a:endParaRPr lang="en-US" sz="666" dirty="0"/>
          </a:p>
        </p:txBody>
      </p:sp>
      <p:sp>
        <p:nvSpPr>
          <p:cNvPr id="3" name="Text 1"/>
          <p:cNvSpPr txBox="1"/>
          <p:nvPr/>
        </p:nvSpPr>
        <p:spPr>
          <a:xfrm>
            <a:off x="5438851" y="2722900"/>
            <a:ext cx="379567" cy="1264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98"/>
              </a:lnSpc>
              <a:buNone/>
            </a:pPr>
            <a:r>
              <a:rPr lang="en-US" sz="666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destino</a:t>
            </a:r>
            <a:endParaRPr lang="en-US" sz="666" dirty="0"/>
          </a:p>
        </p:txBody>
      </p:sp>
      <p:sp>
        <p:nvSpPr>
          <p:cNvPr id="4" name="Text 2"/>
          <p:cNvSpPr txBox="1"/>
          <p:nvPr/>
        </p:nvSpPr>
        <p:spPr>
          <a:xfrm>
            <a:off x="6442588" y="875904"/>
            <a:ext cx="1400678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38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· LÍNEA BASE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6427318" y="1142360"/>
            <a:ext cx="2487077" cy="10706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71"/>
              </a:lnSpc>
              <a:buNone/>
            </a:pPr>
            <a:r>
              <a:rPr lang="en-US" sz="2429" b="1" spc="-78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Dos rutas</a:t>
            </a:r>
            <a:endParaRPr lang="en-US" sz="2429" dirty="0"/>
          </a:p>
          <a:p>
            <a:pPr algn="l" indent="0" marL="0">
              <a:lnSpc>
                <a:spcPts val="2571"/>
              </a:lnSpc>
              <a:buNone/>
            </a:pPr>
            <a:r>
              <a:rPr lang="en-US" sz="2429" b="1" spc="-82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Dijkstra, costo</a:t>
            </a:r>
            <a:endParaRPr lang="en-US" sz="2429" dirty="0"/>
          </a:p>
          <a:p>
            <a:pPr algn="l" indent="0" marL="0">
              <a:lnSpc>
                <a:spcPts val="2571"/>
              </a:lnSpc>
              <a:buNone/>
            </a:pPr>
            <a:r>
              <a:rPr lang="en-US" sz="2429" b="1" spc="-67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km</a:t>
            </a:r>
            <a:endParaRPr lang="en-US" sz="2429" dirty="0"/>
          </a:p>
        </p:txBody>
      </p:sp>
      <p:sp>
        <p:nvSpPr>
          <p:cNvPr id="6" name="Text 4"/>
          <p:cNvSpPr txBox="1"/>
          <p:nvPr/>
        </p:nvSpPr>
        <p:spPr>
          <a:xfrm>
            <a:off x="6442588" y="2469246"/>
            <a:ext cx="2531059" cy="41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9"/>
              </a:lnSpc>
              <a:buNone/>
            </a:pPr>
            <a:r>
              <a:rPr lang="en-US" sz="1097" b="1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 2</a:t>
            </a:r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vuelve a buscar excluyendo</a:t>
            </a:r>
            <a:endParaRPr lang="en-US" sz="1097" dirty="0"/>
          </a:p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aristas de la primera.</a:t>
            </a:r>
            <a:endParaRPr lang="en-US" sz="1097" dirty="0"/>
          </a:p>
        </p:txBody>
      </p:sp>
      <p:sp>
        <p:nvSpPr>
          <p:cNvPr id="7" name="Text 5"/>
          <p:cNvSpPr txBox="1"/>
          <p:nvPr/>
        </p:nvSpPr>
        <p:spPr>
          <a:xfrm>
            <a:off x="6442588" y="2972440"/>
            <a:ext cx="2696748" cy="41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la exclusión desconecta el grafo, el</a:t>
            </a:r>
            <a:endParaRPr lang="en-US" sz="1097" dirty="0"/>
          </a:p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prueba con penalización ×10.</a:t>
            </a:r>
            <a:endParaRPr lang="en-US" sz="1097" dirty="0"/>
          </a:p>
        </p:txBody>
      </p:sp>
      <p:sp>
        <p:nvSpPr>
          <p:cNvPr id="8" name="Text 6"/>
          <p:cNvSpPr txBox="1"/>
          <p:nvPr/>
        </p:nvSpPr>
        <p:spPr>
          <a:xfrm>
            <a:off x="6442588" y="3634008"/>
            <a:ext cx="2390607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pgr_dijkstra(… cost = largo_km)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6442588" y="2143171"/>
            <a:ext cx="2443917" cy="2096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2"/>
              </a:lnSpc>
              <a:buNone/>
            </a:pPr>
            <a:r>
              <a:rPr lang="en-US" sz="1097" b="1" dirty="0">
                <a:solidFill>
                  <a:srgbClr val="898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 1</a:t>
            </a:r>
            <a:pPr algn="l" indent="0" marL="0">
              <a:lnSpc>
                <a:spcPts val="1322"/>
              </a:lnSpc>
              <a:buNone/>
            </a:pPr>
            <a:r>
              <a:rPr lang="en-US" sz="1097" dirty="0">
                <a:solidFill>
                  <a:srgbClr val="9E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camino de menor longitud.</a:t>
            </a:r>
            <a:endParaRPr lang="en-US" sz="1097" dirty="0"/>
          </a:p>
        </p:txBody>
      </p:sp>
      <p:sp>
        <p:nvSpPr>
          <p:cNvPr id="10" name="Text 8"/>
          <p:cNvSpPr txBox="1"/>
          <p:nvPr/>
        </p:nvSpPr>
        <p:spPr>
          <a:xfrm>
            <a:off x="8312628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35</a:t>
            </a:r>
            <a:endParaRPr lang="en-US" sz="881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3738" y="512521"/>
            <a:ext cx="2263597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41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· PAR DE LA PROPUESTA</a:t>
            </a:r>
            <a:endParaRPr lang="en-US" sz="960" dirty="0"/>
          </a:p>
        </p:txBody>
      </p:sp>
      <p:sp>
        <p:nvSpPr>
          <p:cNvPr id="3" name="Text 1"/>
          <p:cNvSpPr txBox="1"/>
          <p:nvPr/>
        </p:nvSpPr>
        <p:spPr>
          <a:xfrm>
            <a:off x="623712" y="778977"/>
            <a:ext cx="8607979" cy="9774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79"/>
              </a:lnSpc>
              <a:buNone/>
            </a:pPr>
            <a:r>
              <a:rPr lang="en-US" sz="3154" b="1" spc="-105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segundo corredor se elige por costo y</a:t>
            </a:r>
            <a:endParaRPr lang="en-US" sz="3154" dirty="0"/>
          </a:p>
          <a:p>
            <a:pPr algn="l" indent="0" marL="0">
              <a:lnSpc>
                <a:spcPts val="3379"/>
              </a:lnSpc>
              <a:buNone/>
            </a:pPr>
            <a:r>
              <a:rPr lang="en-US" sz="3154" b="1" spc="-102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separación física</a:t>
            </a:r>
            <a:endParaRPr lang="en-US" sz="3154" dirty="0"/>
          </a:p>
        </p:txBody>
      </p:sp>
      <p:sp>
        <p:nvSpPr>
          <p:cNvPr id="4" name="Text 2"/>
          <p:cNvSpPr txBox="1"/>
          <p:nvPr/>
        </p:nvSpPr>
        <p:spPr>
          <a:xfrm>
            <a:off x="1044885" y="4146438"/>
            <a:ext cx="917966" cy="2376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9"/>
              </a:lnSpc>
              <a:buNone/>
            </a:pPr>
            <a:r>
              <a:rPr lang="en-US" sz="1254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Principal</a:t>
            </a:r>
            <a:endParaRPr lang="en-US" sz="1254" dirty="0"/>
          </a:p>
        </p:txBody>
      </p:sp>
      <p:sp>
        <p:nvSpPr>
          <p:cNvPr id="5" name="Text 3"/>
          <p:cNvSpPr txBox="1"/>
          <p:nvPr/>
        </p:nvSpPr>
        <p:spPr>
          <a:xfrm>
            <a:off x="1044885" y="4342120"/>
            <a:ext cx="2025945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menor costo propuesto entre el par</a:t>
            </a:r>
            <a:endParaRPr lang="en-US" sz="881" dirty="0"/>
          </a:p>
        </p:txBody>
      </p:sp>
      <p:sp>
        <p:nvSpPr>
          <p:cNvPr id="6" name="Text 4"/>
          <p:cNvSpPr txBox="1"/>
          <p:nvPr/>
        </p:nvSpPr>
        <p:spPr>
          <a:xfrm>
            <a:off x="3487064" y="4146438"/>
            <a:ext cx="1103224" cy="2376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9"/>
              </a:lnSpc>
              <a:buNone/>
            </a:pPr>
            <a:r>
              <a:rPr lang="en-US" sz="1254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Alternativa</a:t>
            </a:r>
            <a:endParaRPr lang="en-US" sz="1254" dirty="0"/>
          </a:p>
        </p:txBody>
      </p:sp>
      <p:sp>
        <p:nvSpPr>
          <p:cNvPr id="7" name="Text 5"/>
          <p:cNvSpPr txBox="1"/>
          <p:nvPr/>
        </p:nvSpPr>
        <p:spPr>
          <a:xfrm>
            <a:off x="3487064" y="4342120"/>
            <a:ext cx="3071012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evita compartir corredor cuando el conjunto lo permite</a:t>
            </a:r>
            <a:endParaRPr lang="en-US" sz="881" dirty="0"/>
          </a:p>
        </p:txBody>
      </p:sp>
      <p:sp>
        <p:nvSpPr>
          <p:cNvPr id="8" name="Text 6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35</a:t>
            </a:r>
            <a:endParaRPr lang="en-US" sz="881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872588" y="1956359"/>
            <a:ext cx="671078" cy="1206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61"/>
              </a:lnSpc>
              <a:buNone/>
            </a:pPr>
            <a:r>
              <a:rPr lang="en-US" sz="637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posición actual</a:t>
            </a:r>
            <a:endParaRPr lang="en-US" sz="637" dirty="0"/>
          </a:p>
        </p:txBody>
      </p:sp>
      <p:sp>
        <p:nvSpPr>
          <p:cNvPr id="3" name="Text 1"/>
          <p:cNvSpPr txBox="1"/>
          <p:nvPr/>
        </p:nvSpPr>
        <p:spPr>
          <a:xfrm>
            <a:off x="3325947" y="2575133"/>
            <a:ext cx="751362" cy="1206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61"/>
              </a:lnSpc>
              <a:buNone/>
            </a:pPr>
            <a:r>
              <a:rPr lang="en-US" sz="637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tramo bloqueado</a:t>
            </a:r>
            <a:endParaRPr lang="en-US" sz="637" dirty="0"/>
          </a:p>
        </p:txBody>
      </p:sp>
      <p:sp>
        <p:nvSpPr>
          <p:cNvPr id="4" name="Text 2"/>
          <p:cNvSpPr txBox="1"/>
          <p:nvPr/>
        </p:nvSpPr>
        <p:spPr>
          <a:xfrm>
            <a:off x="3920216" y="3732032"/>
            <a:ext cx="1097371" cy="1206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61"/>
              </a:lnSpc>
              <a:buNone/>
            </a:pPr>
            <a:r>
              <a:rPr lang="en-US" sz="637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nuevo cálculo desde aquí</a:t>
            </a:r>
            <a:endParaRPr lang="en-US" sz="637" dirty="0"/>
          </a:p>
        </p:txBody>
      </p:sp>
      <p:sp>
        <p:nvSpPr>
          <p:cNvPr id="5" name="Text 3"/>
          <p:cNvSpPr txBox="1"/>
          <p:nvPr/>
        </p:nvSpPr>
        <p:spPr>
          <a:xfrm>
            <a:off x="6045647" y="829269"/>
            <a:ext cx="1400678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38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REACCIÓN LOCAL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6030834" y="1103224"/>
            <a:ext cx="2769260" cy="1011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4"/>
              </a:lnSpc>
              <a:buNone/>
            </a:pPr>
            <a:r>
              <a:rPr lang="en-US" sz="2351" b="1" spc="-76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bloqueo no</a:t>
            </a:r>
            <a:endParaRPr lang="en-US" sz="2351" dirty="0"/>
          </a:p>
          <a:p>
            <a:pPr algn="l" indent="0" marL="0">
              <a:lnSpc>
                <a:spcPts val="2424"/>
              </a:lnSpc>
              <a:buNone/>
            </a:pPr>
            <a:r>
              <a:rPr lang="en-US" sz="2351" b="1" spc="-78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obliga a volver al</a:t>
            </a:r>
            <a:endParaRPr lang="en-US" sz="2351" dirty="0"/>
          </a:p>
          <a:p>
            <a:pPr algn="l" indent="0" marL="0">
              <a:lnSpc>
                <a:spcPts val="2424"/>
              </a:lnSpc>
              <a:buNone/>
            </a:pPr>
            <a:r>
              <a:rPr lang="en-US" sz="2351" b="1" spc="-69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origen</a:t>
            </a:r>
            <a:endParaRPr lang="en-US" sz="2351" dirty="0"/>
          </a:p>
        </p:txBody>
      </p:sp>
      <p:sp>
        <p:nvSpPr>
          <p:cNvPr id="7" name="Text 5"/>
          <p:cNvSpPr txBox="1"/>
          <p:nvPr/>
        </p:nvSpPr>
        <p:spPr>
          <a:xfrm>
            <a:off x="6045647" y="2860609"/>
            <a:ext cx="1381201" cy="3215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685" b="1" dirty="0">
                <a:solidFill>
                  <a:srgbClr val="AB43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ρ = 0,6 km</a:t>
            </a:r>
            <a:endParaRPr lang="en-US" sz="1685" dirty="0"/>
          </a:p>
        </p:txBody>
      </p:sp>
      <p:sp>
        <p:nvSpPr>
          <p:cNvPr id="8" name="Text 6"/>
          <p:cNvSpPr txBox="1"/>
          <p:nvPr/>
        </p:nvSpPr>
        <p:spPr>
          <a:xfrm>
            <a:off x="6045647" y="3158795"/>
            <a:ext cx="1489283" cy="195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4"/>
              </a:lnSpc>
              <a:buNone/>
            </a:pPr>
            <a:r>
              <a:rPr lang="en-US" sz="1028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 local penalizado</a:t>
            </a:r>
            <a:endParaRPr lang="en-US" sz="1028" dirty="0"/>
          </a:p>
        </p:txBody>
      </p:sp>
      <p:sp>
        <p:nvSpPr>
          <p:cNvPr id="9" name="Text 7"/>
          <p:cNvSpPr txBox="1"/>
          <p:nvPr/>
        </p:nvSpPr>
        <p:spPr>
          <a:xfrm>
            <a:off x="6045647" y="3484870"/>
            <a:ext cx="1067653" cy="3215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685" b="1" dirty="0">
                <a:solidFill>
                  <a:srgbClr val="AB43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+ γ = 4</a:t>
            </a:r>
            <a:endParaRPr lang="en-US" sz="1685" dirty="0"/>
          </a:p>
        </p:txBody>
      </p:sp>
      <p:sp>
        <p:nvSpPr>
          <p:cNvPr id="10" name="Text 8"/>
          <p:cNvSpPr txBox="1"/>
          <p:nvPr/>
        </p:nvSpPr>
        <p:spPr>
          <a:xfrm>
            <a:off x="6045647" y="3783056"/>
            <a:ext cx="2091141" cy="195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4"/>
              </a:lnSpc>
              <a:buNone/>
            </a:pPr>
            <a:r>
              <a:rPr lang="en-US" sz="1028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 de costo dentro del radio</a:t>
            </a:r>
            <a:endParaRPr lang="en-US" sz="1028" dirty="0"/>
          </a:p>
        </p:txBody>
      </p:sp>
      <p:sp>
        <p:nvSpPr>
          <p:cNvPr id="11" name="Text 9"/>
          <p:cNvSpPr txBox="1"/>
          <p:nvPr/>
        </p:nvSpPr>
        <p:spPr>
          <a:xfrm>
            <a:off x="6045647" y="2023842"/>
            <a:ext cx="2555199" cy="659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16"/>
              </a:lnSpc>
              <a:buNone/>
            </a:pPr>
            <a:r>
              <a:rPr lang="en-US" sz="1175" dirty="0">
                <a:solidFill>
                  <a:srgbClr val="999D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simulador conserva la posición</a:t>
            </a:r>
            <a:endParaRPr lang="en-US" sz="1175" dirty="0"/>
          </a:p>
          <a:p>
            <a:pPr algn="l" indent="0" marL="0">
              <a:lnSpc>
                <a:spcPts val="1616"/>
              </a:lnSpc>
              <a:buNone/>
            </a:pPr>
            <a:r>
              <a:rPr lang="en-US" sz="1175" dirty="0">
                <a:solidFill>
                  <a:srgbClr val="999D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alcanzada y planifica desde ese</a:t>
            </a:r>
            <a:endParaRPr lang="en-US" sz="1175" dirty="0"/>
          </a:p>
          <a:p>
            <a:pPr algn="l" indent="0" marL="0">
              <a:lnSpc>
                <a:spcPts val="1616"/>
              </a:lnSpc>
              <a:buNone/>
            </a:pPr>
            <a:r>
              <a:rPr lang="en-US" sz="1175" dirty="0">
                <a:solidFill>
                  <a:srgbClr val="999D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nodo.</a:t>
            </a:r>
            <a:endParaRPr lang="en-US" sz="1175" dirty="0"/>
          </a:p>
        </p:txBody>
      </p:sp>
      <p:sp>
        <p:nvSpPr>
          <p:cNvPr id="12" name="Text 10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35</a:t>
            </a:r>
            <a:endParaRPr lang="en-US" sz="881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9699" y="465887"/>
            <a:ext cx="2743109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42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· MÉTRICAS DE RESILIENCIA</a:t>
            </a:r>
            <a:endParaRPr lang="en-US" sz="960" dirty="0"/>
          </a:p>
        </p:txBody>
      </p:sp>
      <p:sp>
        <p:nvSpPr>
          <p:cNvPr id="3" name="Text 1"/>
          <p:cNvSpPr txBox="1"/>
          <p:nvPr/>
        </p:nvSpPr>
        <p:spPr>
          <a:xfrm>
            <a:off x="679674" y="732434"/>
            <a:ext cx="8157728" cy="9774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79"/>
              </a:lnSpc>
              <a:buNone/>
            </a:pPr>
            <a:r>
              <a:rPr lang="en-US" sz="3154" b="1" spc="-105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comparación separa alternativas y</a:t>
            </a:r>
            <a:endParaRPr lang="en-US" sz="3154" dirty="0"/>
          </a:p>
          <a:p>
            <a:pPr algn="l" indent="0" marL="0">
              <a:lnSpc>
                <a:spcPts val="3379"/>
              </a:lnSpc>
              <a:buNone/>
            </a:pPr>
            <a:r>
              <a:rPr lang="en-US" sz="3154" b="1" spc="-94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reacción</a:t>
            </a:r>
            <a:endParaRPr lang="en-US" sz="3154" dirty="0"/>
          </a:p>
        </p:txBody>
      </p:sp>
      <p:sp>
        <p:nvSpPr>
          <p:cNvPr id="4" name="Text 2"/>
          <p:cNvSpPr txBox="1"/>
          <p:nvPr/>
        </p:nvSpPr>
        <p:spPr>
          <a:xfrm>
            <a:off x="699699" y="2040666"/>
            <a:ext cx="391455" cy="5590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526"/>
              </a:lnSpc>
              <a:buNone/>
            </a:pPr>
            <a:r>
              <a:rPr lang="en-US" sz="2938" b="1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938" dirty="0"/>
          </a:p>
        </p:txBody>
      </p:sp>
      <p:sp>
        <p:nvSpPr>
          <p:cNvPr id="5" name="Text 3"/>
          <p:cNvSpPr txBox="1"/>
          <p:nvPr/>
        </p:nvSpPr>
        <p:spPr>
          <a:xfrm>
            <a:off x="1150681" y="2077883"/>
            <a:ext cx="1363736" cy="41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Dijkstra fijo</a:t>
            </a:r>
            <a:endParaRPr lang="en-US" sz="1097" dirty="0"/>
          </a:p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retroceso tras falla</a:t>
            </a:r>
            <a:endParaRPr lang="en-US" sz="1097" dirty="0"/>
          </a:p>
        </p:txBody>
      </p:sp>
      <p:sp>
        <p:nvSpPr>
          <p:cNvPr id="6" name="Text 4"/>
          <p:cNvSpPr txBox="1"/>
          <p:nvPr/>
        </p:nvSpPr>
        <p:spPr>
          <a:xfrm>
            <a:off x="3358500" y="2040666"/>
            <a:ext cx="423184" cy="5590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526"/>
              </a:lnSpc>
              <a:buNone/>
            </a:pPr>
            <a:r>
              <a:rPr lang="en-US" sz="2938" b="1" dirty="0">
                <a:solidFill>
                  <a:srgbClr val="8862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2938" dirty="0"/>
          </a:p>
        </p:txBody>
      </p:sp>
      <p:sp>
        <p:nvSpPr>
          <p:cNvPr id="7" name="Text 5"/>
          <p:cNvSpPr txBox="1"/>
          <p:nvPr/>
        </p:nvSpPr>
        <p:spPr>
          <a:xfrm>
            <a:off x="3837645" y="2077883"/>
            <a:ext cx="1599011" cy="41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Dijkstra que replantea</a:t>
            </a:r>
            <a:endParaRPr lang="en-US" sz="1097" dirty="0"/>
          </a:p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ablación de reacción</a:t>
            </a:r>
            <a:endParaRPr lang="en-US" sz="1097" dirty="0"/>
          </a:p>
        </p:txBody>
      </p:sp>
      <p:sp>
        <p:nvSpPr>
          <p:cNvPr id="8" name="Text 6"/>
          <p:cNvSpPr txBox="1"/>
          <p:nvPr/>
        </p:nvSpPr>
        <p:spPr>
          <a:xfrm>
            <a:off x="6017301" y="2040666"/>
            <a:ext cx="373441" cy="5590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526"/>
              </a:lnSpc>
              <a:buNone/>
            </a:pPr>
            <a:r>
              <a:rPr lang="en-US" sz="2938" b="1" dirty="0">
                <a:solidFill>
                  <a:srgbClr val="AB43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938" dirty="0"/>
          </a:p>
        </p:txBody>
      </p:sp>
      <p:sp>
        <p:nvSpPr>
          <p:cNvPr id="9" name="Text 7"/>
          <p:cNvSpPr txBox="1"/>
          <p:nvPr/>
        </p:nvSpPr>
        <p:spPr>
          <a:xfrm>
            <a:off x="6452189" y="2077883"/>
            <a:ext cx="1424727" cy="41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resiliente</a:t>
            </a:r>
            <a:endParaRPr lang="en-US" sz="1097" dirty="0"/>
          </a:p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replanificación</a:t>
            </a:r>
            <a:endParaRPr lang="en-US" sz="1097" dirty="0"/>
          </a:p>
        </p:txBody>
      </p:sp>
      <p:sp>
        <p:nvSpPr>
          <p:cNvPr id="10" name="Text 8"/>
          <p:cNvSpPr txBox="1"/>
          <p:nvPr/>
        </p:nvSpPr>
        <p:spPr>
          <a:xfrm>
            <a:off x="699699" y="2916479"/>
            <a:ext cx="291145" cy="363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92"/>
              </a:lnSpc>
              <a:buNone/>
            </a:pPr>
            <a:r>
              <a:rPr lang="en-US" sz="1910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1910" dirty="0"/>
          </a:p>
        </p:txBody>
      </p:sp>
      <p:sp>
        <p:nvSpPr>
          <p:cNvPr id="11" name="Text 9"/>
          <p:cNvSpPr txBox="1"/>
          <p:nvPr/>
        </p:nvSpPr>
        <p:spPr>
          <a:xfrm>
            <a:off x="1690360" y="3018983"/>
            <a:ext cx="2792486" cy="2096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2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fracción de escenarios que completa la</a:t>
            </a:r>
            <a:endParaRPr lang="en-US" sz="1097" dirty="0"/>
          </a:p>
        </p:txBody>
      </p:sp>
      <p:sp>
        <p:nvSpPr>
          <p:cNvPr id="12" name="Text 10"/>
          <p:cNvSpPr txBox="1"/>
          <p:nvPr/>
        </p:nvSpPr>
        <p:spPr>
          <a:xfrm>
            <a:off x="1690360" y="3233318"/>
            <a:ext cx="2173986" cy="2096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2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misión dentro del presupuesto</a:t>
            </a:r>
            <a:endParaRPr lang="en-US" sz="1097" dirty="0"/>
          </a:p>
        </p:txBody>
      </p:sp>
      <p:sp>
        <p:nvSpPr>
          <p:cNvPr id="13" name="Text 11"/>
          <p:cNvSpPr txBox="1"/>
          <p:nvPr/>
        </p:nvSpPr>
        <p:spPr>
          <a:xfrm>
            <a:off x="4781123" y="2916479"/>
            <a:ext cx="291145" cy="363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92"/>
              </a:lnSpc>
              <a:buNone/>
            </a:pPr>
            <a:r>
              <a:rPr lang="en-US" sz="1910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1910" dirty="0"/>
          </a:p>
        </p:txBody>
      </p:sp>
      <p:sp>
        <p:nvSpPr>
          <p:cNvPr id="14" name="Text 12"/>
          <p:cNvSpPr txBox="1"/>
          <p:nvPr/>
        </p:nvSpPr>
        <p:spPr>
          <a:xfrm>
            <a:off x="5446624" y="3018983"/>
            <a:ext cx="2801264" cy="2096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2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fracción de escenarios donde el par fijo</a:t>
            </a:r>
            <a:endParaRPr lang="en-US" sz="1097" dirty="0"/>
          </a:p>
        </p:txBody>
      </p:sp>
      <p:sp>
        <p:nvSpPr>
          <p:cNvPr id="15" name="Text 13"/>
          <p:cNvSpPr txBox="1"/>
          <p:nvPr/>
        </p:nvSpPr>
        <p:spPr>
          <a:xfrm>
            <a:off x="5446624" y="3233318"/>
            <a:ext cx="2348179" cy="2096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2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 al menos una ruta libre</a:t>
            </a:r>
            <a:endParaRPr lang="en-US" sz="1097" dirty="0"/>
          </a:p>
        </p:txBody>
      </p:sp>
      <p:sp>
        <p:nvSpPr>
          <p:cNvPr id="16" name="Text 14"/>
          <p:cNvSpPr txBox="1"/>
          <p:nvPr/>
        </p:nvSpPr>
        <p:spPr>
          <a:xfrm>
            <a:off x="699699" y="3783056"/>
            <a:ext cx="746973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ΔR(C − A)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699699" y="3978737"/>
            <a:ext cx="3657600" cy="2919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39"/>
              </a:lnSpc>
              <a:buNone/>
            </a:pPr>
            <a:r>
              <a:rPr lang="en-US" sz="1616" b="1" dirty="0">
                <a:solidFill>
                  <a:srgbClr val="4F67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+10 pp</a:t>
            </a:r>
            <a:endParaRPr lang="en-US" sz="1616" dirty="0"/>
          </a:p>
        </p:txBody>
      </p:sp>
      <p:sp>
        <p:nvSpPr>
          <p:cNvPr id="18" name="Text 16"/>
          <p:cNvSpPr txBox="1"/>
          <p:nvPr/>
        </p:nvSpPr>
        <p:spPr>
          <a:xfrm>
            <a:off x="3358500" y="3783056"/>
            <a:ext cx="746973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ΔR(C − D)</a:t>
            </a:r>
            <a:endParaRPr lang="en-US" sz="960" dirty="0"/>
          </a:p>
        </p:txBody>
      </p:sp>
      <p:sp>
        <p:nvSpPr>
          <p:cNvPr id="19" name="Text 17"/>
          <p:cNvSpPr txBox="1"/>
          <p:nvPr/>
        </p:nvSpPr>
        <p:spPr>
          <a:xfrm>
            <a:off x="3358500" y="3978737"/>
            <a:ext cx="3657600" cy="2919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39"/>
              </a:lnSpc>
              <a:buNone/>
            </a:pPr>
            <a:r>
              <a:rPr lang="en-US" sz="1616" b="1" dirty="0">
                <a:solidFill>
                  <a:srgbClr val="8862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 pp</a:t>
            </a:r>
            <a:endParaRPr lang="en-US" sz="1616" dirty="0"/>
          </a:p>
        </p:txBody>
      </p:sp>
      <p:sp>
        <p:nvSpPr>
          <p:cNvPr id="20" name="Text 18"/>
          <p:cNvSpPr txBox="1"/>
          <p:nvPr/>
        </p:nvSpPr>
        <p:spPr>
          <a:xfrm>
            <a:off x="6017301" y="3783056"/>
            <a:ext cx="971093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de McNemar</a:t>
            </a:r>
            <a:endParaRPr lang="en-US" sz="960" dirty="0"/>
          </a:p>
        </p:txBody>
      </p:sp>
      <p:sp>
        <p:nvSpPr>
          <p:cNvPr id="21" name="Text 19"/>
          <p:cNvSpPr txBox="1"/>
          <p:nvPr/>
        </p:nvSpPr>
        <p:spPr>
          <a:xfrm>
            <a:off x="6017301" y="3978737"/>
            <a:ext cx="3657600" cy="2919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39"/>
              </a:lnSpc>
              <a:buNone/>
            </a:pPr>
            <a:r>
              <a:rPr lang="en-US" sz="1616" b="1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0,013 · 1,00</a:t>
            </a:r>
            <a:endParaRPr lang="en-US" sz="1616" dirty="0"/>
          </a:p>
        </p:txBody>
      </p:sp>
      <p:sp>
        <p:nvSpPr>
          <p:cNvPr id="22" name="Text 20"/>
          <p:cNvSpPr txBox="1"/>
          <p:nvPr/>
        </p:nvSpPr>
        <p:spPr>
          <a:xfrm>
            <a:off x="893094" y="3023646"/>
            <a:ext cx="800557" cy="2725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9"/>
              </a:lnSpc>
              <a:buNone/>
            </a:pPr>
            <a:r>
              <a:rPr lang="en-US" sz="1430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misión</a:t>
            </a:r>
            <a:endParaRPr lang="en-US" sz="1430" dirty="0"/>
          </a:p>
        </p:txBody>
      </p:sp>
      <p:sp>
        <p:nvSpPr>
          <p:cNvPr id="23" name="Text 21"/>
          <p:cNvSpPr txBox="1"/>
          <p:nvPr/>
        </p:nvSpPr>
        <p:spPr>
          <a:xfrm>
            <a:off x="4974610" y="3023646"/>
            <a:ext cx="436077" cy="2725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9"/>
              </a:lnSpc>
              <a:buNone/>
            </a:pPr>
            <a:r>
              <a:rPr lang="en-US" sz="1430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</a:t>
            </a:r>
            <a:endParaRPr lang="en-US" sz="1430" dirty="0"/>
          </a:p>
        </p:txBody>
      </p:sp>
      <p:sp>
        <p:nvSpPr>
          <p:cNvPr id="24" name="Text 22"/>
          <p:cNvSpPr txBox="1"/>
          <p:nvPr/>
        </p:nvSpPr>
        <p:spPr>
          <a:xfrm>
            <a:off x="699699" y="4500585"/>
            <a:ext cx="3708349" cy="202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4"/>
              </a:lnSpc>
              <a:buNone/>
            </a:pPr>
            <a:r>
              <a:rPr lang="en-US" sz="1028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Misma misión, grafo, restricciones, fallas y presupuesto. Ajuste: 100 escenarios, 5 fallas, β = 0,60.</a:t>
            </a:r>
            <a:endParaRPr lang="en-US" sz="1028" dirty="0"/>
          </a:p>
        </p:txBody>
      </p:sp>
      <p:sp>
        <p:nvSpPr>
          <p:cNvPr id="25" name="Text 23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35</a:t>
            </a:r>
            <a:endParaRPr lang="en-US" sz="881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34411" y="503194"/>
            <a:ext cx="1880098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40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CORRECCIÓN DE FOCOS</a:t>
            </a:r>
            <a:endParaRPr lang="en-US" sz="960" dirty="0"/>
          </a:p>
        </p:txBody>
      </p:sp>
      <p:sp>
        <p:nvSpPr>
          <p:cNvPr id="3" name="Text 1"/>
          <p:cNvSpPr txBox="1"/>
          <p:nvPr/>
        </p:nvSpPr>
        <p:spPr>
          <a:xfrm>
            <a:off x="614385" y="769650"/>
            <a:ext cx="5133533" cy="9774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79"/>
              </a:lnSpc>
              <a:buNone/>
            </a:pPr>
            <a:r>
              <a:rPr lang="en-US" sz="3154" b="1" spc="-103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corrección recuperó</a:t>
            </a:r>
            <a:endParaRPr lang="en-US" sz="3154" dirty="0"/>
          </a:p>
          <a:p>
            <a:pPr algn="l" indent="0" marL="0">
              <a:lnSpc>
                <a:spcPts val="3379"/>
              </a:lnSpc>
              <a:buNone/>
            </a:pPr>
            <a:r>
              <a:rPr lang="en-US" sz="3154" b="1" spc="-103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focos de evaluación</a:t>
            </a:r>
            <a:endParaRPr lang="en-US" sz="3154" dirty="0"/>
          </a:p>
        </p:txBody>
      </p:sp>
      <p:sp>
        <p:nvSpPr>
          <p:cNvPr id="4" name="Text 2"/>
          <p:cNvSpPr txBox="1"/>
          <p:nvPr/>
        </p:nvSpPr>
        <p:spPr>
          <a:xfrm>
            <a:off x="634411" y="2087209"/>
            <a:ext cx="235549" cy="195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4"/>
              </a:lnSpc>
              <a:buNone/>
            </a:pPr>
            <a:r>
              <a:rPr lang="en-US" sz="1028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28" dirty="0"/>
          </a:p>
        </p:txBody>
      </p:sp>
      <p:sp>
        <p:nvSpPr>
          <p:cNvPr id="5" name="Text 3"/>
          <p:cNvSpPr txBox="1"/>
          <p:nvPr/>
        </p:nvSpPr>
        <p:spPr>
          <a:xfrm>
            <a:off x="1175461" y="2040666"/>
            <a:ext cx="1015441" cy="2655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391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Descarga</a:t>
            </a:r>
            <a:endParaRPr lang="en-US" sz="1391" dirty="0"/>
          </a:p>
        </p:txBody>
      </p:sp>
      <p:sp>
        <p:nvSpPr>
          <p:cNvPr id="6" name="Text 4"/>
          <p:cNvSpPr txBox="1"/>
          <p:nvPr/>
        </p:nvSpPr>
        <p:spPr>
          <a:xfrm>
            <a:off x="2696108" y="2059229"/>
            <a:ext cx="2755270" cy="41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fuentes incluyen el AOI y un buffer</a:t>
            </a:r>
            <a:endParaRPr lang="en-US" sz="1097" dirty="0"/>
          </a:p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 km.</a:t>
            </a:r>
            <a:endParaRPr lang="en-US" sz="1097" dirty="0"/>
          </a:p>
        </p:txBody>
      </p:sp>
      <p:sp>
        <p:nvSpPr>
          <p:cNvPr id="7" name="Text 5"/>
          <p:cNvSpPr txBox="1"/>
          <p:nvPr/>
        </p:nvSpPr>
        <p:spPr>
          <a:xfrm>
            <a:off x="634411" y="2748778"/>
            <a:ext cx="235549" cy="195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4"/>
              </a:lnSpc>
              <a:buNone/>
            </a:pPr>
            <a:r>
              <a:rPr lang="en-US" sz="1028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28" dirty="0"/>
          </a:p>
        </p:txBody>
      </p:sp>
      <p:sp>
        <p:nvSpPr>
          <p:cNvPr id="8" name="Text 6"/>
          <p:cNvSpPr txBox="1"/>
          <p:nvPr/>
        </p:nvSpPr>
        <p:spPr>
          <a:xfrm>
            <a:off x="1175461" y="2702235"/>
            <a:ext cx="981517" cy="2655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391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Consulta</a:t>
            </a:r>
            <a:endParaRPr lang="en-US" sz="1391" dirty="0"/>
          </a:p>
        </p:txBody>
      </p:sp>
      <p:sp>
        <p:nvSpPr>
          <p:cNvPr id="9" name="Text 7"/>
          <p:cNvSpPr txBox="1"/>
          <p:nvPr/>
        </p:nvSpPr>
        <p:spPr>
          <a:xfrm>
            <a:off x="2696108" y="2720797"/>
            <a:ext cx="2810866" cy="41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búsqueda antigua usaba solo el AOI</a:t>
            </a:r>
            <a:endParaRPr lang="en-US" sz="1097" dirty="0"/>
          </a:p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estricto.</a:t>
            </a:r>
            <a:endParaRPr lang="en-US" sz="1097" dirty="0"/>
          </a:p>
        </p:txBody>
      </p:sp>
      <p:sp>
        <p:nvSpPr>
          <p:cNvPr id="10" name="Text 8"/>
          <p:cNvSpPr txBox="1"/>
          <p:nvPr/>
        </p:nvSpPr>
        <p:spPr>
          <a:xfrm>
            <a:off x="634411" y="3419673"/>
            <a:ext cx="235549" cy="195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4"/>
              </a:lnSpc>
              <a:buNone/>
            </a:pPr>
            <a:r>
              <a:rPr lang="en-US" sz="1028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28" dirty="0"/>
          </a:p>
        </p:txBody>
      </p:sp>
      <p:sp>
        <p:nvSpPr>
          <p:cNvPr id="11" name="Text 9"/>
          <p:cNvSpPr txBox="1"/>
          <p:nvPr/>
        </p:nvSpPr>
        <p:spPr>
          <a:xfrm>
            <a:off x="1175461" y="3373130"/>
            <a:ext cx="854232" cy="2655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391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Arreglo</a:t>
            </a:r>
            <a:endParaRPr lang="en-US" sz="1391" dirty="0"/>
          </a:p>
        </p:txBody>
      </p:sp>
      <p:sp>
        <p:nvSpPr>
          <p:cNvPr id="12" name="Text 10"/>
          <p:cNvSpPr txBox="1"/>
          <p:nvPr/>
        </p:nvSpPr>
        <p:spPr>
          <a:xfrm>
            <a:off x="2696108" y="3391692"/>
            <a:ext cx="2958084" cy="41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focos_bd busca en la misma ventana con</a:t>
            </a:r>
            <a:endParaRPr lang="en-US" sz="1097" dirty="0"/>
          </a:p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buffer.</a:t>
            </a:r>
            <a:endParaRPr lang="en-US" sz="1097" dirty="0"/>
          </a:p>
        </p:txBody>
      </p:sp>
      <p:sp>
        <p:nvSpPr>
          <p:cNvPr id="13" name="Text 11"/>
          <p:cNvSpPr txBox="1"/>
          <p:nvPr/>
        </p:nvSpPr>
        <p:spPr>
          <a:xfrm>
            <a:off x="634411" y="4081242"/>
            <a:ext cx="235549" cy="195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4"/>
              </a:lnSpc>
              <a:buNone/>
            </a:pPr>
            <a:r>
              <a:rPr lang="en-US" sz="1028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28" dirty="0"/>
          </a:p>
        </p:txBody>
      </p:sp>
      <p:sp>
        <p:nvSpPr>
          <p:cNvPr id="14" name="Text 12"/>
          <p:cNvSpPr txBox="1"/>
          <p:nvPr/>
        </p:nvSpPr>
        <p:spPr>
          <a:xfrm>
            <a:off x="1175461" y="4034699"/>
            <a:ext cx="774588" cy="2655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391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Estado</a:t>
            </a:r>
            <a:endParaRPr lang="en-US" sz="1391" dirty="0"/>
          </a:p>
        </p:txBody>
      </p:sp>
      <p:sp>
        <p:nvSpPr>
          <p:cNvPr id="15" name="Text 13"/>
          <p:cNvSpPr txBox="1"/>
          <p:nvPr/>
        </p:nvSpPr>
        <p:spPr>
          <a:xfrm>
            <a:off x="2696108" y="4053261"/>
            <a:ext cx="3657600" cy="4188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15 focos caen fuera de la malla:</a:t>
            </a:r>
            <a:endParaRPr lang="en-US" sz="1097" dirty="0"/>
          </a:p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fallas «foco» quedan en el borde.</a:t>
            </a:r>
            <a:endParaRPr lang="en-US" sz="1097" dirty="0"/>
          </a:p>
        </p:txBody>
      </p:sp>
      <p:sp>
        <p:nvSpPr>
          <p:cNvPr id="16" name="Text 14"/>
          <p:cNvSpPr txBox="1"/>
          <p:nvPr/>
        </p:nvSpPr>
        <p:spPr>
          <a:xfrm>
            <a:off x="5955030" y="3696005"/>
            <a:ext cx="1261689" cy="109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91"/>
              </a:lnSpc>
              <a:buNone/>
            </a:pPr>
            <a:r>
              <a:rPr lang="en-US" sz="578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buffer consultado por las fuentes</a:t>
            </a:r>
            <a:endParaRPr lang="en-US" sz="578" dirty="0"/>
          </a:p>
        </p:txBody>
      </p:sp>
      <p:sp>
        <p:nvSpPr>
          <p:cNvPr id="17" name="Text 15"/>
          <p:cNvSpPr txBox="1"/>
          <p:nvPr/>
        </p:nvSpPr>
        <p:spPr>
          <a:xfrm>
            <a:off x="6430518" y="1979219"/>
            <a:ext cx="502554" cy="109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91"/>
              </a:lnSpc>
              <a:buNone/>
            </a:pPr>
            <a:r>
              <a:rPr lang="en-US" sz="578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AOI estricto</a:t>
            </a:r>
            <a:endParaRPr lang="en-US" sz="578" dirty="0"/>
          </a:p>
        </p:txBody>
      </p:sp>
      <p:sp>
        <p:nvSpPr>
          <p:cNvPr id="18" name="Text 16"/>
          <p:cNvSpPr txBox="1"/>
          <p:nvPr/>
        </p:nvSpPr>
        <p:spPr>
          <a:xfrm>
            <a:off x="7276247" y="2531699"/>
            <a:ext cx="757763" cy="109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91"/>
              </a:lnSpc>
              <a:buNone/>
            </a:pPr>
            <a:r>
              <a:rPr lang="en-US" sz="578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de evaluación</a:t>
            </a:r>
            <a:endParaRPr lang="en-US" sz="578" dirty="0"/>
          </a:p>
        </p:txBody>
      </p:sp>
      <p:sp>
        <p:nvSpPr>
          <p:cNvPr id="19" name="Text 17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35</a:t>
            </a:r>
            <a:endParaRPr lang="en-US" sz="881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10299" y="14904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2027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35</a:t>
            </a:r>
            <a:endParaRPr lang="en-US" sz="881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812018" y="410017"/>
            <a:ext cx="2359518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42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LECTURA DE LOS CONTROLES</a:t>
            </a:r>
            <a:endParaRPr lang="en-US" sz="960" dirty="0"/>
          </a:p>
        </p:txBody>
      </p:sp>
      <p:sp>
        <p:nvSpPr>
          <p:cNvPr id="3" name="Text 1"/>
          <p:cNvSpPr txBox="1"/>
          <p:nvPr/>
        </p:nvSpPr>
        <p:spPr>
          <a:xfrm>
            <a:off x="5793364" y="670895"/>
            <a:ext cx="2333183" cy="13138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9"/>
              </a:lnSpc>
              <a:buNone/>
            </a:pPr>
            <a:r>
              <a:rPr lang="en-US" sz="2938" b="1" spc="-92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persona</a:t>
            </a:r>
            <a:endParaRPr lang="en-US" sz="2938" dirty="0"/>
          </a:p>
          <a:p>
            <a:pPr algn="l" indent="0" marL="0">
              <a:lnSpc>
                <a:spcPts val="3159"/>
              </a:lnSpc>
              <a:buNone/>
            </a:pPr>
            <a:r>
              <a:rPr lang="en-US" sz="2938" b="1" spc="-91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la</a:t>
            </a:r>
            <a:endParaRPr lang="en-US" sz="2938" dirty="0"/>
          </a:p>
          <a:p>
            <a:pPr algn="l" indent="0" marL="0">
              <a:lnSpc>
                <a:spcPts val="3159"/>
              </a:lnSpc>
              <a:buNone/>
            </a:pPr>
            <a:r>
              <a:rPr lang="en-US" sz="2938" b="1" spc="-88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misión.</a:t>
            </a:r>
            <a:endParaRPr lang="en-US" sz="2938" dirty="0"/>
          </a:p>
        </p:txBody>
      </p:sp>
      <p:sp>
        <p:nvSpPr>
          <p:cNvPr id="4" name="Text 2"/>
          <p:cNvSpPr txBox="1"/>
          <p:nvPr/>
        </p:nvSpPr>
        <p:spPr>
          <a:xfrm>
            <a:off x="5929975" y="2301545"/>
            <a:ext cx="155082" cy="195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4"/>
              </a:lnSpc>
              <a:buNone/>
            </a:pPr>
            <a:r>
              <a:rPr lang="en-US" sz="1028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28" dirty="0"/>
          </a:p>
        </p:txBody>
      </p:sp>
      <p:sp>
        <p:nvSpPr>
          <p:cNvPr id="5" name="Text 3"/>
          <p:cNvSpPr txBox="1"/>
          <p:nvPr/>
        </p:nvSpPr>
        <p:spPr>
          <a:xfrm>
            <a:off x="6287780" y="2148749"/>
            <a:ext cx="1914571" cy="497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3"/>
              </a:lnSpc>
              <a:buNone/>
            </a:pPr>
            <a:r>
              <a:rPr lang="en-US" sz="1322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 clic: origen.</a:t>
            </a:r>
            <a:endParaRPr lang="en-US" sz="1322" dirty="0"/>
          </a:p>
          <a:p>
            <a:pPr algn="l" indent="0" marL="0">
              <a:lnSpc>
                <a:spcPts val="1763"/>
              </a:lnSpc>
              <a:buNone/>
            </a:pPr>
            <a:r>
              <a:rPr lang="en-US" sz="1322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Segundo clic: destino.</a:t>
            </a:r>
            <a:endParaRPr lang="en-US" sz="1322" dirty="0"/>
          </a:p>
        </p:txBody>
      </p:sp>
      <p:sp>
        <p:nvSpPr>
          <p:cNvPr id="6" name="Text 4"/>
          <p:cNvSpPr txBox="1"/>
          <p:nvPr/>
        </p:nvSpPr>
        <p:spPr>
          <a:xfrm>
            <a:off x="5929975" y="3196011"/>
            <a:ext cx="155082" cy="195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4"/>
              </a:lnSpc>
              <a:buNone/>
            </a:pPr>
            <a:r>
              <a:rPr lang="en-US" sz="1028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28" dirty="0"/>
          </a:p>
        </p:txBody>
      </p:sp>
      <p:sp>
        <p:nvSpPr>
          <p:cNvPr id="7" name="Text 5"/>
          <p:cNvSpPr txBox="1"/>
          <p:nvPr/>
        </p:nvSpPr>
        <p:spPr>
          <a:xfrm>
            <a:off x="6287780" y="3024561"/>
            <a:ext cx="2353300" cy="5161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36"/>
              </a:lnSpc>
              <a:buNone/>
            </a:pPr>
            <a:r>
              <a:rPr lang="en-US" sz="1322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 altura, viento,</a:t>
            </a:r>
            <a:endParaRPr lang="en-US" sz="1322" dirty="0"/>
          </a:p>
          <a:p>
            <a:pPr algn="l" indent="0" marL="0">
              <a:lnSpc>
                <a:spcPts val="1836"/>
              </a:lnSpc>
              <a:buNone/>
            </a:pPr>
            <a:r>
              <a:rPr lang="en-US" sz="1322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desvío y aversión al riesgo.</a:t>
            </a:r>
            <a:endParaRPr lang="en-US" sz="1322" dirty="0"/>
          </a:p>
        </p:txBody>
      </p:sp>
      <p:sp>
        <p:nvSpPr>
          <p:cNvPr id="8" name="Text 6"/>
          <p:cNvSpPr txBox="1"/>
          <p:nvPr/>
        </p:nvSpPr>
        <p:spPr>
          <a:xfrm>
            <a:off x="5929975" y="4090568"/>
            <a:ext cx="155082" cy="195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4"/>
              </a:lnSpc>
              <a:buNone/>
            </a:pPr>
            <a:r>
              <a:rPr lang="en-US" sz="1028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28" dirty="0"/>
          </a:p>
        </p:txBody>
      </p:sp>
      <p:sp>
        <p:nvSpPr>
          <p:cNvPr id="9" name="Text 7"/>
          <p:cNvSpPr txBox="1"/>
          <p:nvPr/>
        </p:nvSpPr>
        <p:spPr>
          <a:xfrm>
            <a:off x="6287780" y="3928445"/>
            <a:ext cx="2269449" cy="497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3"/>
              </a:lnSpc>
              <a:buNone/>
            </a:pPr>
            <a:r>
              <a:rPr lang="en-US" sz="1322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Calcular rutas solicita</a:t>
            </a:r>
            <a:endParaRPr lang="en-US" sz="1322" dirty="0"/>
          </a:p>
          <a:p>
            <a:pPr algn="l" indent="0" marL="0">
              <a:lnSpc>
                <a:spcPts val="1763"/>
              </a:lnSpc>
              <a:buNone/>
            </a:pPr>
            <a:r>
              <a:rPr lang="en-US" sz="1322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alternativas al servicio.</a:t>
            </a:r>
            <a:endParaRPr lang="en-US" sz="1322" dirty="0"/>
          </a:p>
        </p:txBody>
      </p:sp>
      <p:sp>
        <p:nvSpPr>
          <p:cNvPr id="10" name="Text 8"/>
          <p:cNvSpPr txBox="1"/>
          <p:nvPr/>
        </p:nvSpPr>
        <p:spPr>
          <a:xfrm>
            <a:off x="887151" y="46634"/>
            <a:ext cx="155997" cy="195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4"/>
              </a:lnSpc>
              <a:buNone/>
            </a:pPr>
            <a:r>
              <a:rPr lang="en-US" sz="102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28" dirty="0"/>
          </a:p>
        </p:txBody>
      </p:sp>
      <p:sp>
        <p:nvSpPr>
          <p:cNvPr id="11" name="Text 9"/>
          <p:cNvSpPr txBox="1"/>
          <p:nvPr/>
        </p:nvSpPr>
        <p:spPr>
          <a:xfrm>
            <a:off x="887151" y="1658630"/>
            <a:ext cx="155997" cy="195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4"/>
              </a:lnSpc>
              <a:buNone/>
            </a:pPr>
            <a:r>
              <a:rPr lang="en-US" sz="102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28" dirty="0"/>
          </a:p>
        </p:txBody>
      </p:sp>
      <p:sp>
        <p:nvSpPr>
          <p:cNvPr id="12" name="Text 10"/>
          <p:cNvSpPr txBox="1"/>
          <p:nvPr/>
        </p:nvSpPr>
        <p:spPr>
          <a:xfrm>
            <a:off x="887151" y="4491258"/>
            <a:ext cx="155997" cy="1956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4"/>
              </a:lnSpc>
              <a:buNone/>
            </a:pPr>
            <a:r>
              <a:rPr lang="en-US" sz="102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28" dirty="0"/>
          </a:p>
        </p:txBody>
      </p:sp>
      <p:sp>
        <p:nvSpPr>
          <p:cNvPr id="13" name="Text 11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35</a:t>
            </a:r>
            <a:endParaRPr lang="en-US" sz="881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10299" y="139812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2027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35</a:t>
            </a:r>
            <a:endParaRPr lang="en-US" sz="881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1050" y="391363"/>
            <a:ext cx="3657600" cy="191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43" kern="0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RESULTADOS · CONJUNTO DE AJUSTE</a:t>
            </a:r>
            <a:endParaRPr lang="en-US" sz="960" dirty="0"/>
          </a:p>
        </p:txBody>
      </p:sp>
      <p:sp>
        <p:nvSpPr>
          <p:cNvPr id="3" name="Text 1"/>
          <p:cNvSpPr txBox="1"/>
          <p:nvPr/>
        </p:nvSpPr>
        <p:spPr>
          <a:xfrm>
            <a:off x="525323" y="650413"/>
            <a:ext cx="7076633" cy="7473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71"/>
              </a:lnSpc>
              <a:buNone/>
            </a:pPr>
            <a:r>
              <a:rPr lang="en-US" sz="2498" b="1" spc="-85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propuesta mejora la misión completa,</a:t>
            </a:r>
            <a:endParaRPr lang="en-US" sz="2498" dirty="0"/>
          </a:p>
          <a:p>
            <a:pPr algn="l" indent="0" marL="0">
              <a:lnSpc>
                <a:spcPts val="2571"/>
              </a:lnSpc>
              <a:buNone/>
            </a:pPr>
            <a:r>
              <a:rPr lang="en-US" sz="2498" b="1" spc="-84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pero no supera el control D.</a:t>
            </a:r>
            <a:endParaRPr lang="en-US" sz="2498" dirty="0"/>
          </a:p>
        </p:txBody>
      </p:sp>
      <p:sp>
        <p:nvSpPr>
          <p:cNvPr id="4" name="Text 2"/>
          <p:cNvSpPr txBox="1"/>
          <p:nvPr/>
        </p:nvSpPr>
        <p:spPr>
          <a:xfrm>
            <a:off x="7520026" y="812536"/>
            <a:ext cx="1077255" cy="493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175"/>
              </a:lnSpc>
              <a:buNone/>
            </a:pPr>
            <a:r>
              <a:rPr lang="en-US" sz="803" b="1" spc="6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escenarios</a:t>
            </a:r>
            <a:endParaRPr lang="en-US" sz="803" dirty="0"/>
          </a:p>
          <a:p>
            <a:pPr algn="r" indent="0" marL="0">
              <a:lnSpc>
                <a:spcPts val="1175"/>
              </a:lnSpc>
              <a:buNone/>
            </a:pPr>
            <a:r>
              <a:rPr lang="en-US" sz="803" b="1" spc="6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fallas por</a:t>
            </a:r>
            <a:endParaRPr lang="en-US" sz="803" dirty="0"/>
          </a:p>
          <a:p>
            <a:pPr algn="r" indent="0" marL="0">
              <a:lnSpc>
                <a:spcPts val="1175"/>
              </a:lnSpc>
              <a:buNone/>
            </a:pPr>
            <a:r>
              <a:rPr lang="en-US" sz="803" b="1" spc="6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escenario</a:t>
            </a:r>
            <a:endParaRPr lang="en-US" sz="803" dirty="0"/>
          </a:p>
        </p:txBody>
      </p:sp>
      <p:sp>
        <p:nvSpPr>
          <p:cNvPr id="5" name="Text 3"/>
          <p:cNvSpPr txBox="1"/>
          <p:nvPr/>
        </p:nvSpPr>
        <p:spPr>
          <a:xfrm>
            <a:off x="615757" y="2161733"/>
            <a:ext cx="525048" cy="1398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1"/>
              </a:lnSpc>
              <a:buNone/>
            </a:pPr>
            <a:r>
              <a:rPr lang="en-US" sz="735" b="1" spc="48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Métrica</a:t>
            </a:r>
            <a:endParaRPr lang="en-US" sz="735" dirty="0"/>
          </a:p>
        </p:txBody>
      </p:sp>
      <p:sp>
        <p:nvSpPr>
          <p:cNvPr id="6" name="Text 4"/>
          <p:cNvSpPr txBox="1"/>
          <p:nvPr/>
        </p:nvSpPr>
        <p:spPr>
          <a:xfrm>
            <a:off x="3220700" y="2161733"/>
            <a:ext cx="849386" cy="1398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1"/>
              </a:lnSpc>
              <a:buNone/>
            </a:pPr>
            <a:r>
              <a:rPr lang="en-US" sz="735" b="1" spc="50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· Dijkstra</a:t>
            </a:r>
            <a:endParaRPr lang="en-US" sz="735" dirty="0"/>
          </a:p>
        </p:txBody>
      </p:sp>
      <p:sp>
        <p:nvSpPr>
          <p:cNvPr id="7" name="Text 5"/>
          <p:cNvSpPr txBox="1"/>
          <p:nvPr/>
        </p:nvSpPr>
        <p:spPr>
          <a:xfrm>
            <a:off x="4443710" y="2161733"/>
            <a:ext cx="914309" cy="1398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1"/>
              </a:lnSpc>
              <a:buNone/>
            </a:pPr>
            <a:r>
              <a:rPr lang="en-US" sz="735" b="1" spc="50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· Propuesta</a:t>
            </a:r>
            <a:endParaRPr lang="en-US" sz="735" dirty="0"/>
          </a:p>
        </p:txBody>
      </p:sp>
      <p:sp>
        <p:nvSpPr>
          <p:cNvPr id="8" name="Text 6"/>
          <p:cNvSpPr txBox="1"/>
          <p:nvPr/>
        </p:nvSpPr>
        <p:spPr>
          <a:xfrm>
            <a:off x="5927507" y="2161733"/>
            <a:ext cx="395295" cy="1398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1"/>
              </a:lnSpc>
              <a:buNone/>
            </a:pPr>
            <a:r>
              <a:rPr lang="en-US" sz="735" b="1" spc="47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 C−A</a:t>
            </a:r>
            <a:endParaRPr lang="en-US" sz="735" dirty="0"/>
          </a:p>
        </p:txBody>
      </p:sp>
      <p:sp>
        <p:nvSpPr>
          <p:cNvPr id="9" name="Text 7"/>
          <p:cNvSpPr txBox="1"/>
          <p:nvPr/>
        </p:nvSpPr>
        <p:spPr>
          <a:xfrm>
            <a:off x="615757" y="2478573"/>
            <a:ext cx="224485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1322" dirty="0"/>
          </a:p>
        </p:txBody>
      </p:sp>
      <p:sp>
        <p:nvSpPr>
          <p:cNvPr id="10" name="Text 8"/>
          <p:cNvSpPr txBox="1"/>
          <p:nvPr/>
        </p:nvSpPr>
        <p:spPr>
          <a:xfrm>
            <a:off x="615757" y="2720797"/>
            <a:ext cx="1281989" cy="153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3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 P1–P3 y llega a B</a:t>
            </a:r>
            <a:endParaRPr lang="en-US" sz="803" dirty="0"/>
          </a:p>
        </p:txBody>
      </p:sp>
      <p:sp>
        <p:nvSpPr>
          <p:cNvPr id="11" name="Text 9"/>
          <p:cNvSpPr txBox="1"/>
          <p:nvPr/>
        </p:nvSpPr>
        <p:spPr>
          <a:xfrm>
            <a:off x="3332988" y="2525116"/>
            <a:ext cx="3657600" cy="325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4"/>
              </a:lnSpc>
              <a:buNone/>
            </a:pPr>
            <a:r>
              <a:rPr lang="en-US" sz="1841" b="1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87%</a:t>
            </a:r>
            <a:endParaRPr lang="en-US" sz="1841" dirty="0"/>
          </a:p>
        </p:txBody>
      </p:sp>
      <p:sp>
        <p:nvSpPr>
          <p:cNvPr id="12" name="Text 10"/>
          <p:cNvSpPr txBox="1"/>
          <p:nvPr/>
        </p:nvSpPr>
        <p:spPr>
          <a:xfrm>
            <a:off x="4577486" y="2525116"/>
            <a:ext cx="618226" cy="3493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4"/>
              </a:lnSpc>
              <a:buNone/>
            </a:pPr>
            <a:r>
              <a:rPr lang="en-US" sz="1841" b="1" dirty="0">
                <a:solidFill>
                  <a:srgbClr val="4F67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97%</a:t>
            </a:r>
            <a:endParaRPr lang="en-US" sz="1841" dirty="0"/>
          </a:p>
        </p:txBody>
      </p:sp>
      <p:sp>
        <p:nvSpPr>
          <p:cNvPr id="13" name="Text 11"/>
          <p:cNvSpPr txBox="1"/>
          <p:nvPr/>
        </p:nvSpPr>
        <p:spPr>
          <a:xfrm>
            <a:off x="5894497" y="2599731"/>
            <a:ext cx="3657600" cy="191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32" kern="0" dirty="0">
                <a:solidFill>
                  <a:srgbClr val="4F6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+10 pp</a:t>
            </a:r>
            <a:endParaRPr lang="en-US" sz="960" dirty="0"/>
          </a:p>
        </p:txBody>
      </p:sp>
      <p:sp>
        <p:nvSpPr>
          <p:cNvPr id="14" name="Text 12"/>
          <p:cNvSpPr txBox="1"/>
          <p:nvPr/>
        </p:nvSpPr>
        <p:spPr>
          <a:xfrm>
            <a:off x="615757" y="3046964"/>
            <a:ext cx="224485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1322" dirty="0"/>
          </a:p>
        </p:txBody>
      </p:sp>
      <p:sp>
        <p:nvSpPr>
          <p:cNvPr id="15" name="Text 13"/>
          <p:cNvSpPr txBox="1"/>
          <p:nvPr/>
        </p:nvSpPr>
        <p:spPr>
          <a:xfrm>
            <a:off x="615757" y="3289188"/>
            <a:ext cx="1978396" cy="153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3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menos una ruta del par queda libre</a:t>
            </a:r>
            <a:endParaRPr lang="en-US" sz="803" dirty="0"/>
          </a:p>
        </p:txBody>
      </p:sp>
      <p:sp>
        <p:nvSpPr>
          <p:cNvPr id="16" name="Text 14"/>
          <p:cNvSpPr txBox="1"/>
          <p:nvPr/>
        </p:nvSpPr>
        <p:spPr>
          <a:xfrm>
            <a:off x="3311225" y="3093598"/>
            <a:ext cx="3657600" cy="325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4"/>
              </a:lnSpc>
              <a:buNone/>
            </a:pPr>
            <a:r>
              <a:rPr lang="en-US" sz="1841" b="1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91%</a:t>
            </a:r>
            <a:endParaRPr lang="en-US" sz="1841" dirty="0"/>
          </a:p>
        </p:txBody>
      </p:sp>
      <p:sp>
        <p:nvSpPr>
          <p:cNvPr id="17" name="Text 15"/>
          <p:cNvSpPr txBox="1"/>
          <p:nvPr/>
        </p:nvSpPr>
        <p:spPr>
          <a:xfrm>
            <a:off x="4581784" y="3093598"/>
            <a:ext cx="3657600" cy="325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4"/>
              </a:lnSpc>
              <a:buNone/>
            </a:pPr>
            <a:r>
              <a:rPr lang="en-US" sz="1841" b="1" dirty="0">
                <a:solidFill>
                  <a:srgbClr val="4F67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94%</a:t>
            </a:r>
            <a:endParaRPr lang="en-US" sz="1841" dirty="0"/>
          </a:p>
        </p:txBody>
      </p:sp>
      <p:sp>
        <p:nvSpPr>
          <p:cNvPr id="18" name="Text 16"/>
          <p:cNvSpPr txBox="1"/>
          <p:nvPr/>
        </p:nvSpPr>
        <p:spPr>
          <a:xfrm>
            <a:off x="5894497" y="3168122"/>
            <a:ext cx="3657600" cy="191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32" kern="0" dirty="0">
                <a:solidFill>
                  <a:srgbClr val="4F6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 pp</a:t>
            </a:r>
            <a:endParaRPr lang="en-US" sz="960" dirty="0"/>
          </a:p>
        </p:txBody>
      </p:sp>
      <p:sp>
        <p:nvSpPr>
          <p:cNvPr id="19" name="Text 17"/>
          <p:cNvSpPr txBox="1"/>
          <p:nvPr/>
        </p:nvSpPr>
        <p:spPr>
          <a:xfrm>
            <a:off x="653064" y="3540831"/>
            <a:ext cx="4813584" cy="180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completa más misiones que A (p = 0,013) y su par conserva más rutas libres.</a:t>
            </a:r>
            <a:endParaRPr lang="en-US" sz="881" dirty="0"/>
          </a:p>
        </p:txBody>
      </p:sp>
      <p:sp>
        <p:nvSpPr>
          <p:cNvPr id="20" name="Text 18"/>
          <p:cNvSpPr txBox="1"/>
          <p:nvPr/>
        </p:nvSpPr>
        <p:spPr>
          <a:xfrm>
            <a:off x="7080748" y="2115190"/>
            <a:ext cx="921167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34" kern="0" dirty="0">
                <a:solidFill>
                  <a:srgbClr val="D5B1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 D</a:t>
            </a:r>
            <a:endParaRPr lang="en-US" sz="960" dirty="0"/>
          </a:p>
        </p:txBody>
      </p:sp>
      <p:sp>
        <p:nvSpPr>
          <p:cNvPr id="21" name="Text 19"/>
          <p:cNvSpPr txBox="1"/>
          <p:nvPr/>
        </p:nvSpPr>
        <p:spPr>
          <a:xfrm>
            <a:off x="7080748" y="2273564"/>
            <a:ext cx="3657600" cy="6614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8"/>
              </a:lnSpc>
              <a:buNone/>
            </a:pPr>
            <a:r>
              <a:rPr lang="en-US" sz="4035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96%</a:t>
            </a:r>
            <a:endParaRPr lang="en-US" sz="4035" dirty="0"/>
          </a:p>
        </p:txBody>
      </p:sp>
      <p:sp>
        <p:nvSpPr>
          <p:cNvPr id="22" name="Text 20"/>
          <p:cNvSpPr txBox="1"/>
          <p:nvPr/>
        </p:nvSpPr>
        <p:spPr>
          <a:xfrm>
            <a:off x="7080748" y="2922148"/>
            <a:ext cx="942746" cy="511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D4D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960" dirty="0"/>
          </a:p>
          <a:p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D4D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Dijkstra con</a:t>
            </a:r>
            <a:endParaRPr lang="en-US" sz="960" dirty="0"/>
          </a:p>
          <a:p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D4D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replanificación</a:t>
            </a:r>
            <a:endParaRPr lang="en-US" sz="960" dirty="0"/>
          </a:p>
        </p:txBody>
      </p:sp>
      <p:sp>
        <p:nvSpPr>
          <p:cNvPr id="23" name="Text 21"/>
          <p:cNvSpPr txBox="1"/>
          <p:nvPr/>
        </p:nvSpPr>
        <p:spPr>
          <a:xfrm>
            <a:off x="7080748" y="3652662"/>
            <a:ext cx="276515" cy="153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3" spc="32" kern="0" dirty="0">
                <a:solidFill>
                  <a:srgbClr val="D4D9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C−D</a:t>
            </a:r>
            <a:endParaRPr lang="en-US" sz="803" dirty="0"/>
          </a:p>
        </p:txBody>
      </p:sp>
      <p:sp>
        <p:nvSpPr>
          <p:cNvPr id="24" name="Text 22"/>
          <p:cNvSpPr txBox="1"/>
          <p:nvPr/>
        </p:nvSpPr>
        <p:spPr>
          <a:xfrm>
            <a:off x="8142092" y="3652662"/>
            <a:ext cx="3657600" cy="1689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3" b="1" spc="32" kern="0" dirty="0">
                <a:solidFill>
                  <a:srgbClr val="E4BC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 pp</a:t>
            </a:r>
            <a:endParaRPr lang="en-US" sz="803" dirty="0"/>
          </a:p>
        </p:txBody>
      </p:sp>
      <p:sp>
        <p:nvSpPr>
          <p:cNvPr id="25" name="Text 23"/>
          <p:cNvSpPr txBox="1"/>
          <p:nvPr/>
        </p:nvSpPr>
        <p:spPr>
          <a:xfrm>
            <a:off x="541050" y="4575109"/>
            <a:ext cx="6319236" cy="1576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1"/>
              </a:lnSpc>
              <a:buNone/>
            </a:pPr>
            <a:r>
              <a:rPr lang="en-US" sz="735" spc="27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Presupuesto: 21,06 km · Longitud mínima sin fallas: 13,16 km · Semillas 0–99 · Evaluación reservada pendiente</a:t>
            </a:r>
            <a:endParaRPr lang="en-US" sz="735" dirty="0"/>
          </a:p>
        </p:txBody>
      </p:sp>
      <p:sp>
        <p:nvSpPr>
          <p:cNvPr id="26" name="Text 24"/>
          <p:cNvSpPr txBox="1"/>
          <p:nvPr/>
        </p:nvSpPr>
        <p:spPr>
          <a:xfrm>
            <a:off x="749717" y="2548433"/>
            <a:ext cx="577169" cy="1887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89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misión</a:t>
            </a:r>
            <a:endParaRPr lang="en-US" sz="989" dirty="0"/>
          </a:p>
        </p:txBody>
      </p:sp>
      <p:sp>
        <p:nvSpPr>
          <p:cNvPr id="27" name="Text 25"/>
          <p:cNvSpPr txBox="1"/>
          <p:nvPr/>
        </p:nvSpPr>
        <p:spPr>
          <a:xfrm>
            <a:off x="749717" y="3126151"/>
            <a:ext cx="324886" cy="1887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89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</a:t>
            </a:r>
            <a:endParaRPr lang="en-US" sz="989" dirty="0"/>
          </a:p>
        </p:txBody>
      </p:sp>
      <p:sp>
        <p:nvSpPr>
          <p:cNvPr id="28" name="Text 26"/>
          <p:cNvSpPr txBox="1"/>
          <p:nvPr/>
        </p:nvSpPr>
        <p:spPr>
          <a:xfrm>
            <a:off x="7168347" y="2984053"/>
            <a:ext cx="368960" cy="1362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59"/>
              </a:lnSpc>
              <a:buNone/>
            </a:pPr>
            <a:r>
              <a:rPr lang="en-US" sz="715" dirty="0">
                <a:solidFill>
                  <a:srgbClr val="D4D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misión</a:t>
            </a:r>
            <a:endParaRPr lang="en-US" sz="715" dirty="0"/>
          </a:p>
        </p:txBody>
      </p:sp>
      <p:sp>
        <p:nvSpPr>
          <p:cNvPr id="29" name="Text 27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35</a:t>
            </a:r>
            <a:endParaRPr lang="en-US" sz="881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34411" y="437906"/>
            <a:ext cx="3657600" cy="191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39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FLOTA CON AVISO · IMPLEMENTADA</a:t>
            </a:r>
            <a:endParaRPr lang="en-US" sz="960" dirty="0"/>
          </a:p>
        </p:txBody>
      </p:sp>
      <p:sp>
        <p:nvSpPr>
          <p:cNvPr id="3" name="Text 1"/>
          <p:cNvSpPr txBox="1"/>
          <p:nvPr/>
        </p:nvSpPr>
        <p:spPr>
          <a:xfrm>
            <a:off x="634411" y="680222"/>
            <a:ext cx="3657600" cy="437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5"/>
              </a:lnSpc>
              <a:buNone/>
            </a:pPr>
            <a:r>
              <a:rPr lang="en-US" sz="2566" b="1" spc="-81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Flota con aviso</a:t>
            </a:r>
            <a:endParaRPr lang="en-US" sz="2566" dirty="0"/>
          </a:p>
        </p:txBody>
      </p:sp>
      <p:sp>
        <p:nvSpPr>
          <p:cNvPr id="4" name="Text 2"/>
          <p:cNvSpPr txBox="1"/>
          <p:nvPr/>
        </p:nvSpPr>
        <p:spPr>
          <a:xfrm>
            <a:off x="815005" y="2795412"/>
            <a:ext cx="240487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55" kern="0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337401" y="2748778"/>
            <a:ext cx="1964406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Vuelos escalonados</a:t>
            </a:r>
            <a:endParaRPr lang="en-US" sz="1322" dirty="0"/>
          </a:p>
        </p:txBody>
      </p:sp>
      <p:sp>
        <p:nvSpPr>
          <p:cNvPr id="6" name="Text 4"/>
          <p:cNvSpPr txBox="1"/>
          <p:nvPr/>
        </p:nvSpPr>
        <p:spPr>
          <a:xfrm>
            <a:off x="1337401" y="2972440"/>
            <a:ext cx="3657600" cy="191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1 km (~83 s); beacon cada 2 s.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815005" y="3345150"/>
            <a:ext cx="240487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55" kern="0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60" dirty="0"/>
          </a:p>
        </p:txBody>
      </p:sp>
      <p:sp>
        <p:nvSpPr>
          <p:cNvPr id="8" name="Text 6"/>
          <p:cNvSpPr txBox="1"/>
          <p:nvPr/>
        </p:nvSpPr>
        <p:spPr>
          <a:xfrm>
            <a:off x="1337401" y="3298515"/>
            <a:ext cx="1944837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Detectar + difundir</a:t>
            </a:r>
            <a:endParaRPr lang="en-US" sz="1322" dirty="0"/>
          </a:p>
        </p:txBody>
      </p:sp>
      <p:sp>
        <p:nvSpPr>
          <p:cNvPr id="9" name="Text 7"/>
          <p:cNvSpPr txBox="1"/>
          <p:nvPr/>
        </p:nvSpPr>
        <p:spPr>
          <a:xfrm>
            <a:off x="1337401" y="3518428"/>
            <a:ext cx="3657600" cy="344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5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detección (multisalto, 3 km) o</a:t>
            </a:r>
            <a:endParaRPr lang="en-US" sz="960" dirty="0"/>
          </a:p>
          <a:p>
            <a:pPr algn="l" indent="0" marL="0">
              <a:lnSpc>
                <a:spcPts val="1175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silencio: 3 beacons perdidos.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815005" y="4044025"/>
            <a:ext cx="240487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55" kern="0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60" dirty="0"/>
          </a:p>
        </p:txBody>
      </p:sp>
      <p:sp>
        <p:nvSpPr>
          <p:cNvPr id="11" name="Text 9"/>
          <p:cNvSpPr txBox="1"/>
          <p:nvPr/>
        </p:nvSpPr>
        <p:spPr>
          <a:xfrm>
            <a:off x="1337401" y="3997391"/>
            <a:ext cx="1110539" cy="251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7"/>
              </a:lnSpc>
              <a:buNone/>
            </a:pPr>
            <a:r>
              <a:rPr lang="en-US" sz="132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Recalcular</a:t>
            </a:r>
            <a:endParaRPr lang="en-US" sz="1322" dirty="0"/>
          </a:p>
        </p:txBody>
      </p:sp>
      <p:sp>
        <p:nvSpPr>
          <p:cNvPr id="12" name="Text 10"/>
          <p:cNvSpPr txBox="1"/>
          <p:nvPr/>
        </p:nvSpPr>
        <p:spPr>
          <a:xfrm>
            <a:off x="1337401" y="4207977"/>
            <a:ext cx="3657600" cy="362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recibe el aviso replanifica</a:t>
            </a:r>
            <a:endParaRPr lang="en-US" sz="960" dirty="0"/>
          </a:p>
          <a:p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vuelo, desde el nodo siguiente.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3894887" y="335402"/>
            <a:ext cx="729417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30" kern="0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ESQUEMA</a:t>
            </a:r>
            <a:endParaRPr lang="en-US" sz="960" dirty="0"/>
          </a:p>
        </p:txBody>
      </p:sp>
      <p:sp>
        <p:nvSpPr>
          <p:cNvPr id="14" name="Text 12"/>
          <p:cNvSpPr txBox="1"/>
          <p:nvPr/>
        </p:nvSpPr>
        <p:spPr>
          <a:xfrm>
            <a:off x="7328002" y="2519081"/>
            <a:ext cx="807324" cy="1187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49"/>
              </a:lnSpc>
              <a:buNone/>
            </a:pPr>
            <a:r>
              <a:rPr lang="en-US" sz="627" b="1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aviso por salto</a:t>
            </a:r>
            <a:endParaRPr lang="en-US" sz="627" dirty="0"/>
          </a:p>
        </p:txBody>
      </p:sp>
      <p:sp>
        <p:nvSpPr>
          <p:cNvPr id="15" name="Text 13"/>
          <p:cNvSpPr txBox="1"/>
          <p:nvPr/>
        </p:nvSpPr>
        <p:spPr>
          <a:xfrm>
            <a:off x="7975305" y="1561338"/>
            <a:ext cx="167792" cy="1646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38"/>
              </a:lnSpc>
              <a:buNone/>
            </a:pPr>
            <a:r>
              <a:rPr lang="en-US" sz="86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862" dirty="0"/>
          </a:p>
        </p:txBody>
      </p:sp>
      <p:sp>
        <p:nvSpPr>
          <p:cNvPr id="16" name="Text 14"/>
          <p:cNvSpPr txBox="1"/>
          <p:nvPr/>
        </p:nvSpPr>
        <p:spPr>
          <a:xfrm>
            <a:off x="6454750" y="2458090"/>
            <a:ext cx="617586" cy="1187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49"/>
              </a:lnSpc>
              <a:buNone/>
            </a:pPr>
            <a:r>
              <a:rPr lang="en-US" sz="627" b="1" dirty="0">
                <a:solidFill>
                  <a:srgbClr val="AB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zona incierta</a:t>
            </a:r>
            <a:endParaRPr lang="en-US" sz="627" dirty="0"/>
          </a:p>
        </p:txBody>
      </p:sp>
      <p:sp>
        <p:nvSpPr>
          <p:cNvPr id="17" name="Text 15"/>
          <p:cNvSpPr txBox="1"/>
          <p:nvPr/>
        </p:nvSpPr>
        <p:spPr>
          <a:xfrm>
            <a:off x="5837987" y="2592233"/>
            <a:ext cx="1077895" cy="128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7"/>
              </a:lnSpc>
              <a:buNone/>
            </a:pPr>
            <a:r>
              <a:rPr lang="en-US" sz="676" b="1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UAV 1 · último reporte</a:t>
            </a:r>
            <a:endParaRPr lang="en-US" sz="676" dirty="0"/>
          </a:p>
        </p:txBody>
      </p:sp>
      <p:sp>
        <p:nvSpPr>
          <p:cNvPr id="18" name="Text 16"/>
          <p:cNvSpPr txBox="1"/>
          <p:nvPr/>
        </p:nvSpPr>
        <p:spPr>
          <a:xfrm>
            <a:off x="4390674" y="3068086"/>
            <a:ext cx="367132" cy="128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7"/>
              </a:lnSpc>
              <a:buNone/>
            </a:pPr>
            <a:r>
              <a:rPr lang="en-US" sz="676" b="1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origen</a:t>
            </a:r>
            <a:endParaRPr lang="en-US" sz="676" dirty="0"/>
          </a:p>
        </p:txBody>
      </p:sp>
      <p:sp>
        <p:nvSpPr>
          <p:cNvPr id="19" name="Text 17"/>
          <p:cNvSpPr txBox="1"/>
          <p:nvPr/>
        </p:nvSpPr>
        <p:spPr>
          <a:xfrm>
            <a:off x="6827276" y="1256477"/>
            <a:ext cx="769559" cy="128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7"/>
              </a:lnSpc>
              <a:buNone/>
            </a:pPr>
            <a:r>
              <a:rPr lang="en-US" sz="676" b="1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UAV 2 · detecta</a:t>
            </a:r>
            <a:endParaRPr lang="en-US" sz="676" dirty="0"/>
          </a:p>
        </p:txBody>
      </p:sp>
      <p:sp>
        <p:nvSpPr>
          <p:cNvPr id="20" name="Text 18"/>
          <p:cNvSpPr txBox="1"/>
          <p:nvPr/>
        </p:nvSpPr>
        <p:spPr>
          <a:xfrm>
            <a:off x="7022592" y="3726729"/>
            <a:ext cx="349392" cy="128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7"/>
              </a:lnSpc>
              <a:buNone/>
            </a:pPr>
            <a:r>
              <a:rPr lang="en-US" sz="676" b="1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UAV 3</a:t>
            </a:r>
            <a:endParaRPr lang="en-US" sz="676" dirty="0"/>
          </a:p>
        </p:txBody>
      </p:sp>
      <p:sp>
        <p:nvSpPr>
          <p:cNvPr id="21" name="Text 19"/>
          <p:cNvSpPr txBox="1"/>
          <p:nvPr/>
        </p:nvSpPr>
        <p:spPr>
          <a:xfrm>
            <a:off x="4165458" y="4575109"/>
            <a:ext cx="76453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 prevista</a:t>
            </a:r>
            <a:endParaRPr lang="en-US" sz="881" dirty="0"/>
          </a:p>
        </p:txBody>
      </p:sp>
      <p:sp>
        <p:nvSpPr>
          <p:cNvPr id="22" name="Text 20"/>
          <p:cNvSpPr txBox="1"/>
          <p:nvPr/>
        </p:nvSpPr>
        <p:spPr>
          <a:xfrm>
            <a:off x="5219944" y="4575109"/>
            <a:ext cx="1168695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desvío tras la alerta</a:t>
            </a:r>
            <a:endParaRPr lang="en-US" sz="881" dirty="0"/>
          </a:p>
        </p:txBody>
      </p:sp>
      <p:sp>
        <p:nvSpPr>
          <p:cNvPr id="23" name="Text 21"/>
          <p:cNvSpPr txBox="1"/>
          <p:nvPr/>
        </p:nvSpPr>
        <p:spPr>
          <a:xfrm>
            <a:off x="6635344" y="4575109"/>
            <a:ext cx="1445209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comunicación entre UAV</a:t>
            </a:r>
            <a:endParaRPr lang="en-US" sz="881" dirty="0"/>
          </a:p>
        </p:txBody>
      </p:sp>
      <p:sp>
        <p:nvSpPr>
          <p:cNvPr id="24" name="Text 22"/>
          <p:cNvSpPr txBox="1"/>
          <p:nvPr/>
        </p:nvSpPr>
        <p:spPr>
          <a:xfrm>
            <a:off x="634411" y="1099475"/>
            <a:ext cx="3657600" cy="10530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3"/>
              </a:lnSpc>
              <a:buNone/>
            </a:pPr>
            <a:r>
              <a:rPr lang="en-US" sz="1469" b="1" dirty="0">
                <a:solidFill>
                  <a:srgbClr val="8D90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Tres a cinco UAV recorren la</a:t>
            </a:r>
            <a:endParaRPr lang="en-US" sz="1469" dirty="0"/>
          </a:p>
          <a:p>
            <a:pPr algn="l" indent="0" marL="0">
              <a:lnSpc>
                <a:spcPts val="1983"/>
              </a:lnSpc>
              <a:buNone/>
            </a:pPr>
            <a:r>
              <a:rPr lang="en-US" sz="1469" b="1" dirty="0">
                <a:solidFill>
                  <a:srgbClr val="8D90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misma misión, escalonados; el</a:t>
            </a:r>
            <a:endParaRPr lang="en-US" sz="1469" dirty="0"/>
          </a:p>
          <a:p>
            <a:pPr algn="l" indent="0" marL="0">
              <a:lnSpc>
                <a:spcPts val="1983"/>
              </a:lnSpc>
              <a:buNone/>
            </a:pPr>
            <a:r>
              <a:rPr lang="en-US" sz="1469" b="1" dirty="0">
                <a:solidFill>
                  <a:srgbClr val="8D90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detecta la interferencia</a:t>
            </a:r>
            <a:endParaRPr lang="en-US" sz="1469" dirty="0"/>
          </a:p>
          <a:p>
            <a:pPr algn="l" indent="0" marL="0">
              <a:lnSpc>
                <a:spcPts val="1983"/>
              </a:lnSpc>
              <a:buNone/>
            </a:pPr>
            <a:r>
              <a:rPr lang="en-US" sz="1469" b="1" dirty="0">
                <a:solidFill>
                  <a:srgbClr val="8D90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avisa al resto.</a:t>
            </a:r>
            <a:endParaRPr lang="en-US" sz="1469" dirty="0"/>
          </a:p>
        </p:txBody>
      </p:sp>
      <p:sp>
        <p:nvSpPr>
          <p:cNvPr id="25" name="Text 23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/ 35</a:t>
            </a:r>
            <a:endParaRPr lang="en-US" sz="881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pa del fondo"/>
          <p:cNvSpPr/>
          <p:nvPr/>
        </p:nvSpPr>
        <p:spPr>
          <a:xfrm>
            <a:off x="630936" y="4178808"/>
            <a:ext cx="8275320" cy="384048"/>
          </a:xfrm>
          <a:prstGeom prst="rect">
            <a:avLst/>
          </a:prstGeom>
          <a:solidFill>
            <a:srgbClr val="FAFAF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36240" y="437906"/>
            <a:ext cx="6969923" cy="5031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73"/>
              </a:lnSpc>
              <a:buNone/>
            </a:pPr>
            <a:r>
              <a:rPr lang="en-US" sz="2644" b="1" spc="-90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Separar el aporte del aviso y del ruteo.</a:t>
            </a:r>
            <a:endParaRPr lang="en-US" sz="2644" dirty="0"/>
          </a:p>
        </p:txBody>
      </p:sp>
      <p:sp>
        <p:nvSpPr>
          <p:cNvPr id="4" name="Text 2"/>
          <p:cNvSpPr txBox="1"/>
          <p:nvPr/>
        </p:nvSpPr>
        <p:spPr>
          <a:xfrm>
            <a:off x="858256" y="3811036"/>
            <a:ext cx="172456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b="1" dirty="0">
                <a:solidFill>
                  <a:srgbClr val="E1BF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175" dirty="0"/>
          </a:p>
        </p:txBody>
      </p:sp>
      <p:sp>
        <p:nvSpPr>
          <p:cNvPr id="5" name="Text 3"/>
          <p:cNvSpPr txBox="1"/>
          <p:nvPr/>
        </p:nvSpPr>
        <p:spPr>
          <a:xfrm>
            <a:off x="1011326" y="3811036"/>
            <a:ext cx="466253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b="1" spc="42" kern="0" dirty="0">
                <a:solidFill>
                  <a:srgbClr val="E1BF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− D</a:t>
            </a:r>
            <a:endParaRPr lang="en-US" sz="1175" dirty="0"/>
          </a:p>
        </p:txBody>
      </p:sp>
      <p:sp>
        <p:nvSpPr>
          <p:cNvPr id="6" name="Text 4"/>
          <p:cNvSpPr txBox="1"/>
          <p:nvPr/>
        </p:nvSpPr>
        <p:spPr>
          <a:xfrm>
            <a:off x="1501079" y="3852184"/>
            <a:ext cx="3657600" cy="213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2"/>
              </a:lnSpc>
              <a:buNone/>
            </a:pPr>
            <a:r>
              <a:rPr lang="en-US" sz="1097" dirty="0">
                <a:solidFill>
                  <a:srgbClr val="E0E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 a +17 pp con p</a:t>
            </a:r>
            <a:pPr algn="l" indent="0" marL="0">
              <a:lnSpc>
                <a:spcPts val="1322"/>
              </a:lnSpc>
              <a:buNone/>
            </a:pPr>
            <a:r>
              <a:rPr lang="en-US" sz="1097" baseline="-40000" dirty="0">
                <a:solidFill>
                  <a:srgbClr val="E0E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</a:t>
            </a:r>
            <a:pPr algn="l" indent="0" marL="0">
              <a:lnSpc>
                <a:spcPts val="1322"/>
              </a:lnSpc>
              <a:buNone/>
            </a:pPr>
            <a:r>
              <a:rPr lang="en-US" sz="1097" dirty="0">
                <a:solidFill>
                  <a:srgbClr val="E0E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≤ 0,5</a:t>
            </a:r>
            <a:endParaRPr lang="en-US" sz="1097" dirty="0"/>
          </a:p>
        </p:txBody>
      </p:sp>
      <p:sp>
        <p:nvSpPr>
          <p:cNvPr id="7" name="Text 5"/>
          <p:cNvSpPr txBox="1"/>
          <p:nvPr/>
        </p:nvSpPr>
        <p:spPr>
          <a:xfrm>
            <a:off x="4687854" y="3811036"/>
            <a:ext cx="172456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b="1" dirty="0">
                <a:solidFill>
                  <a:srgbClr val="E1BF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175" dirty="0"/>
          </a:p>
        </p:txBody>
      </p:sp>
      <p:sp>
        <p:nvSpPr>
          <p:cNvPr id="8" name="Text 6"/>
          <p:cNvSpPr txBox="1"/>
          <p:nvPr/>
        </p:nvSpPr>
        <p:spPr>
          <a:xfrm>
            <a:off x="4840925" y="3811036"/>
            <a:ext cx="466253" cy="223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1175" b="1" spc="42" kern="0" dirty="0">
                <a:solidFill>
                  <a:srgbClr val="E1BF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− D</a:t>
            </a:r>
            <a:endParaRPr lang="en-US" sz="1175" dirty="0"/>
          </a:p>
        </p:txBody>
      </p:sp>
      <p:sp>
        <p:nvSpPr>
          <p:cNvPr id="9" name="Text 7"/>
          <p:cNvSpPr txBox="1"/>
          <p:nvPr/>
        </p:nvSpPr>
        <p:spPr>
          <a:xfrm>
            <a:off x="5396332" y="3811036"/>
            <a:ext cx="3657600" cy="213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2"/>
              </a:lnSpc>
              <a:buNone/>
            </a:pPr>
            <a:r>
              <a:rPr lang="en-US" sz="1097" dirty="0">
                <a:solidFill>
                  <a:srgbClr val="E0E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 a +6,5 pp; significativo en 2 de 4 celdas</a:t>
            </a:r>
            <a:endParaRPr lang="en-US" sz="1097" dirty="0"/>
          </a:p>
        </p:txBody>
      </p:sp>
      <p:sp>
        <p:nvSpPr>
          <p:cNvPr id="10" name="Text 8"/>
          <p:cNvSpPr txBox="1"/>
          <p:nvPr/>
        </p:nvSpPr>
        <p:spPr>
          <a:xfrm>
            <a:off x="653064" y="4211726"/>
            <a:ext cx="4123121" cy="3144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Misma misión, grafo, fallas y presupuesto. Métrica: finalización de los UAV seguidores (2…N).</a:t>
            </a:r>
            <a:endParaRPr lang="en-US" sz="881" dirty="0"/>
          </a:p>
          <a:p>
            <a:pPr algn="l" indent="0" marL="0">
              <a:lnSpc>
                <a:spcPts val="1058"/>
              </a:lnSpc>
              <a:buNone/>
            </a:pPr>
            <a:r>
              <a:rPr lang="en-US" sz="881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Conjunto de ajuste, 100 escenarios por celda; la evaluación reservada sigue pendiente.</a:t>
            </a:r>
            <a:endParaRPr lang="en-US" sz="881" dirty="0"/>
          </a:p>
        </p:txBody>
      </p:sp>
      <p:sp>
        <p:nvSpPr>
          <p:cNvPr id="11" name="Text 9"/>
          <p:cNvSpPr txBox="1"/>
          <p:nvPr/>
        </p:nvSpPr>
        <p:spPr>
          <a:xfrm>
            <a:off x="839602" y="1313810"/>
            <a:ext cx="221376" cy="335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6"/>
              </a:lnSpc>
              <a:buNone/>
            </a:pPr>
            <a:r>
              <a:rPr lang="en-US" sz="1763" b="1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763" dirty="0"/>
          </a:p>
        </p:txBody>
      </p:sp>
      <p:sp>
        <p:nvSpPr>
          <p:cNvPr id="12" name="Text 10"/>
          <p:cNvSpPr txBox="1"/>
          <p:nvPr/>
        </p:nvSpPr>
        <p:spPr>
          <a:xfrm>
            <a:off x="839602" y="1695846"/>
            <a:ext cx="2238908" cy="293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1"/>
              </a:lnSpc>
              <a:buNone/>
            </a:pPr>
            <a:r>
              <a:rPr lang="en-US" sz="1548" b="1" spc="-32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 aviso entre UAV</a:t>
            </a:r>
            <a:endParaRPr lang="en-US" sz="1548" dirty="0"/>
          </a:p>
        </p:txBody>
      </p:sp>
      <p:sp>
        <p:nvSpPr>
          <p:cNvPr id="13" name="Text 11"/>
          <p:cNvSpPr txBox="1"/>
          <p:nvPr/>
        </p:nvSpPr>
        <p:spPr>
          <a:xfrm>
            <a:off x="839602" y="2022013"/>
            <a:ext cx="2327971" cy="601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UAV detecta localmente el</a:t>
            </a:r>
            <a:endParaRPr lang="en-US" sz="1097" dirty="0"/>
          </a:p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bloqueo y replanifica con</a:t>
            </a:r>
            <a:endParaRPr lang="en-US" sz="1097" dirty="0"/>
          </a:p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Dijkstra.</a:t>
            </a:r>
            <a:endParaRPr lang="en-US" sz="1097" dirty="0"/>
          </a:p>
        </p:txBody>
      </p:sp>
      <p:sp>
        <p:nvSpPr>
          <p:cNvPr id="14" name="Text 12"/>
          <p:cNvSpPr txBox="1"/>
          <p:nvPr/>
        </p:nvSpPr>
        <p:spPr>
          <a:xfrm>
            <a:off x="839602" y="2720797"/>
            <a:ext cx="3657600" cy="1576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1"/>
              </a:lnSpc>
              <a:buNone/>
            </a:pPr>
            <a:r>
              <a:rPr lang="en-US" sz="735" b="1" spc="81" kern="0" dirty="0">
                <a:solidFill>
                  <a:srgbClr val="4F6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IMPLEMENTADO</a:t>
            </a:r>
            <a:endParaRPr lang="en-US" sz="735" dirty="0"/>
          </a:p>
        </p:txBody>
      </p:sp>
      <p:sp>
        <p:nvSpPr>
          <p:cNvPr id="15" name="Text 13"/>
          <p:cNvSpPr txBox="1"/>
          <p:nvPr/>
        </p:nvSpPr>
        <p:spPr>
          <a:xfrm>
            <a:off x="3545037" y="1313810"/>
            <a:ext cx="221376" cy="335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6"/>
              </a:lnSpc>
              <a:buNone/>
            </a:pPr>
            <a:r>
              <a:rPr lang="en-US" sz="1763" b="1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763" dirty="0"/>
          </a:p>
        </p:txBody>
      </p:sp>
      <p:sp>
        <p:nvSpPr>
          <p:cNvPr id="16" name="Text 14"/>
          <p:cNvSpPr txBox="1"/>
          <p:nvPr/>
        </p:nvSpPr>
        <p:spPr>
          <a:xfrm>
            <a:off x="3545037" y="1695846"/>
            <a:ext cx="1814627" cy="293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1"/>
              </a:lnSpc>
              <a:buNone/>
            </a:pPr>
            <a:r>
              <a:rPr lang="en-US" sz="1548" b="1" spc="-31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Aviso + Dijkstra</a:t>
            </a:r>
            <a:endParaRPr lang="en-US" sz="1548" dirty="0"/>
          </a:p>
        </p:txBody>
      </p:sp>
      <p:sp>
        <p:nvSpPr>
          <p:cNvPr id="17" name="Text 15"/>
          <p:cNvSpPr txBox="1"/>
          <p:nvPr/>
        </p:nvSpPr>
        <p:spPr>
          <a:xfrm>
            <a:off x="3545037" y="2022013"/>
            <a:ext cx="2327880" cy="601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siguiente UAV recibe el aviso,</a:t>
            </a:r>
            <a:endParaRPr lang="en-US" sz="1097" dirty="0"/>
          </a:p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 la zona y recalcula con</a:t>
            </a:r>
            <a:endParaRPr lang="en-US" sz="1097" dirty="0"/>
          </a:p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Dijkstra.</a:t>
            </a:r>
            <a:endParaRPr lang="en-US" sz="1097" dirty="0"/>
          </a:p>
        </p:txBody>
      </p:sp>
      <p:sp>
        <p:nvSpPr>
          <p:cNvPr id="18" name="Text 16"/>
          <p:cNvSpPr txBox="1"/>
          <p:nvPr/>
        </p:nvSpPr>
        <p:spPr>
          <a:xfrm>
            <a:off x="3545037" y="2720797"/>
            <a:ext cx="3657600" cy="1576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1"/>
              </a:lnSpc>
              <a:buNone/>
            </a:pPr>
            <a:r>
              <a:rPr lang="en-US" sz="735" b="1" spc="82" kern="0" dirty="0">
                <a:solidFill>
                  <a:srgbClr val="4F6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IMPLEMENTADO</a:t>
            </a:r>
            <a:endParaRPr lang="en-US" sz="735" dirty="0"/>
          </a:p>
        </p:txBody>
      </p:sp>
      <p:sp>
        <p:nvSpPr>
          <p:cNvPr id="19" name="Text 17"/>
          <p:cNvSpPr txBox="1"/>
          <p:nvPr/>
        </p:nvSpPr>
        <p:spPr>
          <a:xfrm>
            <a:off x="3683112" y="1436065"/>
            <a:ext cx="165598" cy="2079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1097" b="1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097" dirty="0"/>
          </a:p>
        </p:txBody>
      </p:sp>
      <p:sp>
        <p:nvSpPr>
          <p:cNvPr id="20" name="Text 18"/>
          <p:cNvSpPr txBox="1"/>
          <p:nvPr/>
        </p:nvSpPr>
        <p:spPr>
          <a:xfrm>
            <a:off x="6250473" y="1313810"/>
            <a:ext cx="221376" cy="335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6"/>
              </a:lnSpc>
              <a:buNone/>
            </a:pPr>
            <a:r>
              <a:rPr lang="en-US" sz="1763" b="1" dirty="0">
                <a:solidFill>
                  <a:srgbClr val="8862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763" dirty="0"/>
          </a:p>
        </p:txBody>
      </p:sp>
      <p:sp>
        <p:nvSpPr>
          <p:cNvPr id="21" name="Text 19"/>
          <p:cNvSpPr txBox="1"/>
          <p:nvPr/>
        </p:nvSpPr>
        <p:spPr>
          <a:xfrm>
            <a:off x="6250473" y="1695846"/>
            <a:ext cx="2037100" cy="293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1"/>
              </a:lnSpc>
              <a:buNone/>
            </a:pPr>
            <a:r>
              <a:rPr lang="en-US" sz="1548" b="1" spc="-32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Aviso + propuesta</a:t>
            </a:r>
            <a:endParaRPr lang="en-US" sz="1548" dirty="0"/>
          </a:p>
        </p:txBody>
      </p:sp>
      <p:sp>
        <p:nvSpPr>
          <p:cNvPr id="22" name="Text 20"/>
          <p:cNvSpPr txBox="1"/>
          <p:nvPr/>
        </p:nvSpPr>
        <p:spPr>
          <a:xfrm>
            <a:off x="6250473" y="2022013"/>
            <a:ext cx="2227936" cy="41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alerta guía la selección y</a:t>
            </a:r>
            <a:endParaRPr lang="en-US" sz="1097" dirty="0"/>
          </a:p>
          <a:p>
            <a:pPr algn="l" indent="0" marL="0">
              <a:lnSpc>
                <a:spcPts val="1469"/>
              </a:lnSpc>
              <a:buNone/>
            </a:pPr>
            <a:r>
              <a:rPr lang="en-US" sz="1097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replanificación resilientes (ρ/γ).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250473" y="2534442"/>
            <a:ext cx="3657600" cy="1576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1"/>
              </a:lnSpc>
              <a:buNone/>
            </a:pPr>
            <a:r>
              <a:rPr lang="en-US" sz="735" b="1" spc="82" kern="0" dirty="0">
                <a:solidFill>
                  <a:srgbClr val="4F6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IMPLEMENTADO</a:t>
            </a:r>
            <a:endParaRPr lang="en-US" sz="735" dirty="0"/>
          </a:p>
        </p:txBody>
      </p:sp>
      <p:sp>
        <p:nvSpPr>
          <p:cNvPr id="24" name="Text 22"/>
          <p:cNvSpPr txBox="1"/>
          <p:nvPr/>
        </p:nvSpPr>
        <p:spPr>
          <a:xfrm>
            <a:off x="6388547" y="1436065"/>
            <a:ext cx="165598" cy="2079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1097" b="1" dirty="0">
                <a:solidFill>
                  <a:srgbClr val="8862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097" dirty="0"/>
          </a:p>
        </p:txBody>
      </p:sp>
      <p:sp>
        <p:nvSpPr>
          <p:cNvPr id="25" name="Text 23"/>
          <p:cNvSpPr txBox="1"/>
          <p:nvPr/>
        </p:nvSpPr>
        <p:spPr>
          <a:xfrm>
            <a:off x="945764" y="3876233"/>
            <a:ext cx="147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b="1" dirty="0">
                <a:solidFill>
                  <a:srgbClr val="E1BF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881" dirty="0"/>
          </a:p>
        </p:txBody>
      </p:sp>
      <p:sp>
        <p:nvSpPr>
          <p:cNvPr id="26" name="Text 24"/>
          <p:cNvSpPr txBox="1"/>
          <p:nvPr/>
        </p:nvSpPr>
        <p:spPr>
          <a:xfrm>
            <a:off x="4775363" y="3876233"/>
            <a:ext cx="147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b="1" dirty="0">
                <a:solidFill>
                  <a:srgbClr val="E1BF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881" dirty="0"/>
          </a:p>
        </p:txBody>
      </p:sp>
      <p:sp>
        <p:nvSpPr>
          <p:cNvPr id="27" name="Text 25"/>
          <p:cNvSpPr txBox="1"/>
          <p:nvPr/>
        </p:nvSpPr>
        <p:spPr>
          <a:xfrm>
            <a:off x="5190774" y="3876233"/>
            <a:ext cx="147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b="1" dirty="0">
                <a:solidFill>
                  <a:srgbClr val="E1BF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881" dirty="0"/>
          </a:p>
        </p:txBody>
      </p:sp>
      <p:sp>
        <p:nvSpPr>
          <p:cNvPr id="28" name="Text 26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/ 35</a:t>
            </a:r>
            <a:endParaRPr lang="en-US" sz="881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45145" y="4807915"/>
            <a:ext cx="578815" cy="0"/>
          </a:xfrm>
          <a:prstGeom prst="line">
            <a:avLst/>
          </a:prstGeom>
          <a:noFill/>
          <a:ln w="7620">
            <a:solidFill>
              <a:srgbClr val="4A5650"/>
            </a:solidFill>
            <a:prstDash val="solid"/>
          </a:ln>
        </p:spPr>
      </p:sp>
      <p:graphicFrame>
        <p:nvGraphicFramePr>
          <p:cNvPr id="3" name="Gráfico de la flota" descr=""/>
          <p:cNvGraphicFramePr/>
          <p:nvPr/>
        </p:nvGraphicFramePr>
        <p:xfrm>
          <a:off x="566928" y="1965960"/>
          <a:ext cx="51206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760720" y="1737360"/>
            <a:ext cx="0" cy="2606040"/>
          </a:xfrm>
          <a:prstGeom prst="line">
            <a:avLst/>
          </a:prstGeom>
          <a:noFill/>
          <a:ln w="9525">
            <a:solidFill>
              <a:srgbClr val="CFCAC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989320" y="2578608"/>
            <a:ext cx="2606040" cy="0"/>
          </a:xfrm>
          <a:prstGeom prst="line">
            <a:avLst/>
          </a:prstGeom>
          <a:noFill/>
          <a:ln w="9525">
            <a:solidFill>
              <a:srgbClr val="CFCAC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989320" y="3493008"/>
            <a:ext cx="2606040" cy="0"/>
          </a:xfrm>
          <a:prstGeom prst="line">
            <a:avLst/>
          </a:prstGeom>
          <a:noFill/>
          <a:ln w="9525">
            <a:solidFill>
              <a:srgbClr val="CFCAC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99699" y="4434840"/>
            <a:ext cx="7909560" cy="0"/>
          </a:xfrm>
          <a:prstGeom prst="line">
            <a:avLst/>
          </a:prstGeom>
          <a:noFill/>
          <a:ln w="9525">
            <a:solidFill>
              <a:srgbClr val="CFCAC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9699" y="465887"/>
            <a:ext cx="5486400" cy="191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40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RESULTADOS · FLOTA CON AVISO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79674" y="732434"/>
            <a:ext cx="8138160" cy="8298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7"/>
              </a:lnSpc>
              <a:buNone/>
            </a:pPr>
            <a:r>
              <a:rPr lang="en-US" sz="2940" b="1" spc="-100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aviso ayuda cuando la interferencia</a:t>
            </a:r>
            <a:endParaRPr lang="en-US" sz="2940" dirty="0"/>
          </a:p>
          <a:p>
            <a:pPr algn="l" indent="0" marL="0">
              <a:lnSpc>
                <a:spcPts val="3087"/>
              </a:lnSpc>
              <a:buNone/>
            </a:pPr>
            <a:r>
              <a:rPr lang="en-US" sz="2940" b="1" spc="-100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se nota antes de entrar</a:t>
            </a:r>
            <a:endParaRPr lang="en-US" sz="2940" dirty="0"/>
          </a:p>
        </p:txBody>
      </p:sp>
      <p:sp>
        <p:nvSpPr>
          <p:cNvPr id="10" name="Text 7"/>
          <p:cNvSpPr txBox="1"/>
          <p:nvPr/>
        </p:nvSpPr>
        <p:spPr>
          <a:xfrm>
            <a:off x="699699" y="1764792"/>
            <a:ext cx="4846320" cy="2090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Tasa de finalización de los UAV seguidores (2…N) · 4 UAV · 5 fallas</a:t>
            </a:r>
            <a:endParaRPr lang="en-US" sz="960" dirty="0"/>
          </a:p>
        </p:txBody>
      </p:sp>
      <p:sp>
        <p:nvSpPr>
          <p:cNvPr id="11" name="Text 8"/>
          <p:cNvSpPr txBox="1"/>
          <p:nvPr/>
        </p:nvSpPr>
        <p:spPr>
          <a:xfrm>
            <a:off x="5989320" y="1691640"/>
            <a:ext cx="2560320" cy="35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200" b="1" dirty="0">
                <a:solidFill>
                  <a:srgbClr val="4F67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+14 pp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5989320" y="2039112"/>
            <a:ext cx="265176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60" b="1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pPr algn="l" indent="0" marL="0">
              <a:lnSpc>
                <a:spcPts val="1240"/>
              </a:lnSpc>
              <a:buNone/>
            </a:pPr>
            <a:r>
              <a:rPr lang="en-US" sz="960" b="1" baseline="-40000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240"/>
              </a:lnSpc>
              <a:buNone/>
            </a:pPr>
            <a:r>
              <a:rPr lang="en-US" sz="960" b="1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− D con p</a:t>
            </a:r>
            <a:pPr algn="l" indent="0" marL="0">
              <a:lnSpc>
                <a:spcPts val="1240"/>
              </a:lnSpc>
              <a:buNone/>
            </a:pPr>
            <a:r>
              <a:rPr lang="en-US" sz="960" b="1" baseline="-40000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</a:t>
            </a:r>
            <a:pPr algn="l" indent="0" marL="0">
              <a:lnSpc>
                <a:spcPts val="1240"/>
              </a:lnSpc>
              <a:buNone/>
            </a:pPr>
            <a:r>
              <a:rPr lang="en-US" sz="960" b="1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0,5</a:t>
            </a:r>
            <a:endParaRPr lang="en-US" sz="960" dirty="0"/>
          </a:p>
        </p:txBody>
      </p:sp>
      <p:sp>
        <p:nvSpPr>
          <p:cNvPr id="13" name="Text 10"/>
          <p:cNvSpPr txBox="1"/>
          <p:nvPr/>
        </p:nvSpPr>
        <p:spPr>
          <a:xfrm>
            <a:off x="5989320" y="2194560"/>
            <a:ext cx="2651760" cy="195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9"/>
              </a:lnSpc>
              <a:buNone/>
            </a:pPr>
            <a:r>
              <a:rPr lang="en-US" sz="88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escenario-UAV ganados y 0 perdidos.</a:t>
            </a:r>
            <a:endParaRPr lang="en-US" sz="880" dirty="0"/>
          </a:p>
        </p:txBody>
      </p:sp>
      <p:sp>
        <p:nvSpPr>
          <p:cNvPr id="14" name="Text 11"/>
          <p:cNvSpPr txBox="1"/>
          <p:nvPr/>
        </p:nvSpPr>
        <p:spPr>
          <a:xfrm>
            <a:off x="5989320" y="2606040"/>
            <a:ext cx="2560320" cy="35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200" b="1" dirty="0">
                <a:solidFill>
                  <a:srgbClr val="2D60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5989320" y="2953512"/>
            <a:ext cx="265176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60" b="1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seguidores que empeoran</a:t>
            </a:r>
            <a:endParaRPr lang="en-US" sz="960" dirty="0"/>
          </a:p>
        </p:txBody>
      </p:sp>
      <p:sp>
        <p:nvSpPr>
          <p:cNvPr id="16" name="Text 13"/>
          <p:cNvSpPr txBox="1"/>
          <p:nvPr/>
        </p:nvSpPr>
        <p:spPr>
          <a:xfrm>
            <a:off x="5989320" y="3108960"/>
            <a:ext cx="2651760" cy="3452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9"/>
              </a:lnSpc>
              <a:buNone/>
            </a:pPr>
            <a:r>
              <a:rPr lang="en-US" sz="88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las 9 celdas del barrido, nadie</a:t>
            </a:r>
            <a:endParaRPr lang="en-US" sz="880" dirty="0"/>
          </a:p>
          <a:p>
            <a:pPr algn="l" indent="0" marL="0">
              <a:lnSpc>
                <a:spcPts val="1179"/>
              </a:lnSpc>
              <a:buNone/>
            </a:pPr>
            <a:r>
              <a:rPr lang="en-US" sz="88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pierde la misión por recibir el aviso.</a:t>
            </a:r>
            <a:endParaRPr lang="en-US" sz="880" dirty="0"/>
          </a:p>
        </p:txBody>
      </p:sp>
      <p:sp>
        <p:nvSpPr>
          <p:cNvPr id="17" name="Text 14"/>
          <p:cNvSpPr txBox="1"/>
          <p:nvPr/>
        </p:nvSpPr>
        <p:spPr>
          <a:xfrm>
            <a:off x="5989320" y="3520440"/>
            <a:ext cx="2560320" cy="35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200" b="1" dirty="0">
                <a:solidFill>
                  <a:srgbClr val="AB43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0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5989320" y="3867912"/>
            <a:ext cx="265176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960" b="1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p</a:t>
            </a:r>
            <a:pPr algn="l" indent="0" marL="0">
              <a:lnSpc>
                <a:spcPts val="1240"/>
              </a:lnSpc>
              <a:buNone/>
            </a:pPr>
            <a:r>
              <a:rPr lang="en-US" sz="960" b="1" baseline="-40000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</a:t>
            </a:r>
            <a:pPr algn="l" indent="0" marL="0">
              <a:lnSpc>
                <a:spcPts val="1240"/>
              </a:lnSpc>
              <a:buNone/>
            </a:pPr>
            <a:r>
              <a:rPr lang="en-US" sz="960" b="1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1</a:t>
            </a:r>
            <a:endParaRPr lang="en-US" sz="960" dirty="0"/>
          </a:p>
        </p:txBody>
      </p:sp>
      <p:sp>
        <p:nvSpPr>
          <p:cNvPr id="19" name="Text 16"/>
          <p:cNvSpPr txBox="1"/>
          <p:nvPr/>
        </p:nvSpPr>
        <p:spPr>
          <a:xfrm>
            <a:off x="5989320" y="4023360"/>
            <a:ext cx="2651760" cy="3452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9"/>
              </a:lnSpc>
              <a:buNone/>
            </a:pPr>
            <a:r>
              <a:rPr lang="en-US" sz="88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la zona se nota antes de entrar,</a:t>
            </a:r>
            <a:endParaRPr lang="en-US" sz="880" dirty="0"/>
          </a:p>
          <a:p>
            <a:pPr algn="l" indent="0" marL="0">
              <a:lnSpc>
                <a:spcPts val="1179"/>
              </a:lnSpc>
              <a:buNone/>
            </a:pPr>
            <a:r>
              <a:rPr lang="en-US" sz="88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UAV esquiva solo.</a:t>
            </a:r>
            <a:endParaRPr lang="en-US" sz="880" dirty="0"/>
          </a:p>
        </p:txBody>
      </p:sp>
      <p:sp>
        <p:nvSpPr>
          <p:cNvPr id="20" name="Text 17"/>
          <p:cNvSpPr txBox="1"/>
          <p:nvPr/>
        </p:nvSpPr>
        <p:spPr>
          <a:xfrm>
            <a:off x="699699" y="4507992"/>
            <a:ext cx="7589520" cy="195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9"/>
              </a:lnSpc>
              <a:buNone/>
            </a:pPr>
            <a:r>
              <a:rPr lang="en-US" sz="88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Conjunto de ajuste, 100 escenarios por celda, β = 0,60. El p de McNemar es orientativo: los UAV de un escenario comparten fallas.</a:t>
            </a:r>
            <a:endParaRPr lang="en-US" sz="880" dirty="0"/>
          </a:p>
        </p:txBody>
      </p:sp>
      <p:sp>
        <p:nvSpPr>
          <p:cNvPr id="21" name="Text 18"/>
          <p:cNvSpPr txBox="1"/>
          <p:nvPr/>
        </p:nvSpPr>
        <p:spPr>
          <a:xfrm>
            <a:off x="8303301" y="4835987"/>
            <a:ext cx="648950" cy="1673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/ 35</a:t>
            </a:r>
            <a:endParaRPr lang="en-US" sz="881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1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45145" y="4807915"/>
            <a:ext cx="578815" cy="0"/>
          </a:xfrm>
          <a:prstGeom prst="line">
            <a:avLst/>
          </a:prstGeom>
          <a:noFill/>
          <a:ln w="7620">
            <a:solidFill>
              <a:srgbClr val="4A56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9699" y="1682496"/>
            <a:ext cx="7909560" cy="0"/>
          </a:xfrm>
          <a:prstGeom prst="line">
            <a:avLst/>
          </a:prstGeom>
          <a:noFill/>
          <a:ln w="15875">
            <a:solidFill>
              <a:srgbClr val="2027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99699" y="2075688"/>
            <a:ext cx="7909560" cy="0"/>
          </a:xfrm>
          <a:prstGeom prst="line">
            <a:avLst/>
          </a:prstGeom>
          <a:noFill/>
          <a:ln w="9525">
            <a:solidFill>
              <a:srgbClr val="CFCA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9699" y="2450592"/>
            <a:ext cx="7909560" cy="0"/>
          </a:xfrm>
          <a:prstGeom prst="line">
            <a:avLst/>
          </a:prstGeom>
          <a:noFill/>
          <a:ln w="9525">
            <a:solidFill>
              <a:srgbClr val="CFCAC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9699" y="2825496"/>
            <a:ext cx="7909560" cy="0"/>
          </a:xfrm>
          <a:prstGeom prst="line">
            <a:avLst/>
          </a:prstGeom>
          <a:noFill/>
          <a:ln w="9525">
            <a:solidFill>
              <a:srgbClr val="CFCA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699" y="3200400"/>
            <a:ext cx="7909560" cy="0"/>
          </a:xfrm>
          <a:prstGeom prst="line">
            <a:avLst/>
          </a:prstGeom>
          <a:noFill/>
          <a:ln w="9525">
            <a:solidFill>
              <a:srgbClr val="CFCA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9699" y="3575304"/>
            <a:ext cx="7909560" cy="0"/>
          </a:xfrm>
          <a:prstGeom prst="line">
            <a:avLst/>
          </a:prstGeom>
          <a:noFill/>
          <a:ln w="9525">
            <a:solidFill>
              <a:srgbClr val="CFCAC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9699" y="3950208"/>
            <a:ext cx="7909560" cy="0"/>
          </a:xfrm>
          <a:prstGeom prst="line">
            <a:avLst/>
          </a:prstGeom>
          <a:noFill/>
          <a:ln w="9525">
            <a:solidFill>
              <a:srgbClr val="CFCAC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9699" y="4087368"/>
            <a:ext cx="36576" cy="475488"/>
          </a:xfrm>
          <a:prstGeom prst="rect">
            <a:avLst/>
          </a:prstGeom>
          <a:solidFill>
            <a:srgbClr val="AB43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9699" y="465887"/>
            <a:ext cx="5486400" cy="191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40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AUDITORÍA DE FUENTES · 22 OCT. 2026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679674" y="732434"/>
            <a:ext cx="8138160" cy="437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7"/>
              </a:lnSpc>
              <a:buNone/>
            </a:pPr>
            <a:r>
              <a:rPr lang="en-US" sz="2940" b="1" spc="-100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 fuentes no aportan lo mismo</a:t>
            </a:r>
            <a:endParaRPr lang="en-US" sz="2940" dirty="0"/>
          </a:p>
        </p:txBody>
      </p:sp>
      <p:sp>
        <p:nvSpPr>
          <p:cNvPr id="13" name="Text 11"/>
          <p:cNvSpPr txBox="1"/>
          <p:nvPr/>
        </p:nvSpPr>
        <p:spPr>
          <a:xfrm>
            <a:off x="699699" y="1161288"/>
            <a:ext cx="7772400" cy="2206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8"/>
              </a:lnSpc>
              <a:buNone/>
            </a:pPr>
            <a:r>
              <a:rPr lang="en-US" sz="1028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sobre la base cargada: 196 nodos, 618 tramos y 83 tramos excluidos por las restricciones.</a:t>
            </a:r>
            <a:endParaRPr lang="en-US" sz="1028" dirty="0"/>
          </a:p>
        </p:txBody>
      </p:sp>
      <p:sp>
        <p:nvSpPr>
          <p:cNvPr id="14" name="Text 12"/>
          <p:cNvSpPr txBox="1"/>
          <p:nvPr/>
        </p:nvSpPr>
        <p:spPr>
          <a:xfrm>
            <a:off x="699699" y="1472184"/>
            <a:ext cx="1371600" cy="157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2"/>
              </a:lnSpc>
              <a:buNone/>
            </a:pPr>
            <a:r>
              <a:rPr lang="en-US" sz="735" b="1" spc="50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Fuente</a:t>
            </a:r>
            <a:endParaRPr lang="en-US" sz="735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1472184"/>
            <a:ext cx="1463040" cy="157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2"/>
              </a:lnSpc>
              <a:buNone/>
            </a:pPr>
            <a:r>
              <a:rPr lang="en-US" sz="735" b="1" spc="50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¿Discrimina?</a:t>
            </a:r>
            <a:endParaRPr lang="en-US" sz="735" dirty="0"/>
          </a:p>
        </p:txBody>
      </p:sp>
      <p:sp>
        <p:nvSpPr>
          <p:cNvPr id="16" name="Text 14"/>
          <p:cNvSpPr txBox="1"/>
          <p:nvPr/>
        </p:nvSpPr>
        <p:spPr>
          <a:xfrm>
            <a:off x="3977640" y="1472184"/>
            <a:ext cx="1463040" cy="157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2"/>
              </a:lnSpc>
              <a:buNone/>
            </a:pPr>
            <a:r>
              <a:rPr lang="en-US" sz="735" b="1" spc="50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Evidencia</a:t>
            </a:r>
            <a:endParaRPr lang="en-US" sz="735" dirty="0"/>
          </a:p>
        </p:txBody>
      </p:sp>
      <p:sp>
        <p:nvSpPr>
          <p:cNvPr id="17" name="Text 15"/>
          <p:cNvSpPr txBox="1"/>
          <p:nvPr/>
        </p:nvSpPr>
        <p:spPr>
          <a:xfrm>
            <a:off x="699699" y="1792224"/>
            <a:ext cx="164592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Edificios OSM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1824228"/>
            <a:ext cx="1645920" cy="1798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b="1" spc="50" kern="0" dirty="0">
                <a:solidFill>
                  <a:srgbClr val="4F6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SÍ, DECISIVO</a:t>
            </a:r>
            <a:endParaRPr lang="en-US" sz="880" dirty="0"/>
          </a:p>
        </p:txBody>
      </p:sp>
      <p:sp>
        <p:nvSpPr>
          <p:cNvPr id="19" name="Text 17"/>
          <p:cNvSpPr txBox="1"/>
          <p:nvPr/>
        </p:nvSpPr>
        <p:spPr>
          <a:xfrm>
            <a:off x="3977640" y="1819656"/>
            <a:ext cx="4663440" cy="2090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de 83 exclusiones necesitan la altura; solo 1 019 de 33 630 edificios la tienen.</a:t>
            </a:r>
            <a:endParaRPr lang="en-US" sz="960" dirty="0"/>
          </a:p>
        </p:txBody>
      </p:sp>
      <p:sp>
        <p:nvSpPr>
          <p:cNvPr id="20" name="Text 18"/>
          <p:cNvSpPr txBox="1"/>
          <p:nvPr/>
        </p:nvSpPr>
        <p:spPr>
          <a:xfrm>
            <a:off x="699699" y="2167128"/>
            <a:ext cx="164592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UCDP GED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2199132"/>
            <a:ext cx="1645920" cy="1798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b="1" spc="50" kern="0" dirty="0">
                <a:solidFill>
                  <a:srgbClr val="4F67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SÍ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3977640" y="2194560"/>
            <a:ext cx="4663440" cy="2090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316 valores distintos entre los 618 tramos; 64 de 65 eventos dentro del AOI.</a:t>
            </a:r>
            <a:endParaRPr lang="en-US" sz="960" dirty="0"/>
          </a:p>
        </p:txBody>
      </p:sp>
      <p:sp>
        <p:nvSpPr>
          <p:cNvPr id="23" name="Text 21"/>
          <p:cNvSpPr txBox="1"/>
          <p:nvPr/>
        </p:nvSpPr>
        <p:spPr>
          <a:xfrm>
            <a:off x="699699" y="2542032"/>
            <a:ext cx="164592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Elevación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2574036"/>
            <a:ext cx="1645920" cy="1798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b="1" spc="50" kern="0" dirty="0">
                <a:solidFill>
                  <a:srgbClr val="8862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POCO, SOLA</a:t>
            </a:r>
            <a:endParaRPr lang="en-US" sz="880" dirty="0"/>
          </a:p>
        </p:txBody>
      </p:sp>
      <p:sp>
        <p:nvSpPr>
          <p:cNvPr id="25" name="Text 23"/>
          <p:cNvSpPr txBox="1"/>
          <p:nvPr/>
        </p:nvSpPr>
        <p:spPr>
          <a:xfrm>
            <a:off x="3977640" y="2569464"/>
            <a:ext cx="4663440" cy="2090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Desnivel total de 57 m; solo 4 exclusiones se explican por el relieve.</a:t>
            </a:r>
            <a:endParaRPr lang="en-US" sz="960" dirty="0"/>
          </a:p>
        </p:txBody>
      </p:sp>
      <p:sp>
        <p:nvSpPr>
          <p:cNvPr id="26" name="Text 24"/>
          <p:cNvSpPr txBox="1"/>
          <p:nvPr/>
        </p:nvSpPr>
        <p:spPr>
          <a:xfrm>
            <a:off x="699699" y="2916936"/>
            <a:ext cx="164592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Incendios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2948940"/>
            <a:ext cx="1645920" cy="1798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b="1" spc="50" kern="0" dirty="0">
                <a:solidFill>
                  <a:srgbClr val="8862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POCO</a:t>
            </a:r>
            <a:endParaRPr lang="en-US" sz="880" dirty="0"/>
          </a:p>
        </p:txBody>
      </p:sp>
      <p:sp>
        <p:nvSpPr>
          <p:cNvPr id="28" name="Text 26"/>
          <p:cNvSpPr txBox="1"/>
          <p:nvPr/>
        </p:nvSpPr>
        <p:spPr>
          <a:xfrm>
            <a:off x="3977640" y="2944368"/>
            <a:ext cx="4663440" cy="2090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7 de los 26 focos históricos están a menos de 1,5 km de algún tramo.</a:t>
            </a:r>
            <a:endParaRPr lang="en-US" sz="960" dirty="0"/>
          </a:p>
        </p:txBody>
      </p:sp>
      <p:sp>
        <p:nvSpPr>
          <p:cNvPr id="29" name="Text 27"/>
          <p:cNvSpPr txBox="1"/>
          <p:nvPr/>
        </p:nvSpPr>
        <p:spPr>
          <a:xfrm>
            <a:off x="699699" y="3291840"/>
            <a:ext cx="164592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Viento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2331720" y="3323844"/>
            <a:ext cx="1645920" cy="1798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b="1" spc="50" kern="0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NUNCA RESTRINGE</a:t>
            </a:r>
            <a:endParaRPr lang="en-US" sz="880" dirty="0"/>
          </a:p>
        </p:txBody>
      </p:sp>
      <p:sp>
        <p:nvSpPr>
          <p:cNvPr id="31" name="Text 29"/>
          <p:cNvSpPr txBox="1"/>
          <p:nvPr/>
        </p:nvSpPr>
        <p:spPr>
          <a:xfrm>
            <a:off x="3977640" y="3319272"/>
            <a:ext cx="4663440" cy="2090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Mediana de 6,43 m/s a 60 m contra un umbral de 12; solo inclina el costo.</a:t>
            </a:r>
            <a:endParaRPr lang="en-US" sz="960" dirty="0"/>
          </a:p>
        </p:txBody>
      </p:sp>
      <p:sp>
        <p:nvSpPr>
          <p:cNvPr id="32" name="Text 30"/>
          <p:cNvSpPr txBox="1"/>
          <p:nvPr/>
        </p:nvSpPr>
        <p:spPr>
          <a:xfrm>
            <a:off x="699699" y="3666744"/>
            <a:ext cx="164592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GPSJam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2331720" y="3698748"/>
            <a:ext cx="1645920" cy="1798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b="1" spc="50" kern="0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DISCRIMINA</a:t>
            </a:r>
            <a:endParaRPr lang="en-US" sz="880" dirty="0"/>
          </a:p>
        </p:txBody>
      </p:sp>
      <p:sp>
        <p:nvSpPr>
          <p:cNvPr id="34" name="Text 32"/>
          <p:cNvSpPr txBox="1"/>
          <p:nvPr/>
        </p:nvSpPr>
        <p:spPr>
          <a:xfrm>
            <a:off x="3977640" y="3694176"/>
            <a:ext cx="4663440" cy="2090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0,3333 en los 618 tramos: el AOI cabe en una celda H3 de ~1 775 km².</a:t>
            </a:r>
            <a:endParaRPr lang="en-US" sz="960" dirty="0"/>
          </a:p>
        </p:txBody>
      </p:sp>
      <p:sp>
        <p:nvSpPr>
          <p:cNvPr id="35" name="Text 33"/>
          <p:cNvSpPr txBox="1"/>
          <p:nvPr/>
        </p:nvSpPr>
        <p:spPr>
          <a:xfrm>
            <a:off x="804672" y="4114800"/>
            <a:ext cx="786384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60" b="1" dirty="0">
                <a:solidFill>
                  <a:srgbClr val="AB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Zonas restringidas: </a:t>
            </a:r>
            <a:pPr algn="l" indent="0" marL="0">
              <a:lnSpc>
                <a:spcPts val="1290"/>
              </a:lnSpc>
              <a:buNone/>
            </a:pPr>
            <a:r>
              <a:rPr lang="en-US" sz="960" dirty="0">
                <a:solidFill>
                  <a:srgbClr val="2027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campo en_zona_restringida es falso en los 618 tramos; la preferencia existe, pero ninguna fuente la activa.</a:t>
            </a:r>
            <a:endParaRPr lang="en-US" sz="960" dirty="0"/>
          </a:p>
        </p:txBody>
      </p:sp>
      <p:sp>
        <p:nvSpPr>
          <p:cNvPr id="36" name="Text 34"/>
          <p:cNvSpPr txBox="1"/>
          <p:nvPr/>
        </p:nvSpPr>
        <p:spPr>
          <a:xfrm>
            <a:off x="804672" y="4370832"/>
            <a:ext cx="7863840" cy="2090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6"/>
              </a:lnSpc>
              <a:buNone/>
            </a:pPr>
            <a:r>
              <a:rPr lang="en-US" sz="96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GPSJam sube el riesgo medio de ~0,18 a 0,4511 sin cambiar el orden de ningún tramo: esa cifra no mide amenaza.</a:t>
            </a:r>
            <a:endParaRPr lang="en-US" sz="960" dirty="0"/>
          </a:p>
        </p:txBody>
      </p:sp>
      <p:sp>
        <p:nvSpPr>
          <p:cNvPr id="37" name="Text 35"/>
          <p:cNvSpPr txBox="1"/>
          <p:nvPr/>
        </p:nvSpPr>
        <p:spPr>
          <a:xfrm>
            <a:off x="8303301" y="4835987"/>
            <a:ext cx="648950" cy="1673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/ 35</a:t>
            </a:r>
            <a:endParaRPr lang="en-US" sz="881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1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45145" y="4807915"/>
            <a:ext cx="578815" cy="0"/>
          </a:xfrm>
          <a:prstGeom prst="line">
            <a:avLst/>
          </a:prstGeom>
          <a:noFill/>
          <a:ln w="7620">
            <a:solidFill>
              <a:srgbClr val="4A56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9699" y="1755648"/>
            <a:ext cx="3840480" cy="0"/>
          </a:xfrm>
          <a:prstGeom prst="line">
            <a:avLst/>
          </a:prstGeom>
          <a:noFill/>
          <a:ln w="9525">
            <a:solidFill>
              <a:srgbClr val="CFCA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68779" y="1755648"/>
            <a:ext cx="3840480" cy="0"/>
          </a:xfrm>
          <a:prstGeom prst="line">
            <a:avLst/>
          </a:prstGeom>
          <a:noFill/>
          <a:ln w="9525">
            <a:solidFill>
              <a:srgbClr val="CFCA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9699" y="2651760"/>
            <a:ext cx="3840480" cy="0"/>
          </a:xfrm>
          <a:prstGeom prst="line">
            <a:avLst/>
          </a:prstGeom>
          <a:noFill/>
          <a:ln w="9525">
            <a:solidFill>
              <a:srgbClr val="CFCAC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68779" y="2651760"/>
            <a:ext cx="3840480" cy="0"/>
          </a:xfrm>
          <a:prstGeom prst="line">
            <a:avLst/>
          </a:prstGeom>
          <a:noFill/>
          <a:ln w="9525">
            <a:solidFill>
              <a:srgbClr val="CFCA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699" y="3547872"/>
            <a:ext cx="3840480" cy="0"/>
          </a:xfrm>
          <a:prstGeom prst="line">
            <a:avLst/>
          </a:prstGeom>
          <a:noFill/>
          <a:ln w="9525">
            <a:solidFill>
              <a:srgbClr val="CFCA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68779" y="3547872"/>
            <a:ext cx="3840480" cy="0"/>
          </a:xfrm>
          <a:prstGeom prst="line">
            <a:avLst/>
          </a:prstGeom>
          <a:noFill/>
          <a:ln w="9525">
            <a:solidFill>
              <a:srgbClr val="CFCAC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9699" y="4443984"/>
            <a:ext cx="3840480" cy="0"/>
          </a:xfrm>
          <a:prstGeom prst="line">
            <a:avLst/>
          </a:prstGeom>
          <a:noFill/>
          <a:ln w="9525">
            <a:solidFill>
              <a:srgbClr val="CFCAC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68779" y="4443984"/>
            <a:ext cx="3840480" cy="0"/>
          </a:xfrm>
          <a:prstGeom prst="line">
            <a:avLst/>
          </a:prstGeom>
          <a:noFill/>
          <a:ln w="9525">
            <a:solidFill>
              <a:srgbClr val="CFCA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9699" y="465887"/>
            <a:ext cx="5486400" cy="191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40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SIGUIENTE ETAPA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679674" y="732434"/>
            <a:ext cx="8138160" cy="437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87"/>
              </a:lnSpc>
              <a:buNone/>
            </a:pPr>
            <a:r>
              <a:rPr lang="en-US" sz="2940" b="1" spc="-100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Próximos pasos</a:t>
            </a:r>
            <a:endParaRPr lang="en-US" sz="2940" dirty="0"/>
          </a:p>
        </p:txBody>
      </p:sp>
      <p:sp>
        <p:nvSpPr>
          <p:cNvPr id="13" name="Text 11"/>
          <p:cNvSpPr txBox="1"/>
          <p:nvPr/>
        </p:nvSpPr>
        <p:spPr>
          <a:xfrm>
            <a:off x="699699" y="1216152"/>
            <a:ext cx="7772400" cy="297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3"/>
              </a:lnSpc>
              <a:buNone/>
            </a:pPr>
            <a:r>
              <a:rPr lang="en-US" sz="1469" b="1" dirty="0">
                <a:solidFill>
                  <a:srgbClr val="8D90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falta para cerrar la evaluación y mejorar los datos.</a:t>
            </a:r>
            <a:endParaRPr lang="en-US" sz="1469" dirty="0"/>
          </a:p>
        </p:txBody>
      </p:sp>
      <p:sp>
        <p:nvSpPr>
          <p:cNvPr id="14" name="Text 12"/>
          <p:cNvSpPr txBox="1"/>
          <p:nvPr/>
        </p:nvSpPr>
        <p:spPr>
          <a:xfrm>
            <a:off x="699699" y="1901952"/>
            <a:ext cx="365760" cy="192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60" b="1" spc="50" kern="0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1156899" y="1874520"/>
            <a:ext cx="3474720" cy="247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6"/>
              </a:lnSpc>
              <a:buNone/>
            </a:pPr>
            <a:r>
              <a:rPr lang="en-US" sz="132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Evaluación reservada</a:t>
            </a:r>
            <a:endParaRPr lang="en-US" sz="1322" dirty="0"/>
          </a:p>
        </p:txBody>
      </p:sp>
      <p:sp>
        <p:nvSpPr>
          <p:cNvPr id="16" name="Text 14"/>
          <p:cNvSpPr txBox="1"/>
          <p:nvPr/>
        </p:nvSpPr>
        <p:spPr>
          <a:xfrm>
            <a:off x="1156899" y="2121408"/>
            <a:ext cx="3520440" cy="3588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3"/>
              </a:lnSpc>
              <a:buNone/>
            </a:pPr>
            <a:r>
              <a:rPr lang="en-US" sz="92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Congelar parámetros y correr una sola vez las semillas</a:t>
            </a:r>
            <a:endParaRPr lang="en-US" sz="920" dirty="0"/>
          </a:p>
          <a:p>
            <a:pPr algn="l" indent="0" marL="0">
              <a:lnSpc>
                <a:spcPts val="1233"/>
              </a:lnSpc>
              <a:buNone/>
            </a:pPr>
            <a:r>
              <a:rPr lang="en-US" sz="92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10 000–10 299. Es una decisión del grupo.</a:t>
            </a:r>
            <a:endParaRPr lang="en-US" sz="920" dirty="0"/>
          </a:p>
        </p:txBody>
      </p:sp>
      <p:sp>
        <p:nvSpPr>
          <p:cNvPr id="17" name="Text 15"/>
          <p:cNvSpPr txBox="1"/>
          <p:nvPr/>
        </p:nvSpPr>
        <p:spPr>
          <a:xfrm>
            <a:off x="4768779" y="1901952"/>
            <a:ext cx="365760" cy="192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60" b="1" spc="50" kern="0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60" dirty="0"/>
          </a:p>
        </p:txBody>
      </p:sp>
      <p:sp>
        <p:nvSpPr>
          <p:cNvPr id="18" name="Text 16"/>
          <p:cNvSpPr txBox="1"/>
          <p:nvPr/>
        </p:nvSpPr>
        <p:spPr>
          <a:xfrm>
            <a:off x="5225979" y="1874520"/>
            <a:ext cx="3474720" cy="247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6"/>
              </a:lnSpc>
              <a:buNone/>
            </a:pPr>
            <a:r>
              <a:rPr lang="en-US" sz="132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Zonas restringidas</a:t>
            </a:r>
            <a:endParaRPr lang="en-US" sz="1322" dirty="0"/>
          </a:p>
        </p:txBody>
      </p:sp>
      <p:sp>
        <p:nvSpPr>
          <p:cNvPr id="19" name="Text 17"/>
          <p:cNvSpPr txBox="1"/>
          <p:nvPr/>
        </p:nvSpPr>
        <p:spPr>
          <a:xfrm>
            <a:off x="5225979" y="2121408"/>
            <a:ext cx="3520440" cy="3588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3"/>
              </a:lnSpc>
              <a:buNone/>
            </a:pPr>
            <a:r>
              <a:rPr lang="en-US" sz="92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Cargar aeródromos y áreas de acceso restringido de OSM:</a:t>
            </a:r>
            <a:endParaRPr lang="en-US" sz="920" dirty="0"/>
          </a:p>
          <a:p>
            <a:pPr algn="l" indent="0" marL="0">
              <a:lnSpc>
                <a:spcPts val="1233"/>
              </a:lnSpc>
              <a:buNone/>
            </a:pPr>
            <a:r>
              <a:rPr lang="en-US" sz="92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la preferencia no excluye ningún tramo.</a:t>
            </a:r>
            <a:endParaRPr lang="en-US" sz="920" dirty="0"/>
          </a:p>
        </p:txBody>
      </p:sp>
      <p:sp>
        <p:nvSpPr>
          <p:cNvPr id="20" name="Text 18"/>
          <p:cNvSpPr txBox="1"/>
          <p:nvPr/>
        </p:nvSpPr>
        <p:spPr>
          <a:xfrm>
            <a:off x="699699" y="2798064"/>
            <a:ext cx="365760" cy="192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60" b="1" spc="50" kern="0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60" dirty="0"/>
          </a:p>
        </p:txBody>
      </p:sp>
      <p:sp>
        <p:nvSpPr>
          <p:cNvPr id="21" name="Text 19"/>
          <p:cNvSpPr txBox="1"/>
          <p:nvPr/>
        </p:nvSpPr>
        <p:spPr>
          <a:xfrm>
            <a:off x="1156899" y="2770632"/>
            <a:ext cx="3474720" cy="247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6"/>
              </a:lnSpc>
              <a:buNone/>
            </a:pPr>
            <a:r>
              <a:rPr lang="en-US" sz="132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GPSJam y viento</a:t>
            </a:r>
            <a:endParaRPr lang="en-US" sz="1322" dirty="0"/>
          </a:p>
        </p:txBody>
      </p:sp>
      <p:sp>
        <p:nvSpPr>
          <p:cNvPr id="22" name="Text 20"/>
          <p:cNvSpPr txBox="1"/>
          <p:nvPr/>
        </p:nvSpPr>
        <p:spPr>
          <a:xfrm>
            <a:off x="1156899" y="3017520"/>
            <a:ext cx="3520440" cy="3588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3"/>
              </a:lnSpc>
              <a:buNone/>
            </a:pPr>
            <a:r>
              <a:rPr lang="en-US" sz="92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Sacar GPSJam del puntaje (es constante) y restringir el</a:t>
            </a:r>
            <a:endParaRPr lang="en-US" sz="920" dirty="0"/>
          </a:p>
          <a:p>
            <a:pPr algn="l" indent="0" marL="0">
              <a:lnSpc>
                <a:spcPts val="1233"/>
              </a:lnSpc>
              <a:buNone/>
            </a:pPr>
            <a:r>
              <a:rPr lang="en-US" sz="92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viento con p95 o ráfaga, no con la mediana.</a:t>
            </a:r>
            <a:endParaRPr lang="en-US" sz="920" dirty="0"/>
          </a:p>
        </p:txBody>
      </p:sp>
      <p:sp>
        <p:nvSpPr>
          <p:cNvPr id="23" name="Text 21"/>
          <p:cNvSpPr txBox="1"/>
          <p:nvPr/>
        </p:nvSpPr>
        <p:spPr>
          <a:xfrm>
            <a:off x="4768779" y="2798064"/>
            <a:ext cx="365760" cy="192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60" b="1" spc="50" kern="0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60" dirty="0"/>
          </a:p>
        </p:txBody>
      </p:sp>
      <p:sp>
        <p:nvSpPr>
          <p:cNvPr id="24" name="Text 22"/>
          <p:cNvSpPr txBox="1"/>
          <p:nvPr/>
        </p:nvSpPr>
        <p:spPr>
          <a:xfrm>
            <a:off x="5225979" y="2770632"/>
            <a:ext cx="3474720" cy="247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6"/>
              </a:lnSpc>
              <a:buNone/>
            </a:pPr>
            <a:r>
              <a:rPr lang="en-US" sz="132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Focos fuera de la malla</a:t>
            </a:r>
            <a:endParaRPr lang="en-US" sz="1322" dirty="0"/>
          </a:p>
        </p:txBody>
      </p:sp>
      <p:sp>
        <p:nvSpPr>
          <p:cNvPr id="25" name="Text 23"/>
          <p:cNvSpPr txBox="1"/>
          <p:nvPr/>
        </p:nvSpPr>
        <p:spPr>
          <a:xfrm>
            <a:off x="5225979" y="3017520"/>
            <a:ext cx="3520440" cy="3588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3"/>
              </a:lnSpc>
              <a:buNone/>
            </a:pPr>
            <a:r>
              <a:rPr lang="en-US" sz="92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Volver a sortear el foco que cae fuera de la caja en vez</a:t>
            </a:r>
            <a:endParaRPr lang="en-US" sz="920" dirty="0"/>
          </a:p>
          <a:p>
            <a:pPr algn="l" indent="0" marL="0">
              <a:lnSpc>
                <a:spcPts val="1233"/>
              </a:lnSpc>
              <a:buNone/>
            </a:pPr>
            <a:r>
              <a:rPr lang="en-US" sz="92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recortarlo al borde.</a:t>
            </a:r>
            <a:endParaRPr lang="en-US" sz="920" dirty="0"/>
          </a:p>
        </p:txBody>
      </p:sp>
      <p:sp>
        <p:nvSpPr>
          <p:cNvPr id="26" name="Text 24"/>
          <p:cNvSpPr txBox="1"/>
          <p:nvPr/>
        </p:nvSpPr>
        <p:spPr>
          <a:xfrm>
            <a:off x="699699" y="3694176"/>
            <a:ext cx="365760" cy="192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60" b="1" spc="50" kern="0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60" dirty="0"/>
          </a:p>
        </p:txBody>
      </p:sp>
      <p:sp>
        <p:nvSpPr>
          <p:cNvPr id="27" name="Text 25"/>
          <p:cNvSpPr txBox="1"/>
          <p:nvPr/>
        </p:nvSpPr>
        <p:spPr>
          <a:xfrm>
            <a:off x="1156899" y="3666744"/>
            <a:ext cx="3474720" cy="247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6"/>
              </a:lnSpc>
              <a:buNone/>
            </a:pPr>
            <a:r>
              <a:rPr lang="en-US" sz="132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GitLab UDP</a:t>
            </a:r>
            <a:endParaRPr lang="en-US" sz="1322" dirty="0"/>
          </a:p>
        </p:txBody>
      </p:sp>
      <p:sp>
        <p:nvSpPr>
          <p:cNvPr id="28" name="Text 26"/>
          <p:cNvSpPr txBox="1"/>
          <p:nvPr/>
        </p:nvSpPr>
        <p:spPr>
          <a:xfrm>
            <a:off x="1156899" y="3913632"/>
            <a:ext cx="3520440" cy="2022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3"/>
              </a:lnSpc>
              <a:buNone/>
            </a:pPr>
            <a:r>
              <a:rPr lang="en-US" sz="92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Subir la versión evaluada: el remoto actual es GitHub.</a:t>
            </a:r>
            <a:endParaRPr lang="en-US" sz="920" dirty="0"/>
          </a:p>
        </p:txBody>
      </p:sp>
      <p:sp>
        <p:nvSpPr>
          <p:cNvPr id="29" name="Text 27"/>
          <p:cNvSpPr txBox="1"/>
          <p:nvPr/>
        </p:nvSpPr>
        <p:spPr>
          <a:xfrm>
            <a:off x="4768779" y="3694176"/>
            <a:ext cx="365760" cy="192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60" b="1" spc="50" kern="0" dirty="0">
                <a:solidFill>
                  <a:srgbClr val="AB4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60" dirty="0"/>
          </a:p>
        </p:txBody>
      </p:sp>
      <p:sp>
        <p:nvSpPr>
          <p:cNvPr id="30" name="Text 28"/>
          <p:cNvSpPr txBox="1"/>
          <p:nvPr/>
        </p:nvSpPr>
        <p:spPr>
          <a:xfrm>
            <a:off x="5225979" y="3666744"/>
            <a:ext cx="3474720" cy="247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86"/>
              </a:lnSpc>
              <a:buNone/>
            </a:pPr>
            <a:r>
              <a:rPr lang="en-US" sz="1322" b="1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Trabajo futuro</a:t>
            </a:r>
            <a:endParaRPr lang="en-US" sz="1322" dirty="0"/>
          </a:p>
        </p:txBody>
      </p:sp>
      <p:sp>
        <p:nvSpPr>
          <p:cNvPr id="31" name="Text 29"/>
          <p:cNvSpPr txBox="1"/>
          <p:nvPr/>
        </p:nvSpPr>
        <p:spPr>
          <a:xfrm>
            <a:off x="5225979" y="3913632"/>
            <a:ext cx="3520440" cy="3588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3"/>
              </a:lnSpc>
              <a:buNone/>
            </a:pPr>
            <a:r>
              <a:rPr lang="en-US" sz="92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Defensa antiaérea como causa de pérdida. No hay fuente</a:t>
            </a:r>
            <a:endParaRPr lang="en-US" sz="920" dirty="0"/>
          </a:p>
          <a:p>
            <a:pPr algn="l" indent="0" marL="0">
              <a:lnSpc>
                <a:spcPts val="1233"/>
              </a:lnSpc>
              <a:buNone/>
            </a:pPr>
            <a:r>
              <a:rPr lang="en-US" sz="920" dirty="0">
                <a:solidFill>
                  <a:srgbClr val="4B5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pública; el aviso por silencio ya reacciona sin suponer la causa.</a:t>
            </a:r>
            <a:endParaRPr lang="en-US" sz="920" dirty="0"/>
          </a:p>
        </p:txBody>
      </p:sp>
      <p:sp>
        <p:nvSpPr>
          <p:cNvPr id="32" name="Text 30"/>
          <p:cNvSpPr txBox="1"/>
          <p:nvPr/>
        </p:nvSpPr>
        <p:spPr>
          <a:xfrm>
            <a:off x="8303301" y="4835987"/>
            <a:ext cx="648950" cy="1673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 / 35</a:t>
            </a:r>
            <a:endParaRPr lang="en-US" sz="881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562527" y="3516234"/>
            <a:ext cx="121067" cy="859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2"/>
              </a:lnSpc>
              <a:buNone/>
            </a:pPr>
            <a:r>
              <a:rPr lang="en-US" sz="451" b="1" dirty="0">
                <a:solidFill>
                  <a:srgbClr val="5B5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451" dirty="0"/>
          </a:p>
        </p:txBody>
      </p:sp>
      <p:sp>
        <p:nvSpPr>
          <p:cNvPr id="3" name="Text 1"/>
          <p:cNvSpPr txBox="1"/>
          <p:nvPr/>
        </p:nvSpPr>
        <p:spPr>
          <a:xfrm>
            <a:off x="2239274" y="1981048"/>
            <a:ext cx="153345" cy="859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2"/>
              </a:lnSpc>
              <a:buNone/>
            </a:pPr>
            <a:r>
              <a:rPr lang="en-US" sz="451" b="1" dirty="0">
                <a:solidFill>
                  <a:srgbClr val="2026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451" dirty="0"/>
          </a:p>
        </p:txBody>
      </p:sp>
      <p:sp>
        <p:nvSpPr>
          <p:cNvPr id="4" name="Text 2"/>
          <p:cNvSpPr txBox="1"/>
          <p:nvPr/>
        </p:nvSpPr>
        <p:spPr>
          <a:xfrm>
            <a:off x="2918490" y="3006456"/>
            <a:ext cx="153345" cy="859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2"/>
              </a:lnSpc>
              <a:buNone/>
            </a:pPr>
            <a:r>
              <a:rPr lang="en-US" sz="451" b="1" dirty="0">
                <a:solidFill>
                  <a:srgbClr val="2026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451" dirty="0"/>
          </a:p>
        </p:txBody>
      </p:sp>
      <p:sp>
        <p:nvSpPr>
          <p:cNvPr id="5" name="Text 3"/>
          <p:cNvSpPr txBox="1"/>
          <p:nvPr/>
        </p:nvSpPr>
        <p:spPr>
          <a:xfrm>
            <a:off x="3330885" y="1837670"/>
            <a:ext cx="153253" cy="859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2"/>
              </a:lnSpc>
              <a:buNone/>
            </a:pPr>
            <a:r>
              <a:rPr lang="en-US" sz="451" b="1" dirty="0">
                <a:solidFill>
                  <a:srgbClr val="2026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451" dirty="0"/>
          </a:p>
        </p:txBody>
      </p:sp>
      <p:sp>
        <p:nvSpPr>
          <p:cNvPr id="6" name="Text 4"/>
          <p:cNvSpPr txBox="1"/>
          <p:nvPr/>
        </p:nvSpPr>
        <p:spPr>
          <a:xfrm>
            <a:off x="3536076" y="1587124"/>
            <a:ext cx="121067" cy="859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2"/>
              </a:lnSpc>
              <a:buNone/>
            </a:pPr>
            <a:r>
              <a:rPr lang="en-US" sz="451" b="1" dirty="0">
                <a:solidFill>
                  <a:srgbClr val="595C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451" dirty="0"/>
          </a:p>
        </p:txBody>
      </p:sp>
      <p:sp>
        <p:nvSpPr>
          <p:cNvPr id="7" name="Text 5"/>
          <p:cNvSpPr txBox="1"/>
          <p:nvPr/>
        </p:nvSpPr>
        <p:spPr>
          <a:xfrm>
            <a:off x="5002865" y="1565453"/>
            <a:ext cx="633496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27" kern="0" dirty="0">
                <a:solidFill>
                  <a:srgbClr val="D5B1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CIERRE</a:t>
            </a:r>
            <a:endParaRPr lang="en-US" sz="960" dirty="0"/>
          </a:p>
        </p:txBody>
      </p:sp>
      <p:sp>
        <p:nvSpPr>
          <p:cNvPr id="8" name="Text 6"/>
          <p:cNvSpPr txBox="1"/>
          <p:nvPr/>
        </p:nvSpPr>
        <p:spPr>
          <a:xfrm>
            <a:off x="4980554" y="1841236"/>
            <a:ext cx="2104309" cy="1066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73"/>
              </a:lnSpc>
              <a:buNone/>
            </a:pPr>
            <a:r>
              <a:rPr lang="en-US" sz="3526" b="1" spc="-103" kern="0" dirty="0">
                <a:solidFill>
                  <a:srgbClr val="F9F7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Muchas</a:t>
            </a:r>
            <a:endParaRPr lang="en-US" sz="3526" dirty="0"/>
          </a:p>
          <a:p>
            <a:pPr algn="l" indent="0" marL="0">
              <a:lnSpc>
                <a:spcPts val="3673"/>
              </a:lnSpc>
              <a:buNone/>
            </a:pPr>
            <a:r>
              <a:rPr lang="en-US" sz="3526" b="1" spc="-108" kern="0" dirty="0">
                <a:solidFill>
                  <a:srgbClr val="F9F7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Gracias!</a:t>
            </a:r>
            <a:endParaRPr lang="en-US" sz="3526" dirty="0"/>
          </a:p>
        </p:txBody>
      </p:sp>
      <p:sp>
        <p:nvSpPr>
          <p:cNvPr id="9" name="Text 7"/>
          <p:cNvSpPr txBox="1"/>
          <p:nvPr/>
        </p:nvSpPr>
        <p:spPr>
          <a:xfrm>
            <a:off x="5002865" y="3004078"/>
            <a:ext cx="3767237" cy="2944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8"/>
              </a:lnSpc>
              <a:buNone/>
            </a:pPr>
            <a:r>
              <a:rPr lang="en-US" sz="881" spc="35" kern="0" dirty="0">
                <a:solidFill>
                  <a:srgbClr val="626F6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Universidad Diego Portales · Algoritmos de Ruteo y</a:t>
            </a:r>
            <a:endParaRPr lang="en-US" sz="881" dirty="0"/>
          </a:p>
          <a:p>
            <a:pPr algn="l" indent="0" marL="0">
              <a:lnSpc>
                <a:spcPts val="1028"/>
              </a:lnSpc>
              <a:buNone/>
            </a:pPr>
            <a:r>
              <a:rPr lang="en-US" sz="881" spc="33" kern="0" dirty="0">
                <a:solidFill>
                  <a:srgbClr val="626F6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Redes Resilientes</a:t>
            </a:r>
            <a:endParaRPr lang="en-US" sz="881" dirty="0"/>
          </a:p>
        </p:txBody>
      </p:sp>
      <p:sp>
        <p:nvSpPr>
          <p:cNvPr id="10" name="Text 8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F9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/ 35</a:t>
            </a:r>
            <a:endParaRPr lang="en-US" sz="881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3738" y="754746"/>
            <a:ext cx="3030779" cy="18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960" b="1" spc="143" kern="0" dirty="0">
                <a:solidFill>
                  <a:srgbClr val="2D60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BIBLIOGRAFÍA · DATOS · CRÉDITOS</a:t>
            </a:r>
            <a:endParaRPr lang="en-US" sz="960" dirty="0"/>
          </a:p>
        </p:txBody>
      </p:sp>
      <p:sp>
        <p:nvSpPr>
          <p:cNvPr id="3" name="Text 1"/>
          <p:cNvSpPr txBox="1"/>
          <p:nvPr/>
        </p:nvSpPr>
        <p:spPr>
          <a:xfrm>
            <a:off x="6042355" y="400690"/>
            <a:ext cx="2842687" cy="642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055"/>
              </a:lnSpc>
              <a:buNone/>
            </a:pPr>
            <a:r>
              <a:rPr lang="en-US" sz="3379" b="1" spc="-107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Referencias</a:t>
            </a:r>
            <a:endParaRPr lang="en-US" sz="3379" dirty="0"/>
          </a:p>
        </p:txBody>
      </p:sp>
      <p:sp>
        <p:nvSpPr>
          <p:cNvPr id="4" name="Text 2"/>
          <p:cNvSpPr txBox="1"/>
          <p:nvPr/>
        </p:nvSpPr>
        <p:spPr>
          <a:xfrm>
            <a:off x="802295" y="1237458"/>
            <a:ext cx="1362090" cy="444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3"/>
              </a:lnSpc>
              <a:buNone/>
            </a:pPr>
            <a:r>
              <a:rPr lang="en-US" sz="1391" b="1" spc="-23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Algoritmos y</a:t>
            </a:r>
            <a:endParaRPr lang="en-US" sz="1391" dirty="0"/>
          </a:p>
          <a:p>
            <a:pPr algn="l" indent="0" marL="0">
              <a:lnSpc>
                <a:spcPts val="1543"/>
              </a:lnSpc>
              <a:buNone/>
            </a:pPr>
            <a:r>
              <a:rPr lang="en-US" sz="1391" b="1" spc="-23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planificación</a:t>
            </a:r>
            <a:endParaRPr lang="en-US" sz="1391" dirty="0"/>
          </a:p>
        </p:txBody>
      </p:sp>
      <p:sp>
        <p:nvSpPr>
          <p:cNvPr id="5" name="Text 3"/>
          <p:cNvSpPr txBox="1"/>
          <p:nvPr/>
        </p:nvSpPr>
        <p:spPr>
          <a:xfrm>
            <a:off x="802295" y="1720078"/>
            <a:ext cx="2352660" cy="511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9"/>
              </a:lnSpc>
              <a:buNone/>
            </a:pPr>
            <a:r>
              <a:rPr lang="en-US" sz="960" spc="-14" kern="0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Yen, J. Y. (1971). </a:t>
            </a:r>
            <a:pPr algn="l" indent="0" marL="0">
              <a:lnSpc>
                <a:spcPts val="1249"/>
              </a:lnSpc>
              <a:buNone/>
            </a:pPr>
            <a:r>
              <a:rPr lang="en-US" sz="960" i="1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the K</a:t>
            </a:r>
            <a:endParaRPr lang="en-US" sz="960" dirty="0"/>
          </a:p>
          <a:p>
            <a:pPr algn="l" indent="0" marL="0">
              <a:lnSpc>
                <a:spcPts val="1249"/>
              </a:lnSpc>
              <a:buNone/>
            </a:pPr>
            <a:r>
              <a:rPr lang="en-US" sz="960" i="1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Shortest Loopless Paths in a</a:t>
            </a:r>
            <a:endParaRPr lang="en-US" sz="960" dirty="0"/>
          </a:p>
          <a:p>
            <a:pPr algn="l" indent="0" marL="0">
              <a:lnSpc>
                <a:spcPts val="1249"/>
              </a:lnSpc>
              <a:buNone/>
            </a:pPr>
            <a:r>
              <a:rPr lang="en-US" sz="960" i="1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Network.</a:t>
            </a:r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249"/>
              </a:lnSpc>
              <a:buNone/>
            </a:pPr>
            <a:r>
              <a:rPr lang="en-US" sz="960" u="sng" dirty="0">
                <a:solidFill>
                  <a:srgbClr val="2D60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doi:10.1287/mnsc.17.11.712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02295" y="2297796"/>
            <a:ext cx="2316632" cy="669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Zheng et al. (2024). </a:t>
            </a:r>
            <a:pPr algn="l" indent="0" marL="0">
              <a:lnSpc>
                <a:spcPts val="1249"/>
              </a:lnSpc>
              <a:buNone/>
            </a:pPr>
            <a:r>
              <a:rPr lang="en-US" sz="960" i="1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Cross-layer UAV</a:t>
            </a:r>
            <a:endParaRPr lang="en-US" sz="960" dirty="0"/>
          </a:p>
          <a:p>
            <a:pPr algn="l" indent="0" marL="0">
              <a:lnSpc>
                <a:spcPts val="1249"/>
              </a:lnSpc>
              <a:buNone/>
            </a:pPr>
            <a:r>
              <a:rPr lang="en-US" sz="960" i="1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routing protocol for spectrum</a:t>
            </a:r>
            <a:endParaRPr lang="en-US" sz="960" dirty="0"/>
          </a:p>
          <a:p>
            <a:pPr algn="l" indent="0" marL="0">
              <a:lnSpc>
                <a:spcPts val="1249"/>
              </a:lnSpc>
              <a:buNone/>
            </a:pPr>
            <a:r>
              <a:rPr lang="en-US" sz="960" i="1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denial environments.</a:t>
            </a:r>
            <a:endParaRPr lang="en-US" sz="960" dirty="0"/>
          </a:p>
          <a:p>
            <a:pPr algn="l" indent="0" marL="0">
              <a:lnSpc>
                <a:spcPts val="1249"/>
              </a:lnSpc>
              <a:buNone/>
            </a:pPr>
            <a:r>
              <a:rPr lang="en-US" sz="960" u="sng" dirty="0">
                <a:solidFill>
                  <a:srgbClr val="2D60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doi:10.1016/j.adhoc.2024.103702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802295" y="3033888"/>
            <a:ext cx="2263872" cy="669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Luna et al. (2024). </a:t>
            </a:r>
            <a:pPr algn="l" indent="0" marL="0">
              <a:lnSpc>
                <a:spcPts val="1249"/>
              </a:lnSpc>
              <a:buNone/>
            </a:pPr>
            <a:r>
              <a:rPr lang="en-US" sz="960" i="1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multi-UAV</a:t>
            </a:r>
            <a:endParaRPr lang="en-US" sz="960" dirty="0"/>
          </a:p>
          <a:p>
            <a:pPr algn="l" indent="0" marL="0">
              <a:lnSpc>
                <a:spcPts val="1249"/>
              </a:lnSpc>
              <a:buNone/>
            </a:pPr>
            <a:r>
              <a:rPr lang="en-US" sz="960" i="1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for coverage path planning</a:t>
            </a:r>
            <a:endParaRPr lang="en-US" sz="960" dirty="0"/>
          </a:p>
          <a:p>
            <a:pPr algn="l" indent="0" marL="0">
              <a:lnSpc>
                <a:spcPts val="1249"/>
              </a:lnSpc>
              <a:buNone/>
            </a:pPr>
            <a:r>
              <a:rPr lang="en-US" sz="960" i="1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 with in-flight re-planning</a:t>
            </a:r>
            <a:endParaRPr lang="en-US" sz="960" dirty="0"/>
          </a:p>
          <a:p>
            <a:pPr algn="l" indent="0" marL="0">
              <a:lnSpc>
                <a:spcPts val="1249"/>
              </a:lnSpc>
              <a:buNone/>
            </a:pPr>
            <a:r>
              <a:rPr lang="en-US" sz="960" i="1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capabilities.</a:t>
            </a:r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249"/>
              </a:lnSpc>
              <a:buNone/>
            </a:pPr>
            <a:r>
              <a:rPr lang="en-US" sz="960" u="sng" dirty="0">
                <a:solidFill>
                  <a:srgbClr val="2D60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doi:10.1002/rob.22342</a:t>
            </a:r>
            <a:endParaRPr lang="en-US" sz="960" dirty="0"/>
          </a:p>
        </p:txBody>
      </p:sp>
      <p:sp>
        <p:nvSpPr>
          <p:cNvPr id="8" name="Text 6"/>
          <p:cNvSpPr txBox="1"/>
          <p:nvPr/>
        </p:nvSpPr>
        <p:spPr>
          <a:xfrm>
            <a:off x="3286354" y="1220633"/>
            <a:ext cx="2040209" cy="2655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391" b="1" spc="-24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Datos geoespaciales</a:t>
            </a:r>
            <a:endParaRPr lang="en-US" sz="1391" dirty="0"/>
          </a:p>
        </p:txBody>
      </p:sp>
      <p:sp>
        <p:nvSpPr>
          <p:cNvPr id="9" name="Text 7"/>
          <p:cNvSpPr txBox="1"/>
          <p:nvPr/>
        </p:nvSpPr>
        <p:spPr>
          <a:xfrm>
            <a:off x="3286354" y="1524396"/>
            <a:ext cx="2462936" cy="511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9"/>
              </a:lnSpc>
              <a:buNone/>
            </a:pPr>
            <a:r>
              <a:rPr lang="en-US" sz="960" u="sng" dirty="0">
                <a:solidFill>
                  <a:srgbClr val="2D60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OpenStreetMap / Overpass</a:t>
            </a:r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ODbL 1.0.</a:t>
            </a:r>
            <a:endParaRPr lang="en-US" sz="960" dirty="0"/>
          </a:p>
          <a:p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mosaicos de la captura conservan</a:t>
            </a:r>
            <a:endParaRPr lang="en-US" sz="960" dirty="0"/>
          </a:p>
          <a:p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crédito visible.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3286354" y="2102114"/>
            <a:ext cx="2535723" cy="3531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9"/>
              </a:lnSpc>
              <a:buNone/>
            </a:pPr>
            <a:r>
              <a:rPr lang="en-US" sz="960" u="sng" dirty="0">
                <a:solidFill>
                  <a:srgbClr val="2D60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Open-Meteo Elevation</a:t>
            </a:r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(Copernicus DEM</a:t>
            </a:r>
            <a:endParaRPr lang="en-US" sz="960" dirty="0"/>
          </a:p>
          <a:p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GLO-90) y </a:t>
            </a:r>
            <a:pPr algn="l" indent="0" marL="0">
              <a:lnSpc>
                <a:spcPts val="1249"/>
              </a:lnSpc>
              <a:buNone/>
            </a:pPr>
            <a:r>
              <a:rPr lang="en-US" sz="960" u="sng" dirty="0">
                <a:solidFill>
                  <a:srgbClr val="2D60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Historical Weather</a:t>
            </a:r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(ERA5).</a:t>
            </a:r>
            <a:endParaRPr lang="en-US" sz="960" dirty="0"/>
          </a:p>
        </p:txBody>
      </p:sp>
      <p:sp>
        <p:nvSpPr>
          <p:cNvPr id="11" name="Text 9"/>
          <p:cNvSpPr txBox="1"/>
          <p:nvPr/>
        </p:nvSpPr>
        <p:spPr>
          <a:xfrm>
            <a:off x="3286354" y="2521458"/>
            <a:ext cx="2392345" cy="3531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9"/>
              </a:lnSpc>
              <a:buNone/>
            </a:pPr>
            <a:r>
              <a:rPr lang="en-US" sz="960" u="sng" dirty="0">
                <a:solidFill>
                  <a:srgbClr val="2D60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GPSJam</a:t>
            </a:r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reporte agregado GNSS de</a:t>
            </a:r>
            <a:endParaRPr lang="en-US" sz="960" dirty="0"/>
          </a:p>
          <a:p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aviación.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3286354" y="2940710"/>
            <a:ext cx="2361804" cy="3531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9"/>
              </a:lnSpc>
              <a:buNone/>
            </a:pPr>
            <a:r>
              <a:rPr lang="en-US" sz="960" u="sng" dirty="0">
                <a:solidFill>
                  <a:srgbClr val="2D60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Economist war-fire model / NASA</a:t>
            </a:r>
            <a:endParaRPr lang="en-US" sz="960" dirty="0"/>
          </a:p>
          <a:p>
            <a:pPr algn="l" indent="0" marL="0">
              <a:lnSpc>
                <a:spcPts val="1249"/>
              </a:lnSpc>
              <a:buNone/>
            </a:pPr>
            <a:r>
              <a:rPr lang="en-US" sz="960" u="sng" dirty="0">
                <a:solidFill>
                  <a:srgbClr val="2D60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FIRMS</a:t>
            </a:r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ts val="1249"/>
              </a:lnSpc>
              <a:buNone/>
            </a:pPr>
            <a:r>
              <a:rPr lang="en-US" sz="960" u="sng" dirty="0">
                <a:solidFill>
                  <a:srgbClr val="2D60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UCDP GED vía HDX</a:t>
            </a:r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5961431" y="1220633"/>
            <a:ext cx="2205076" cy="2655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391" b="1" spc="-24" kern="0" dirty="0">
                <a:solidFill>
                  <a:srgbClr val="202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Contexto y resultados</a:t>
            </a:r>
            <a:endParaRPr lang="en-US" sz="1391" dirty="0"/>
          </a:p>
        </p:txBody>
      </p:sp>
      <p:sp>
        <p:nvSpPr>
          <p:cNvPr id="14" name="Text 12"/>
          <p:cNvSpPr txBox="1"/>
          <p:nvPr/>
        </p:nvSpPr>
        <p:spPr>
          <a:xfrm>
            <a:off x="5961431" y="1524396"/>
            <a:ext cx="2815163" cy="511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UNHCR (24 feb. 2026). </a:t>
            </a:r>
            <a:pPr algn="l" indent="0" marL="0">
              <a:lnSpc>
                <a:spcPts val="1249"/>
              </a:lnSpc>
              <a:buNone/>
            </a:pPr>
            <a:r>
              <a:rPr lang="en-US" sz="960" u="sng" dirty="0">
                <a:solidFill>
                  <a:srgbClr val="2D60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Contexto humanitario</a:t>
            </a:r>
            <a:endParaRPr lang="en-US" sz="960" dirty="0"/>
          </a:p>
          <a:p>
            <a:pPr algn="l" indent="0" marL="0">
              <a:lnSpc>
                <a:spcPts val="1249"/>
              </a:lnSpc>
              <a:buNone/>
            </a:pPr>
            <a:r>
              <a:rPr lang="en-US" sz="960" u="sng" dirty="0">
                <a:solidFill>
                  <a:srgbClr val="2D60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 Ucrania</a:t>
            </a:r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estimaciones de asistencia y</a:t>
            </a:r>
            <a:endParaRPr lang="en-US" sz="960" dirty="0"/>
          </a:p>
          <a:p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desplazamiento para 2026.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5961431" y="2102114"/>
            <a:ext cx="3657600" cy="6802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Resultados: simulador Python, conjunto de</a:t>
            </a:r>
            <a:endParaRPr lang="en-US" sz="960" dirty="0"/>
          </a:p>
          <a:p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 (semillas 0–99), 05_T2/resultados/.</a:t>
            </a:r>
            <a:endParaRPr lang="en-US" sz="960" dirty="0"/>
          </a:p>
          <a:p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de la Tarea 2, 22 oct. 2026.</a:t>
            </a:r>
            <a:endParaRPr lang="en-US" sz="960" dirty="0"/>
          </a:p>
          <a:p>
            <a:pPr algn="l" indent="0" marL="0">
              <a:lnSpc>
                <a:spcPts val="1249"/>
              </a:lnSpc>
              <a:buNone/>
            </a:pPr>
            <a:r>
              <a:rPr lang="en-US" sz="960" dirty="0">
                <a:solidFill>
                  <a:srgbClr val="434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Capturas del sitio aportadas por el equipo.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643738" y="4798771"/>
            <a:ext cx="4132814" cy="153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3" spc="50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UAV · ruteo físico resiliente · Universidad Diego Portales</a:t>
            </a:r>
            <a:endParaRPr lang="en-US" sz="803" dirty="0"/>
          </a:p>
        </p:txBody>
      </p:sp>
      <p:sp>
        <p:nvSpPr>
          <p:cNvPr id="17" name="Text 15"/>
          <p:cNvSpPr txBox="1"/>
          <p:nvPr/>
        </p:nvSpPr>
        <p:spPr>
          <a:xfrm>
            <a:off x="8303301" y="4835987"/>
            <a:ext cx="648950" cy="16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8"/>
              </a:lnSpc>
              <a:buNone/>
            </a:pPr>
            <a:r>
              <a:rPr lang="en-US" sz="881" spc="92" kern="0" dirty="0">
                <a:solidFill>
                  <a:srgbClr val="4B56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 / 35</a:t>
            </a:r>
            <a:endParaRPr lang="en-US" sz="88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Cuando un tramo se bloquea</dc:title>
  <dc:subject>PptxGenJS Presentation</dc:subject>
  <dc:creator>Diego Pérez Carrasco, Alex Marambio Leyton, Aaron Pozas Oyarce</dc:creator>
  <cp:lastModifiedBy>Diego Pérez Carrasco, Alex Marambio Leyton, Aaron Pozas Oyarce</cp:lastModifiedBy>
  <cp:revision>1</cp:revision>
  <dcterms:created xsi:type="dcterms:W3CDTF">2026-10-23T00:09:34Z</dcterms:created>
  <dcterms:modified xsi:type="dcterms:W3CDTF">2026-10-23T00:09:34Z</dcterms:modified>
</cp:coreProperties>
</file>